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423" r:id="rId3"/>
    <p:sldId id="407" r:id="rId4"/>
    <p:sldId id="344" r:id="rId5"/>
    <p:sldId id="358" r:id="rId6"/>
    <p:sldId id="303" r:id="rId7"/>
    <p:sldId id="348" r:id="rId8"/>
    <p:sldId id="422" r:id="rId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17CC78B-4C08-4CEF-A183-5C04EBBF2A83}">
          <p14:sldIdLst>
            <p14:sldId id="256"/>
            <p14:sldId id="423"/>
          </p14:sldIdLst>
        </p14:section>
        <p14:section name="Bayesian Updates" id="{9207B639-10B0-4128-A218-8F921BF35C5D}">
          <p14:sldIdLst>
            <p14:sldId id="407"/>
          </p14:sldIdLst>
        </p14:section>
        <p14:section name="Bayesian Decision Making" id="{680B9DD8-10E9-4600-90DD-79991482E91E}">
          <p14:sldIdLst>
            <p14:sldId id="344"/>
            <p14:sldId id="358"/>
            <p14:sldId id="303"/>
            <p14:sldId id="348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27" autoAdjust="0"/>
  </p:normalViewPr>
  <p:slideViewPr>
    <p:cSldViewPr>
      <p:cViewPr varScale="1">
        <p:scale>
          <a:sx n="88" d="100"/>
          <a:sy n="88" d="100"/>
        </p:scale>
        <p:origin x="1184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72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D6F2994-ACE5-4A1A-B35E-4EB264D0F2D5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C6DDC4A-28AC-4BB0-A17C-4732441B2B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0C07-680A-8776-6E6E-BFEF78BA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F4062-B859-BAB1-BA36-E61251680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B6874-1307-FE28-AD9F-88656D850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EACA7-6C16-886E-7DD8-0A73CB595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19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88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22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18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1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95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783A-41E2-4A27-89B6-F5B49810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F4558-A515-46EC-89C2-2C634D5B4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AE1E-39AD-4CEA-8BC7-BAA2D8C7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A101-A780-4CF7-919C-E33D9327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295CD-6A1A-45A1-BE64-5E34BDEC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94425-E9B7-4BE9-BD1A-7F9534871F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3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130-2C46-4407-B205-171143A8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8D98-A748-4289-A391-B8E352E8C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BF89-81CF-49BA-987A-921F83D3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283E-4234-432A-AA13-CAB61132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4D602-2AF5-400F-9A51-7AB06289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EA5E-7F4F-4071-A575-0AECCE1491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9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29D1-68BD-43E4-B4CB-3AECEDCB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A9B28-55F8-4B46-A216-3129684A2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A3C1-5190-4611-A8CE-48AEFABB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4F474-A969-491C-891A-434A3BAA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98B7-9F98-405A-83D2-1A79BF4D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D89F-3064-4B17-A253-16017F0C07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1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ED0F-D33B-45D0-A944-1FC6796B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17D5-835C-46D4-A5D1-A679D3895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A736B-BD60-4857-89E0-3BFC4B318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B511C-5622-46BB-B4AC-F8D98368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8415-351C-450F-B6E3-A7D772BB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436CF-29C5-4EF6-95F5-90215C10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BAA62-0BC2-4621-85C0-000B8A25F4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5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2D39-EE71-4683-B5FA-0CB93AF5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064D6-A973-4017-8D39-9FABC96C9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A08A6-B8C4-4881-B449-B1A3F40CA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2E0F0-D98E-4BC9-91D6-A1BC50D03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5F636-C54A-4D14-9B9B-03897AE2C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987F8-F4A7-4652-9DBF-5377C0E2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89D24-8D97-4827-A451-4B79A789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90917-1CC6-4F1A-8E65-9E86A02D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CC3B4-1715-4A85-A4DA-46A9E94DC9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2A5A-5CF6-4552-9728-2F69BB44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E5080-7B35-4F59-8D72-77FB9223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59D7F-A05D-45A8-9CCE-EED38BB9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CD74A-A7B8-48C2-9FAE-99CC77BA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3D-A7E5-4EE4-9B62-DC032404B9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9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A779C-789A-40D7-9C6E-04F53A20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ABFA3-7645-4E79-A762-0A974AB0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5495-F4BE-4BA1-8B08-50B7FFDC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A5E9-C32C-4443-A7A6-1771221032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C06D-3B49-4775-9B2D-983727B9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5A4F-DB2B-438B-BA34-3A59E45B0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E09D1-9974-4F0A-A7A6-ED8931BDB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13D51-C3DF-4FCE-A48D-33128FEE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A1094-B5BA-4A8C-8B8C-D4B6D7E7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2D8C8-07F7-4780-86C6-F5EEB27B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ACC-0C6A-43F8-B586-F85587354C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7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5ABA-EAB7-45A5-9D44-1B01325F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A535E-43B9-482B-B046-B415405C1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9DFC3-D3A9-4D32-8EB5-516EEF8B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0BD4E-A3E6-42B0-AC69-16FCE867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74BAB-AEE6-4C57-BD49-F5CF5D3D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2253A-2F02-4D8C-967B-8768BDCB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D852-2F60-4BC8-9DA9-89D322D8C2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2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989E-1478-44FB-93B8-87229612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93EC2-3C6A-459C-9B56-AD9D4B185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734D-B576-447A-B806-54226059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6FEF3-9BC7-4F0D-97DF-BB65C5C9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B31A-6B58-4628-8192-3AA7F82C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B87F-93BC-49DB-8DCE-4416FE4BF7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6A904-CAA6-4024-9432-7FF71B2B0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5A153-F4E8-445A-A98E-C463FC79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D128-0E01-46E7-B772-14168573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34B1-B2B9-4E2C-B38B-98025FD6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5F098-3E69-4E73-8B10-70C721A5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7E52-E9C1-4455-BE6E-E66FDA0496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1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0655B7-F306-4791-AAFB-5CCF488C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D7771-A291-483A-A91F-AB686291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F619-EF5F-4455-BCAA-CCA1F8371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3D9D6-6950-408D-8D0C-D79DFC986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5CF8-529D-47EB-9FAB-0B53D912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40B6D-69B8-4617-BADB-234C48A59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9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eg"/><Relationship Id="rId7" Type="http://schemas.openxmlformats.org/officeDocument/2006/relationships/hyperlink" Target="http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flickr.com/photos/14529257@N03" TargetMode="External"/><Relationship Id="rId4" Type="http://schemas.openxmlformats.org/officeDocument/2006/relationships/hyperlink" Target="https://www.flickr.com/photos/14529257@N03/5649442743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9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20.png"/><Relationship Id="rId7" Type="http://schemas.openxmlformats.org/officeDocument/2006/relationships/image" Target="../media/image3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10" Type="http://schemas.openxmlformats.org/officeDocument/2006/relationships/image" Target="../media/image51.png"/><Relationship Id="rId4" Type="http://schemas.openxmlformats.org/officeDocument/2006/relationships/image" Target="../media/image340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ice">
            <a:extLst>
              <a:ext uri="{FF2B5EF4-FFF2-40B4-BE49-F238E27FC236}">
                <a16:creationId xmlns:a16="http://schemas.microsoft.com/office/drawing/2014/main" id="{DDDC5F6C-6430-4F09-8FE6-D98CDB860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8" r="28297" b="2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2" name="Rectangle 1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Autofit/>
          </a:bodyPr>
          <a:lstStyle/>
          <a:p>
            <a:pPr algn="l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5/7320 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Quantifying Uncertainty: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Probabilities &amp; Bayesian Decision Making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/>
              <a:t>AIMA Chapter 12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0A389541-0EEE-414C-8699-07C40EFD4E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Slides by Michael Hahsler </a:t>
            </a:r>
            <a:br>
              <a:rPr lang="en-US" sz="1700" dirty="0"/>
            </a:br>
            <a:r>
              <a:rPr lang="en-US" sz="1400" dirty="0"/>
              <a:t>based on slides by Svetlana </a:t>
            </a:r>
            <a:r>
              <a:rPr lang="en-US" sz="1400" dirty="0" err="1"/>
              <a:t>Lazepnik</a:t>
            </a:r>
            <a:br>
              <a:rPr lang="en-US" sz="1400" dirty="0"/>
            </a:br>
            <a:r>
              <a:rPr lang="en-US" sz="1400" dirty="0"/>
              <a:t>with figures from the AIMA textbook	</a:t>
            </a:r>
            <a:endParaRPr lang="en-US" sz="17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0676F0-DD16-4C8B-8F87-437EEFFB8C36}"/>
              </a:ext>
            </a:extLst>
          </p:cNvPr>
          <p:cNvSpPr txBox="1"/>
          <p:nvPr/>
        </p:nvSpPr>
        <p:spPr>
          <a:xfrm>
            <a:off x="5270223" y="6350693"/>
            <a:ext cx="2055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Cover image: "Dice"</a:t>
            </a:r>
            <a:r>
              <a:rPr lang="en-US" sz="1200" b="0" i="0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en-US" sz="1200" b="0" i="0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by </a:t>
            </a:r>
            <a:r>
              <a:rPr lang="en-US" sz="1200" b="0" i="0" u="sng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Steve A Johnson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833B8E-46AE-362B-6EC1-611850271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64885" y="5243763"/>
            <a:ext cx="1209652" cy="1440289"/>
            <a:chOff x="7162800" y="4191000"/>
            <a:chExt cx="1676400" cy="1981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747ED9E-77A9-AFED-CE49-2DFF73A2009F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13FCA2FC-4EF0-2DF3-7343-E8F4CC0C6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2FB1B9-822E-4BC1-6769-C8346C2B3D60}"/>
                </a:ext>
              </a:extLst>
            </p:cNvPr>
            <p:cNvSpPr/>
            <p:nvPr/>
          </p:nvSpPr>
          <p:spPr>
            <a:xfrm>
              <a:off x="7162800" y="5812970"/>
              <a:ext cx="1664628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7098CC6-9560-90A8-3F60-DF714C003761}"/>
              </a:ext>
            </a:extLst>
          </p:cNvPr>
          <p:cNvGrpSpPr/>
          <p:nvPr/>
        </p:nvGrpSpPr>
        <p:grpSpPr>
          <a:xfrm>
            <a:off x="242888" y="6324600"/>
            <a:ext cx="3993833" cy="430887"/>
            <a:chOff x="242888" y="6324600"/>
            <a:chExt cx="3993833" cy="43088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44AF6E-1D90-41A4-887D-B88AFE69D303}"/>
                </a:ext>
              </a:extLst>
            </p:cNvPr>
            <p:cNvSpPr txBox="1"/>
            <p:nvPr/>
          </p:nvSpPr>
          <p:spPr>
            <a:xfrm>
              <a:off x="1219200" y="6324600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</a:rPr>
                <a:t>This work is licensed under a 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solidFill>
                    <a:schemeClr val="tx1">
                      <a:lumMod val="50000"/>
                    </a:schemeClr>
                  </a:solidFill>
                  <a:effectLst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</a:rPr>
                <a:t>.</a:t>
              </a:r>
              <a:endParaRPr lang="en-US" sz="11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A6AEB751-A968-8D8A-D668-5498AEA8A5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888" y="6377683"/>
              <a:ext cx="1004887" cy="351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57C9ABB-637D-F149-431E-49D6FA09DF52}"/>
              </a:ext>
            </a:extLst>
          </p:cNvPr>
          <p:cNvSpPr txBox="1"/>
          <p:nvPr/>
        </p:nvSpPr>
        <p:spPr>
          <a:xfrm rot="2099715">
            <a:off x="1208326" y="632636"/>
            <a:ext cx="18288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latin typeface="+mj-lt"/>
                <a:ea typeface="+mj-ea"/>
                <a:cs typeface="+mj-cs"/>
              </a:rPr>
              <a:t>Discussion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2ECCA-2C4A-3AE7-1E95-F762AD51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A0A2327-8691-6B33-E044-2DA1F7A9F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sz="3600" dirty="0"/>
              <a:t>Making a Decision Under Uncertainty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Rectangle 3">
                <a:extLst>
                  <a:ext uri="{FF2B5EF4-FFF2-40B4-BE49-F238E27FC236}">
                    <a16:creationId xmlns:a16="http://schemas.microsoft.com/office/drawing/2014/main" id="{E98D200A-456B-22EC-F8D1-452A2E0F8D5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447801"/>
                <a:ext cx="5772150" cy="2763438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Given outcome probabilities, which action should the agent choose?</a:t>
                </a:r>
              </a:p>
              <a:p>
                <a:r>
                  <a:rPr lang="en-US" sz="3600" dirty="0"/>
                  <a:t>Depends on </a:t>
                </a:r>
                <a:r>
                  <a:rPr lang="en-US" sz="3600" b="1" dirty="0">
                    <a:solidFill>
                      <a:srgbClr val="FF0000"/>
                    </a:solidFill>
                  </a:rPr>
                  <a:t>preferences</a:t>
                </a:r>
                <a:r>
                  <a:rPr lang="en-US" sz="3600" dirty="0"/>
                  <a:t> for missing a flight vs. time spent waiting.</a:t>
                </a:r>
              </a:p>
              <a:p>
                <a:r>
                  <a:rPr lang="en-US" sz="3600" b="1" dirty="0">
                    <a:solidFill>
                      <a:srgbClr val="FF0000"/>
                    </a:solidFill>
                  </a:rPr>
                  <a:t>Utility theory </a:t>
                </a:r>
                <a:r>
                  <a:rPr lang="en-US" sz="3600" dirty="0"/>
                  <a:t>represents preferences for different outcome using a utility function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𝑜𝑢𝑡𝑐𝑜𝑚𝑒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/>
                  <a:t>.</a:t>
                </a:r>
              </a:p>
              <a:p>
                <a:endParaRPr lang="en-US" sz="3600" dirty="0"/>
              </a:p>
              <a:p>
                <a:r>
                  <a:rPr lang="en-US" sz="3600" b="1" dirty="0">
                    <a:solidFill>
                      <a:srgbClr val="FF0000"/>
                    </a:solidFill>
                  </a:rPr>
                  <a:t>Decision Theory = Probability Theory + Utility Theory</a:t>
                </a:r>
                <a:endParaRPr lang="en-US" sz="3600" dirty="0"/>
              </a:p>
              <a:p>
                <a:r>
                  <a:rPr lang="en-US" sz="3600" dirty="0"/>
                  <a:t>The agent should choose actions that lead to an outcome that maximizes the </a:t>
                </a:r>
                <a:r>
                  <a:rPr lang="en-US" sz="3600" b="1" dirty="0">
                    <a:solidFill>
                      <a:srgbClr val="FF0000"/>
                    </a:solidFill>
                  </a:rPr>
                  <a:t>expected utility</a:t>
                </a:r>
                <a:r>
                  <a:rPr lang="en-US" sz="3600" dirty="0"/>
                  <a:t>. </a:t>
                </a:r>
                <a:endParaRPr lang="en-US" sz="3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3600" b="0" i="0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3600" dirty="0">
                          <a:latin typeface="Cambria Math" panose="02040503050406030204" pitchFamily="18" charset="0"/>
                        </a:rPr>
                        <m:t>argma</m:t>
                      </m:r>
                      <m:sSub>
                        <m:sSubPr>
                          <m:ctrlPr>
                            <a:rPr lang="en-US" sz="3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dirty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sSub>
                            <m:sSubPr>
                              <m:ctrlPr>
                                <a:rPr lang="en-US" sz="3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 err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3600" dirty="0"/>
              </a:p>
              <a:p>
                <a:endParaRPr lang="en-US" sz="3600" dirty="0"/>
              </a:p>
              <a:p>
                <a:r>
                  <a:rPr lang="en-US" sz="3600" dirty="0"/>
                  <a:t>The outcome depends on the action taken: </a:t>
                </a:r>
                <a:br>
                  <a:rPr lang="en-US" sz="3600" dirty="0"/>
                </a:b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𝑟𝑒𝑎𝑐h𝑒𝑑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marL="3429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195" name="Rectangle 3">
                <a:extLst>
                  <a:ext uri="{FF2B5EF4-FFF2-40B4-BE49-F238E27FC236}">
                    <a16:creationId xmlns:a16="http://schemas.microsoft.com/office/drawing/2014/main" id="{E98D200A-456B-22EC-F8D1-452A2E0F8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801"/>
                <a:ext cx="5772150" cy="2763438"/>
              </a:xfrm>
              <a:blipFill>
                <a:blip r:embed="rId3"/>
                <a:stretch>
                  <a:fillRect l="-317" t="-2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BE83CFFD-B647-8B26-E7AD-DA6C9C3DE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92" y="1289862"/>
            <a:ext cx="2681289" cy="268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0C1903E-A001-7A20-0BDE-43831F7132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0724223"/>
                  </p:ext>
                </p:extLst>
              </p:nvPr>
            </p:nvGraphicFramePr>
            <p:xfrm>
              <a:off x="671911" y="4864954"/>
              <a:ext cx="3492500" cy="857249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24737629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7387087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919348870"/>
                        </a:ext>
                      </a:extLst>
                    </a:gridCol>
                  </a:tblGrid>
                  <a:tr h="304799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𝟗𝟎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𝟏𝟒𝟒𝟒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72119432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𝑜𝑛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𝑡𝑖𝑚𝑒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0.8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0.99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0.9999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𝑚𝑖𝑠𝑠𝑒𝑑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𝑓𝑙𝑖𝑔h𝑡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1E-04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h𝑜𝑚𝑒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0C1903E-A001-7A20-0BDE-43831F7132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0724223"/>
                  </p:ext>
                </p:extLst>
              </p:nvPr>
            </p:nvGraphicFramePr>
            <p:xfrm>
              <a:off x="671911" y="4864954"/>
              <a:ext cx="3492500" cy="857249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24737629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7387087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919348870"/>
                        </a:ext>
                      </a:extLst>
                    </a:gridCol>
                  </a:tblGrid>
                  <a:tr h="304799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218605" t="-2000" r="-354651" b="-2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271287" t="-2000" r="-201980" b="-2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375000" t="-2000" r="-104000" b="-2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475000" t="-2000" r="-4000" b="-2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119432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170000" r="-209091" b="-2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0.8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0.99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0.9999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261290" r="-209091" b="-1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1E-04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373333" r="-209091" b="-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0B3B911-760D-F3BC-2488-B2DA6E22E427}"/>
              </a:ext>
            </a:extLst>
          </p:cNvPr>
          <p:cNvSpPr txBox="1"/>
          <p:nvPr/>
        </p:nvSpPr>
        <p:spPr>
          <a:xfrm>
            <a:off x="972938" y="4495622"/>
            <a:ext cx="295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Belief states with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4FFD542-E1F7-54E9-22F9-2A1B095D36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2266457"/>
                  </p:ext>
                </p:extLst>
              </p:nvPr>
            </p:nvGraphicFramePr>
            <p:xfrm>
              <a:off x="4710005" y="4910554"/>
              <a:ext cx="1636649" cy="74168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09599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58184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dirty="0"/>
                            <a:t>Value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421901747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100" b="0" u="none" strike="noStrike" dirty="0">
                              <a:effectLst/>
                            </a:rPr>
                            <a:t>U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𝑡𝑖𝑚𝑒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100" b="0" u="none" strike="noStrike" dirty="0">
                              <a:effectLst/>
                            </a:rPr>
                            <a:t>U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𝑚𝑖𝑠𝑠𝑒𝑑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𝑓𝑙𝑖𝑔h𝑡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100" b="0" i="0" u="none" strike="noStrike" dirty="0">
                              <a:effectLst/>
                              <a:latin typeface="+mn-lt"/>
                            </a:rPr>
                            <a:t>Cost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𝑝𝑒𝑟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𝑚𝑖𝑛𝑢𝑡𝑒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4FFD542-E1F7-54E9-22F9-2A1B095D36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2266457"/>
                  </p:ext>
                </p:extLst>
              </p:nvPr>
            </p:nvGraphicFramePr>
            <p:xfrm>
              <a:off x="4710005" y="4910554"/>
              <a:ext cx="1636649" cy="74168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09599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189230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dirty="0"/>
                            <a:t>Value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421901747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6"/>
                          <a:stretch>
                            <a:fillRect l="-546" t="-116129" r="-49727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6"/>
                          <a:stretch>
                            <a:fillRect l="-546" t="-223333" r="-49727" b="-1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6"/>
                          <a:stretch>
                            <a:fillRect l="-546" t="-312903" r="-49727" b="-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4E52296-A542-BF50-F96D-6D1CB5B4DDF6}"/>
              </a:ext>
            </a:extLst>
          </p:cNvPr>
          <p:cNvSpPr txBox="1"/>
          <p:nvPr/>
        </p:nvSpPr>
        <p:spPr>
          <a:xfrm>
            <a:off x="4744245" y="4572000"/>
            <a:ext cx="1808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Utility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4A7B9-8FE4-AFBE-5FD3-1D05BA150883}"/>
              </a:ext>
            </a:extLst>
          </p:cNvPr>
          <p:cNvSpPr txBox="1"/>
          <p:nvPr/>
        </p:nvSpPr>
        <p:spPr>
          <a:xfrm>
            <a:off x="4252376" y="4834176"/>
            <a:ext cx="45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7A798-5EB6-36A8-BF6D-A8121C5EC4E4}"/>
                  </a:ext>
                </a:extLst>
              </p:cNvPr>
              <p:cNvSpPr txBox="1"/>
              <p:nvPr/>
            </p:nvSpPr>
            <p:spPr>
              <a:xfrm>
                <a:off x="829072" y="6060757"/>
                <a:ext cx="762912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𝑚𝑖𝑠𝑠𝑒𝑑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𝑓𝑙𝑖𝑔h𝑡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𝑚𝑖𝑠𝑠𝑒𝑑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𝑓𝑙𝑖𝑔h𝑡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=0.99×</m:t>
                      </m:r>
                      <m:d>
                        <m:d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1000−120×1</m:t>
                          </m:r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+0.01×</m:t>
                      </m:r>
                      <m:d>
                        <m:d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−1000−120×1</m:t>
                          </m:r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=862.4</m:t>
                      </m:r>
                    </m:oMath>
                  </m:oMathPara>
                </a14:m>
                <a:br>
                  <a:rPr lang="en-US" sz="1400" dirty="0"/>
                </a:b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7A798-5EB6-36A8-BF6D-A8121C5EC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72" y="6060757"/>
                <a:ext cx="7629127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3FF78D9-8EA5-AA37-27B1-2F37F5E757CF}"/>
              </a:ext>
            </a:extLst>
          </p:cNvPr>
          <p:cNvSpPr txBox="1"/>
          <p:nvPr/>
        </p:nvSpPr>
        <p:spPr>
          <a:xfrm>
            <a:off x="609997" y="4191000"/>
            <a:ext cx="1218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1030FA-6EB7-E134-DDF0-06D053196A13}"/>
                  </a:ext>
                </a:extLst>
              </p:cNvPr>
              <p:cNvSpPr txBox="1"/>
              <p:nvPr/>
            </p:nvSpPr>
            <p:spPr>
              <a:xfrm>
                <a:off x="6172200" y="3082262"/>
                <a:ext cx="2555481" cy="615553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100" b="1" dirty="0"/>
                  <a:t>Remember</a:t>
                </a:r>
                <a:r>
                  <a:rPr lang="en-US" sz="1100" dirty="0"/>
                  <a:t>: A</a:t>
                </a:r>
                <a:r>
                  <a:rPr lang="en-US" sz="1100" b="1" dirty="0"/>
                  <a:t> rational agent</a:t>
                </a:r>
                <a:r>
                  <a:rPr lang="en-US" sz="1100" dirty="0"/>
                  <a:t> picks the action that maximizes the expected utility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endChr m:val="|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1030FA-6EB7-E134-DDF0-06D05319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082262"/>
                <a:ext cx="2555481" cy="615553"/>
              </a:xfrm>
              <a:prstGeom prst="rect">
                <a:avLst/>
              </a:prstGeom>
              <a:blipFill>
                <a:blip r:embed="rId8"/>
                <a:stretch>
                  <a:fillRect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7985373-C66E-75FF-501B-FB1BD1507C5B}"/>
              </a:ext>
            </a:extLst>
          </p:cNvPr>
          <p:cNvSpPr txBox="1"/>
          <p:nvPr/>
        </p:nvSpPr>
        <p:spPr>
          <a:xfrm>
            <a:off x="6467951" y="4848018"/>
            <a:ext cx="45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94B489-B979-F137-3DD0-7CACE5BC0B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994860"/>
                  </p:ext>
                </p:extLst>
              </p:nvPr>
            </p:nvGraphicFramePr>
            <p:xfrm>
              <a:off x="6954045" y="4763601"/>
              <a:ext cx="1808955" cy="91059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742822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1066133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/>
                            <a:t>Exp. Utility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50669523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-901.0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𝟗𝟎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546.0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24691582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1" u="none" strike="noStrike" dirty="0">
                              <a:effectLst/>
                            </a:rPr>
                            <a:t>862.2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11573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𝟏𝟒𝟒𝟒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-443.9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94B489-B979-F137-3DD0-7CACE5BC0B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994860"/>
                  </p:ext>
                </p:extLst>
              </p:nvPr>
            </p:nvGraphicFramePr>
            <p:xfrm>
              <a:off x="6954045" y="4763601"/>
              <a:ext cx="1808955" cy="91059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742822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1066133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/>
                            <a:t>Exp. Utility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50669523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116129" r="-147541" b="-3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-901.0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223333" r="-147541" b="-2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546.0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24691582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323333" r="-147541" b="-1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1" u="none" strike="noStrike" dirty="0">
                              <a:effectLst/>
                            </a:rPr>
                            <a:t>862.2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73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437931" r="-147541" b="-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-443.9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9349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</a:blip>
          <a:srcRect/>
          <a:stretch>
            <a:fillRect/>
          </a:stretch>
        </p:blipFill>
        <p:spPr bwMode="auto">
          <a:xfrm>
            <a:off x="5088507" y="262724"/>
            <a:ext cx="3955302" cy="4245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Theorem: The Bayesian 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6991350" cy="466724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The product rule gives us two ways to factor a joint distribution for events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     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Why is this useful?</a:t>
                </a:r>
              </a:p>
              <a:p>
                <a:pPr lvl="1"/>
                <a:r>
                  <a:rPr lang="en-US" dirty="0"/>
                  <a:t>We can update our beliefs about an event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based on new evidence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Update rule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Written a distribution over all values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sz="25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6991350" cy="4667249"/>
              </a:xfrm>
              <a:blipFill>
                <a:blip r:embed="rId4"/>
                <a:stretch>
                  <a:fillRect l="-785"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C9D9E2F-17F2-4729-8FEC-3A4134F53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7110" y="3068147"/>
            <a:ext cx="1256353" cy="313824"/>
          </a:xfrm>
          <a:prstGeom prst="wedgeRectCallout">
            <a:avLst>
              <a:gd name="adj1" fmla="val -73538"/>
              <a:gd name="adj2" fmla="val 7141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Prior Prob. 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F5917077-1DC0-499F-BABF-B9F257A49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971" y="2960632"/>
            <a:ext cx="1686730" cy="277979"/>
          </a:xfrm>
          <a:prstGeom prst="wedgeRectCallout">
            <a:avLst>
              <a:gd name="adj1" fmla="val 23356"/>
              <a:gd name="adj2" fmla="val 14378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Posterior Prob.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E9A2AC-EB9C-BA55-CBD0-1A24FAD7BD00}"/>
              </a:ext>
            </a:extLst>
          </p:cNvPr>
          <p:cNvGrpSpPr/>
          <p:nvPr/>
        </p:nvGrpSpPr>
        <p:grpSpPr>
          <a:xfrm>
            <a:off x="2895600" y="3272088"/>
            <a:ext cx="1801576" cy="1235993"/>
            <a:chOff x="3657601" y="3429000"/>
            <a:chExt cx="1801576" cy="1235993"/>
          </a:xfrm>
        </p:grpSpPr>
        <p:sp>
          <p:nvSpPr>
            <p:cNvPr id="4" name="Speech Bubble: Rectangle 3">
              <a:extLst>
                <a:ext uri="{FF2B5EF4-FFF2-40B4-BE49-F238E27FC236}">
                  <a16:creationId xmlns:a16="http://schemas.microsoft.com/office/drawing/2014/main" id="{0F695E6C-6EF5-CBF2-93FC-1717F984E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62400" y="4351169"/>
              <a:ext cx="1496777" cy="313824"/>
            </a:xfrm>
            <a:prstGeom prst="wedgeRectCallout">
              <a:avLst>
                <a:gd name="adj1" fmla="val -35477"/>
                <a:gd name="adj2" fmla="val -80346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 evidence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1399B9-5C92-C03D-4DC3-093C1671941C}"/>
                </a:ext>
              </a:extLst>
            </p:cNvPr>
            <p:cNvSpPr/>
            <p:nvPr/>
          </p:nvSpPr>
          <p:spPr>
            <a:xfrm>
              <a:off x="3657601" y="3429000"/>
              <a:ext cx="637369" cy="76200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44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MAP: Maximum A Posteriori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74116"/>
                <a:ext cx="7886700" cy="232648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0-1 loss means we should use the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that has the highest (maximum) posterior probability given the evidence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, i.e., the prediction that most likely leads to a loss of 0.</a:t>
                </a:r>
                <a:br>
                  <a:rPr lang="en-US" sz="2800" dirty="0">
                    <a:solidFill>
                      <a:srgbClr val="FF0000"/>
                    </a:solidFill>
                  </a:rPr>
                </a:br>
                <a:br>
                  <a:rPr lang="en-US" sz="2800" dirty="0"/>
                </a:br>
                <a:endParaRPr lang="en-US" sz="1000" dirty="0"/>
              </a:p>
              <a:p>
                <a:pPr marL="0" indent="0">
                  <a:buNone/>
                </a:pPr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3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US" sz="23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sz="23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	 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/>
              </a:p>
              <a:p>
                <a:endParaRPr lang="en-US" sz="2800" dirty="0"/>
              </a:p>
              <a:p>
                <a:pPr>
                  <a:buNone/>
                </a:pPr>
                <a:endParaRPr lang="en-US" sz="2800" dirty="0"/>
              </a:p>
              <a:p>
                <a:pPr>
                  <a:buNone/>
                </a:pPr>
                <a:endParaRPr lang="en-US" sz="2800" dirty="0"/>
              </a:p>
              <a:p>
                <a:pPr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13" name="Conten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74116"/>
                <a:ext cx="7886700" cy="2326483"/>
              </a:xfrm>
              <a:blipFill>
                <a:blip r:embed="rId3"/>
                <a:stretch>
                  <a:fillRect l="-618" t="-4462" r="-1314" b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F3E84B4-AE12-102C-89EC-5B3D5F59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12765" y="3134594"/>
            <a:ext cx="1187633" cy="525710"/>
            <a:chOff x="5687090" y="2653688"/>
            <a:chExt cx="1187633" cy="525710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416C4A35-AEA5-4CA2-A1F5-570076182D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6149249" y="2842699"/>
              <a:ext cx="217873" cy="455526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22BC84-A96B-4B2F-B320-4C152D9BBA20}"/>
                </a:ext>
              </a:extLst>
            </p:cNvPr>
            <p:cNvSpPr txBox="1"/>
            <p:nvPr/>
          </p:nvSpPr>
          <p:spPr>
            <a:xfrm>
              <a:off x="5687090" y="2653688"/>
              <a:ext cx="1187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Prior Prob.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A1947C6-3C0B-F430-D8A3-6CD62B0A8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51884" y="3286703"/>
            <a:ext cx="1581908" cy="611168"/>
            <a:chOff x="2279398" y="2873842"/>
            <a:chExt cx="1581908" cy="611168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2CFBA34E-A898-4B8E-BC31-207786DD8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V="1">
              <a:off x="2895186" y="3018296"/>
              <a:ext cx="289658" cy="643769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CC323A-2B5B-4A80-B64B-20685B18B124}"/>
                </a:ext>
              </a:extLst>
            </p:cNvPr>
            <p:cNvSpPr txBox="1"/>
            <p:nvPr/>
          </p:nvSpPr>
          <p:spPr>
            <a:xfrm>
              <a:off x="2279398" y="2873842"/>
              <a:ext cx="1581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Posterior Prob.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Rectangle 13">
                <a:extLst>
                  <a:ext uri="{FF2B5EF4-FFF2-40B4-BE49-F238E27FC236}">
                    <a16:creationId xmlns:a16="http://schemas.microsoft.com/office/drawing/2014/main" id="{1D26D435-B2EE-48E4-B7D1-F128A89AF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801479" y="3286703"/>
                <a:ext cx="1940449" cy="902172"/>
              </a:xfrm>
              <a:prstGeom prst="wedgeRectCallout">
                <a:avLst>
                  <a:gd name="adj1" fmla="val -129282"/>
                  <a:gd name="adj2" fmla="val 58004"/>
                </a:avLst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 is fixed for a given evidence.</a:t>
                </a:r>
              </a:p>
            </p:txBody>
          </p:sp>
        </mc:Choice>
        <mc:Fallback xmlns="">
          <p:sp>
            <p:nvSpPr>
              <p:cNvPr id="14" name="Speech Bubble: Rectangle 13">
                <a:extLst>
                  <a:ext uri="{FF2B5EF4-FFF2-40B4-BE49-F238E27FC236}">
                    <a16:creationId xmlns:a16="http://schemas.microsoft.com/office/drawing/2014/main" id="{1D26D435-B2EE-48E4-B7D1-F128A89AF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479" y="3286703"/>
                <a:ext cx="1940449" cy="902172"/>
              </a:xfrm>
              <a:prstGeom prst="wedgeRectCallout">
                <a:avLst>
                  <a:gd name="adj1" fmla="val -129282"/>
                  <a:gd name="adj2" fmla="val 58004"/>
                </a:avLst>
              </a:prstGeom>
              <a:blipFill>
                <a:blip r:embed="rId7"/>
                <a:stretch>
                  <a:fillRect r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F696E1E-8C21-14BA-1D06-A6B3E0A10263}"/>
              </a:ext>
            </a:extLst>
          </p:cNvPr>
          <p:cNvGrpSpPr/>
          <p:nvPr/>
        </p:nvGrpSpPr>
        <p:grpSpPr>
          <a:xfrm>
            <a:off x="1483511" y="1423048"/>
            <a:ext cx="5840674" cy="914530"/>
            <a:chOff x="1371600" y="4313953"/>
            <a:chExt cx="6967793" cy="131967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9DD14E-E106-41B3-F460-71D4064AA63E}"/>
                </a:ext>
              </a:extLst>
            </p:cNvPr>
            <p:cNvSpPr txBox="1"/>
            <p:nvPr/>
          </p:nvSpPr>
          <p:spPr>
            <a:xfrm>
              <a:off x="1371600" y="4460873"/>
              <a:ext cx="1524000" cy="76062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Estimate prior probabilities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3AF3A5-3EEE-6774-FE21-AC4296F5D7EF}"/>
                </a:ext>
              </a:extLst>
            </p:cNvPr>
            <p:cNvSpPr txBox="1"/>
            <p:nvPr/>
          </p:nvSpPr>
          <p:spPr>
            <a:xfrm>
              <a:off x="1371600" y="5034058"/>
              <a:ext cx="1524000" cy="59956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Estimate Likelihoods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75FB930-6799-DB3A-6B40-B4EAF302763E}"/>
                </a:ext>
              </a:extLst>
            </p:cNvPr>
            <p:cNvGrpSpPr/>
            <p:nvPr/>
          </p:nvGrpSpPr>
          <p:grpSpPr>
            <a:xfrm>
              <a:off x="3070960" y="4569084"/>
              <a:ext cx="3067449" cy="934762"/>
              <a:chOff x="2765836" y="332718"/>
              <a:chExt cx="3067449" cy="934762"/>
            </a:xfrm>
          </p:grpSpPr>
          <p:sp>
            <p:nvSpPr>
              <p:cNvPr id="26" name="Arrow: Chevron 25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8F133A36-1048-7BBC-C36A-30278D3DFDC3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7" name="Arrow: Chevron 4">
                <a:extLst>
                  <a:ext uri="{FF2B5EF4-FFF2-40B4-BE49-F238E27FC236}">
                    <a16:creationId xmlns:a16="http://schemas.microsoft.com/office/drawing/2014/main" id="{040FD86A-04F2-70E7-DE27-C2B2D5082C0F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Update belief using Bayes’ rule with new evidence</a:t>
                </a:r>
              </a:p>
            </p:txBody>
          </p:sp>
        </p:grpSp>
        <p:sp>
          <p:nvSpPr>
            <p:cNvPr id="22" name="Cloud 21">
              <a:extLst>
                <a:ext uri="{FF2B5EF4-FFF2-40B4-BE49-F238E27FC236}">
                  <a16:creationId xmlns:a16="http://schemas.microsoft.com/office/drawing/2014/main" id="{938B263C-F3AC-3153-AE80-E66C5093B0DF}"/>
                </a:ext>
              </a:extLst>
            </p:cNvPr>
            <p:cNvSpPr/>
            <p:nvPr/>
          </p:nvSpPr>
          <p:spPr>
            <a:xfrm>
              <a:off x="6844189" y="4547144"/>
              <a:ext cx="1495204" cy="975518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Decision</a:t>
              </a: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7B44D250-5FB2-5FAE-5176-B81C257D446C}"/>
                </a:ext>
              </a:extLst>
            </p:cNvPr>
            <p:cNvSpPr/>
            <p:nvPr/>
          </p:nvSpPr>
          <p:spPr>
            <a:xfrm rot="16200000">
              <a:off x="6260257" y="4780538"/>
              <a:ext cx="397793" cy="41571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E0C842-463E-D3B3-A711-B0931B4CCE92}"/>
                </a:ext>
              </a:extLst>
            </p:cNvPr>
            <p:cNvSpPr txBox="1"/>
            <p:nvPr/>
          </p:nvSpPr>
          <p:spPr>
            <a:xfrm>
              <a:off x="5821839" y="4313953"/>
              <a:ext cx="1263926" cy="3997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+Utility (Loss)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E663A7C-3981-AC78-4427-39E08447595E}"/>
              </a:ext>
            </a:extLst>
          </p:cNvPr>
          <p:cNvSpPr txBox="1"/>
          <p:nvPr/>
        </p:nvSpPr>
        <p:spPr>
          <a:xfrm>
            <a:off x="2286000" y="5571039"/>
            <a:ext cx="493395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optimal decision for 0-1 loss. </a:t>
            </a:r>
          </a:p>
        </p:txBody>
      </p:sp>
    </p:spTree>
    <p:extLst>
      <p:ext uri="{BB962C8B-B14F-4D97-AF65-F5344CB8AC3E}">
        <p14:creationId xmlns:p14="http://schemas.microsoft.com/office/powerpoint/2010/main" val="31230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/>
              <p:cNvSpPr>
                <a:spLocks noGrp="1"/>
              </p:cNvSpPr>
              <p:nvPr>
                <p:ph idx="1"/>
              </p:nvPr>
            </p:nvSpPr>
            <p:spPr>
              <a:xfrm>
                <a:off x="677532" y="1690688"/>
                <a:ext cx="6961168" cy="463391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observe: </a:t>
                </a:r>
                <a:r>
                  <a:rPr lang="en-US" sz="2400" dirty="0">
                    <a:solidFill>
                      <a:srgbClr val="7030A0"/>
                    </a:solidFill>
                  </a:rPr>
                  <a:t>e = stripes</a:t>
                </a:r>
              </a:p>
              <a:p>
                <a:pPr marL="0" indent="0">
                  <a:buNone/>
                </a:pPr>
                <a:r>
                  <a:rPr lang="en-US" sz="2400" dirty="0"/>
                  <a:t>What is the animal?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 {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zebra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dog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cat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stripes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𝑠𝑡𝑟𝑖𝑝𝑒𝑠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stripes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400" dirty="0"/>
                </a:br>
                <a:endParaRPr lang="en-US" sz="9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Zebra</a:t>
                </a:r>
                <a:r>
                  <a:rPr lang="en-US" sz="2400" dirty="0"/>
                  <a:t>: The likelihood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i="0" dirty="0" err="1" smtClean="0">
                        <a:latin typeface="Cambria Math" panose="02040503050406030204" pitchFamily="18" charset="0"/>
                      </a:rPr>
                      <m:t>stripes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 err="1" smtClean="0">
                        <a:latin typeface="Cambria Math" panose="02040503050406030204" pitchFamily="18" charset="0"/>
                      </a:rPr>
                      <m:t>zebra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is the highest. But the decision also depends on the prior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zebra</m:t>
                        </m:r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the chance that we see a zebra. 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Cat</a:t>
                </a:r>
                <a:r>
                  <a:rPr lang="en-US" sz="2400" dirty="0"/>
                  <a:t>: The likelihood for cats having stripes may be smaller, but the prior probability of seeing a cat is much higher.  Cat may have a larger posterior probability!</a:t>
                </a:r>
              </a:p>
              <a:p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13" name="Conten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532" y="1690688"/>
                <a:ext cx="6961168" cy="4633911"/>
              </a:xfrm>
              <a:blipFill>
                <a:blip r:embed="rId3"/>
                <a:stretch>
                  <a:fillRect l="-1138" t="-2632" r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33A0464-F2C5-59B1-C579-0645A9C4A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6000" y="2267509"/>
            <a:ext cx="1431097" cy="542961"/>
            <a:chOff x="2796074" y="3126265"/>
            <a:chExt cx="1431097" cy="542961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EBB7A957-E244-4973-8948-BF4448834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V="1">
              <a:off x="3315204" y="3149361"/>
              <a:ext cx="245275" cy="794456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4DDDB7-EC02-48C9-BA06-67476E7B34C3}"/>
                </a:ext>
              </a:extLst>
            </p:cNvPr>
            <p:cNvSpPr txBox="1"/>
            <p:nvPr/>
          </p:nvSpPr>
          <p:spPr>
            <a:xfrm>
              <a:off x="2796074" y="3126265"/>
              <a:ext cx="1431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Posterior Prob.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1192EF0-AB1D-CF5B-7E65-973B3DFAC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05347" y="3750624"/>
            <a:ext cx="1171448" cy="379682"/>
            <a:chOff x="5512459" y="4587342"/>
            <a:chExt cx="1171448" cy="37968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27124F-E976-47A6-A8BA-8A987054D4ED}"/>
                </a:ext>
              </a:extLst>
            </p:cNvPr>
            <p:cNvSpPr txBox="1"/>
            <p:nvPr/>
          </p:nvSpPr>
          <p:spPr>
            <a:xfrm>
              <a:off x="5575869" y="4628470"/>
              <a:ext cx="9923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likelihood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94D7558-B4B4-4665-A713-2A71C971C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512459" y="4587342"/>
              <a:ext cx="117144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0E4B6B-D8C3-7DBB-2F19-0B6E15B6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05370" y="3722049"/>
            <a:ext cx="965649" cy="468058"/>
            <a:chOff x="6773656" y="4516198"/>
            <a:chExt cx="965649" cy="468058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A9A41499-03F7-4E86-822F-191DC881F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7109828" y="4340570"/>
              <a:ext cx="208202" cy="559458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4AF6B8-9F70-465A-8264-5BB742A8946E}"/>
                </a:ext>
              </a:extLst>
            </p:cNvPr>
            <p:cNvSpPr txBox="1"/>
            <p:nvPr/>
          </p:nvSpPr>
          <p:spPr>
            <a:xfrm>
              <a:off x="6773656" y="4676479"/>
              <a:ext cx="9656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Prior Prob.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9C0C33-0483-FEDE-B6AE-A6B713B1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56766" y="225757"/>
            <a:ext cx="1440518" cy="1681411"/>
            <a:chOff x="7417494" y="583612"/>
            <a:chExt cx="1662186" cy="1910011"/>
          </a:xfrm>
        </p:grpSpPr>
        <p:pic>
          <p:nvPicPr>
            <p:cNvPr id="4" name="Graphic 3" descr="Zebra with solid fill">
              <a:extLst>
                <a:ext uri="{FF2B5EF4-FFF2-40B4-BE49-F238E27FC236}">
                  <a16:creationId xmlns:a16="http://schemas.microsoft.com/office/drawing/2014/main" id="{81BEC40C-50C0-5185-537E-5799423F2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17494" y="831437"/>
              <a:ext cx="1662186" cy="1662186"/>
            </a:xfrm>
            <a:prstGeom prst="rect">
              <a:avLst/>
            </a:prstGeom>
          </p:spPr>
        </p:pic>
        <p:pic>
          <p:nvPicPr>
            <p:cNvPr id="7" name="Graphic 6" descr="Cat with solid fill">
              <a:extLst>
                <a:ext uri="{FF2B5EF4-FFF2-40B4-BE49-F238E27FC236}">
                  <a16:creationId xmlns:a16="http://schemas.microsoft.com/office/drawing/2014/main" id="{656CB3D8-5883-B7BA-62CF-88DD15E0B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48600" y="583612"/>
              <a:ext cx="495650" cy="495650"/>
            </a:xfrm>
            <a:prstGeom prst="rect">
              <a:avLst/>
            </a:prstGeom>
          </p:spPr>
        </p:pic>
        <p:pic>
          <p:nvPicPr>
            <p:cNvPr id="9" name="Graphic 8" descr="Dog with solid fill">
              <a:extLst>
                <a:ext uri="{FF2B5EF4-FFF2-40B4-BE49-F238E27FC236}">
                  <a16:creationId xmlns:a16="http://schemas.microsoft.com/office/drawing/2014/main" id="{5CD5BC1F-56E9-7EB5-BFFE-612EC2F6B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38700" y="73872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110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Classifier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321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>
                    <a:sym typeface="Symbol"/>
                  </a:rPr>
                  <a:t>Suppose we have many different types of observations (evidence, symptoms, features)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𝐹</m:t>
                    </m:r>
                    <m:r>
                      <a:rPr lang="en-US" sz="2400" i="1" baseline="-25000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1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, …,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𝐹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400" dirty="0">
                    <a:sym typeface="Symbol"/>
                  </a:rPr>
                  <a:t>that we want to use to decide on an underlying hypothesis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𝐻</m:t>
                    </m:r>
                  </m:oMath>
                </a14:m>
                <a:r>
                  <a:rPr lang="en-US" sz="2400" dirty="0">
                    <a:sym typeface="Symbol"/>
                  </a:rPr>
                  <a:t>.</a:t>
                </a:r>
              </a:p>
              <a:p>
                <a:endParaRPr lang="en-US" sz="2400" dirty="0">
                  <a:sym typeface="Symbol"/>
                </a:endParaRPr>
              </a:p>
              <a:p>
                <a:r>
                  <a:rPr lang="en-US" sz="2400" dirty="0">
                    <a:sym typeface="Symbol"/>
                  </a:rPr>
                  <a:t>The MAP decision involves estimating</a:t>
                </a:r>
                <a:br>
                  <a:rPr lang="en-US" sz="2400" dirty="0">
                    <a:sym typeface="Symbol"/>
                  </a:rPr>
                </a:br>
                <a:endParaRPr lang="en-US" sz="2400" dirty="0">
                  <a:sym typeface="Symbol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,…, 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>
                  <a:sym typeface="Symbol"/>
                </a:endParaRPr>
              </a:p>
              <a:p>
                <a:endParaRPr lang="en-US" sz="2400" dirty="0">
                  <a:sym typeface="Symbol"/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</a:rPr>
                  <a:t>How many entries does the tables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,…, 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ym typeface="Symbol"/>
                  </a:rPr>
                  <a:t> have?</a:t>
                </a:r>
              </a:p>
              <a:p>
                <a:pPr marL="0" indent="0">
                  <a:buNone/>
                </a:pPr>
                <a:endParaRPr lang="en-US" sz="2400" b="1" dirty="0">
                  <a:sym typeface="Symbol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32175"/>
              </a:xfrm>
              <a:blipFill>
                <a:blip r:embed="rId3"/>
                <a:stretch>
                  <a:fillRect l="-1005" t="-3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F14386E-58BC-3FA0-459B-0DA0B5D98BD0}"/>
                  </a:ext>
                </a:extLst>
              </p:cNvPr>
              <p:cNvSpPr/>
              <p:nvPr/>
            </p:nvSpPr>
            <p:spPr>
              <a:xfrm>
                <a:off x="5715000" y="709612"/>
                <a:ext cx="2590800" cy="685800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F14386E-58BC-3FA0-459B-0DA0B5D98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709612"/>
                <a:ext cx="2590800" cy="6858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333215-1004-CB39-3974-253ED3DC0049}"/>
                  </a:ext>
                </a:extLst>
              </p:cNvPr>
              <p:cNvSpPr txBox="1"/>
              <p:nvPr/>
            </p:nvSpPr>
            <p:spPr>
              <a:xfrm>
                <a:off x="781050" y="5392736"/>
                <a:ext cx="7524750" cy="646331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ym typeface="Symbol"/>
                  </a:rPr>
                  <a:t>Answer</a:t>
                </a:r>
                <a:r>
                  <a:rPr lang="en-US" sz="1800" dirty="0">
                    <a:sym typeface="Symbol"/>
                  </a:rPr>
                  <a:t>: If we assume that each feature can take on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</m:oMath>
                </a14:m>
                <a:r>
                  <a:rPr lang="en-US" sz="1800" dirty="0">
                    <a:sym typeface="Symbol"/>
                  </a:rPr>
                  <a:t> values then the table has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  <a:sym typeface="Symbol"/>
                      </a:rPr>
                      <m:t>𝐎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sym typeface="Symbol"/>
                          </a:rPr>
                          <m:t>𝒌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  <a:sym typeface="Symbol"/>
                          </a:rPr>
                          <m:t>𝒏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sz="1800" dirty="0">
                    <a:sym typeface="Symbol"/>
                  </a:rPr>
                  <a:t> entries! What if we have 1000s of features?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333215-1004-CB39-3974-253ED3DC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5392736"/>
                <a:ext cx="7524750" cy="646331"/>
              </a:xfrm>
              <a:prstGeom prst="rect">
                <a:avLst/>
              </a:prstGeom>
              <a:blipFill>
                <a:blip r:embed="rId5"/>
                <a:stretch>
                  <a:fillRect l="-566" t="-4630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86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1" y="1657351"/>
                <a:ext cx="5843768" cy="466724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400" dirty="0">
                    <a:sym typeface="Symbol"/>
                  </a:rPr>
                  <a:t>We want to use the MAP decision which involves estimating</a:t>
                </a:r>
                <a:br>
                  <a:rPr lang="en-US" sz="2400" dirty="0">
                    <a:sym typeface="Symbol"/>
                  </a:rPr>
                </a:br>
                <a:br>
                  <a:rPr lang="en-US" sz="2400" dirty="0">
                    <a:sym typeface="Symbol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,…, 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e>
                    </m:func>
                  </m:oMath>
                </a14:m>
                <a:endParaRPr lang="en-US" sz="2400" dirty="0">
                  <a:sym typeface="Symbol"/>
                </a:endParaRPr>
              </a:p>
              <a:p>
                <a:endParaRPr lang="en-US" sz="2400" b="1" dirty="0">
                  <a:sym typeface="Symbol"/>
                </a:endParaRPr>
              </a:p>
              <a:p>
                <a:r>
                  <a:rPr lang="en-US" sz="2400" b="1" dirty="0">
                    <a:sym typeface="Symbol"/>
                  </a:rPr>
                  <a:t>Issue</a:t>
                </a:r>
                <a:r>
                  <a:rPr lang="en-US" sz="2400" dirty="0">
                    <a:sym typeface="Symbol"/>
                  </a:rPr>
                  <a:t>: The likelihood table size grows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</m:oMath>
                </a14:m>
                <a:r>
                  <a:rPr lang="en-US" sz="2400" dirty="0">
                    <a:sym typeface="Symbol"/>
                  </a:rPr>
                  <a:t> variables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</m:oMath>
                </a14:m>
                <a:r>
                  <a:rPr lang="en-US" sz="2400" dirty="0">
                    <a:sym typeface="Symbol"/>
                  </a:rPr>
                  <a:t> different values exponentially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Symbol"/>
                      </a:rPr>
                      <m:t>O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ym typeface="Symbol"/>
                </a:endParaRPr>
              </a:p>
              <a:p>
                <a:endParaRPr lang="en-US" sz="2400" dirty="0">
                  <a:sym typeface="Symbol"/>
                </a:endParaRPr>
              </a:p>
              <a:p>
                <a:r>
                  <a:rPr lang="en-US" sz="2400" dirty="0"/>
                  <a:t>The naïve Bayes model </a:t>
                </a:r>
                <a:r>
                  <a:rPr lang="en-US" sz="2400" dirty="0">
                    <a:sym typeface="Symbol"/>
                  </a:rPr>
                  <a:t>makes the </a:t>
                </a:r>
                <a:r>
                  <a:rPr lang="en-US" sz="2400" b="1" dirty="0">
                    <a:solidFill>
                      <a:srgbClr val="FF0000"/>
                    </a:solidFill>
                    <a:sym typeface="Symbol"/>
                  </a:rPr>
                  <a:t>simplifying assumption </a:t>
                </a:r>
                <a:r>
                  <a:rPr lang="en-US" sz="2400" dirty="0">
                    <a:sym typeface="Symbol"/>
                  </a:rPr>
                  <a:t>that the different </a:t>
                </a:r>
                <a:r>
                  <a:rPr lang="en-US" sz="2400" b="1" dirty="0">
                    <a:solidFill>
                      <a:srgbClr val="FF0000"/>
                    </a:solidFill>
                    <a:sym typeface="Symbol"/>
                  </a:rPr>
                  <a:t>features are conditionally independent </a:t>
                </a:r>
                <a:r>
                  <a:rPr lang="en-US" sz="2400" b="1" i="1" dirty="0">
                    <a:solidFill>
                      <a:srgbClr val="FF0000"/>
                    </a:solidFill>
                    <a:sym typeface="Symbol"/>
                  </a:rPr>
                  <a:t>given the hypothesis.</a:t>
                </a:r>
                <a:br>
                  <a:rPr lang="en-US" sz="2400" b="1" i="1" dirty="0">
                    <a:solidFill>
                      <a:srgbClr val="FF0000"/>
                    </a:solidFill>
                    <a:sym typeface="Symbol"/>
                  </a:rPr>
                </a:br>
                <a:br>
                  <a:rPr lang="en-US" sz="2400" b="1" i="1" dirty="0">
                    <a:sym typeface="Symbol"/>
                  </a:rPr>
                </a:br>
                <a:r>
                  <a:rPr lang="en-US" sz="2400" dirty="0">
                    <a:sym typeface="Symbol"/>
                  </a:rPr>
                  <a:t>This reduces the needed number of probabilities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sym typeface="Symbol"/>
                      </a:rPr>
                      <m:t>O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sz="2400" dirty="0">
                    <a:sym typeface="Symbol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  <m: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</m:e>
                      </m:func>
                      <m:nary>
                        <m:naryPr>
                          <m:chr m:val="∏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The naïve Bayes decision is not optimal.</a:t>
                </a:r>
              </a:p>
              <a:p>
                <a:endParaRPr lang="en-US" sz="2400" dirty="0">
                  <a:sym typeface="Symbol"/>
                </a:endParaRPr>
              </a:p>
              <a:p>
                <a:endParaRPr lang="en-US" sz="2700" dirty="0">
                  <a:sym typeface="Symbol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657351"/>
                <a:ext cx="5843768" cy="4667249"/>
              </a:xfrm>
              <a:blipFill>
                <a:blip r:embed="rId3"/>
                <a:stretch>
                  <a:fillRect l="-938" t="-2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BAA370B-F5F2-C6AF-4474-B1410B072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36585" y="5029200"/>
            <a:ext cx="2514600" cy="1093791"/>
            <a:chOff x="4724400" y="277016"/>
            <a:chExt cx="2514600" cy="109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9DA86A32-FCA7-D5AD-30E2-3FC49EC7514D}"/>
                    </a:ext>
                  </a:extLst>
                </p:cNvPr>
                <p:cNvSpPr/>
                <p:nvPr/>
              </p:nvSpPr>
              <p:spPr>
                <a:xfrm>
                  <a:off x="4724400" y="990599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9DA86A32-FCA7-D5AD-30E2-3FC49EC751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400" y="990599"/>
                  <a:ext cx="381000" cy="380207"/>
                </a:xfrm>
                <a:prstGeom prst="ellipse">
                  <a:avLst/>
                </a:prstGeom>
                <a:blipFill>
                  <a:blip r:embed="rId4"/>
                  <a:stretch>
                    <a:fillRect l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74119B8A-6A37-395E-A72A-18636C00EDDC}"/>
                    </a:ext>
                  </a:extLst>
                </p:cNvPr>
                <p:cNvSpPr/>
                <p:nvPr/>
              </p:nvSpPr>
              <p:spPr>
                <a:xfrm>
                  <a:off x="5522209" y="990599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74119B8A-6A37-395E-A72A-18636C00ED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209" y="990599"/>
                  <a:ext cx="381000" cy="380207"/>
                </a:xfrm>
                <a:prstGeom prst="ellipse">
                  <a:avLst/>
                </a:prstGeom>
                <a:blipFill>
                  <a:blip r:embed="rId5"/>
                  <a:stretch>
                    <a:fillRect l="-79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537CF07-1FFC-9B6F-004E-BF6C4C1CEDBF}"/>
                    </a:ext>
                  </a:extLst>
                </p:cNvPr>
                <p:cNvSpPr/>
                <p:nvPr/>
              </p:nvSpPr>
              <p:spPr>
                <a:xfrm>
                  <a:off x="6858000" y="990600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537CF07-1FFC-9B6F-004E-BF6C4C1CED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0" y="990600"/>
                  <a:ext cx="381000" cy="380207"/>
                </a:xfrm>
                <a:prstGeom prst="ellipse">
                  <a:avLst/>
                </a:prstGeom>
                <a:blipFill>
                  <a:blip r:embed="rId6"/>
                  <a:stretch>
                    <a:fillRect l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F22F5D-25DA-1016-4F59-3DFE1D5C4249}"/>
                </a:ext>
              </a:extLst>
            </p:cNvPr>
            <p:cNvSpPr txBox="1"/>
            <p:nvPr/>
          </p:nvSpPr>
          <p:spPr>
            <a:xfrm>
              <a:off x="6164038" y="847586"/>
              <a:ext cx="433132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E6C63E0-A013-0F29-F217-E223E4879BD4}"/>
                    </a:ext>
                  </a:extLst>
                </p:cNvPr>
                <p:cNvSpPr/>
                <p:nvPr/>
              </p:nvSpPr>
              <p:spPr>
                <a:xfrm>
                  <a:off x="5903209" y="277016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E6C63E0-A013-0F29-F217-E223E4879B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3209" y="277016"/>
                  <a:ext cx="381000" cy="38020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F2037A-8310-7DEA-7CFD-794172BB0CF6}"/>
                </a:ext>
              </a:extLst>
            </p:cNvPr>
            <p:cNvCxnSpPr>
              <a:cxnSpLocks/>
              <a:stCxn id="8" idx="4"/>
              <a:endCxn id="4" idx="0"/>
            </p:cNvCxnSpPr>
            <p:nvPr/>
          </p:nvCxnSpPr>
          <p:spPr>
            <a:xfrm flipH="1">
              <a:off x="4914900" y="657223"/>
              <a:ext cx="1178809" cy="333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DBD33C7-56CB-BED9-662E-44661E06F591}"/>
                </a:ext>
              </a:extLst>
            </p:cNvPr>
            <p:cNvCxnSpPr>
              <a:cxnSpLocks/>
              <a:stCxn id="8" idx="4"/>
              <a:endCxn id="5" idx="0"/>
            </p:cNvCxnSpPr>
            <p:nvPr/>
          </p:nvCxnSpPr>
          <p:spPr>
            <a:xfrm flipH="1">
              <a:off x="5712709" y="657223"/>
              <a:ext cx="381000" cy="333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4F45F09-D4B6-1308-82F1-BF602D70DB1B}"/>
                </a:ext>
              </a:extLst>
            </p:cNvPr>
            <p:cNvCxnSpPr>
              <a:cxnSpLocks/>
              <a:stCxn id="8" idx="4"/>
              <a:endCxn id="6" idx="0"/>
            </p:cNvCxnSpPr>
            <p:nvPr/>
          </p:nvCxnSpPr>
          <p:spPr>
            <a:xfrm>
              <a:off x="6093709" y="657223"/>
              <a:ext cx="954791" cy="333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FAC79BC-7F91-EB0E-63F7-C6291C8AA97E}"/>
                  </a:ext>
                </a:extLst>
              </p:cNvPr>
              <p:cNvSpPr/>
              <p:nvPr/>
            </p:nvSpPr>
            <p:spPr>
              <a:xfrm>
                <a:off x="6322309" y="2268539"/>
                <a:ext cx="2590800" cy="685800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FAC79BC-7F91-EB0E-63F7-C6291C8AA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309" y="2268539"/>
                <a:ext cx="2590800" cy="6858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FA275497-2A50-8107-C622-FB5AF3FAF779}"/>
              </a:ext>
            </a:extLst>
          </p:cNvPr>
          <p:cNvSpPr/>
          <p:nvPr/>
        </p:nvSpPr>
        <p:spPr>
          <a:xfrm>
            <a:off x="7315200" y="3124200"/>
            <a:ext cx="609600" cy="1714637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0AB400-5477-3A9E-7142-B8A2A0B44265}"/>
                  </a:ext>
                </a:extLst>
              </p:cNvPr>
              <p:cNvSpPr txBox="1"/>
              <p:nvPr/>
            </p:nvSpPr>
            <p:spPr>
              <a:xfrm>
                <a:off x="8217747" y="2098678"/>
                <a:ext cx="700306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0AB400-5477-3A9E-7142-B8A2A0B44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747" y="2098678"/>
                <a:ext cx="7003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2FFBEC-3C63-CE2F-B05D-97F61687781E}"/>
                  </a:ext>
                </a:extLst>
              </p:cNvPr>
              <p:cNvSpPr txBox="1"/>
              <p:nvPr/>
            </p:nvSpPr>
            <p:spPr>
              <a:xfrm>
                <a:off x="8109355" y="5031017"/>
                <a:ext cx="700306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2FFBEC-3C63-CE2F-B05D-97F616877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55" y="5031017"/>
                <a:ext cx="70030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34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D54E-6A46-34EB-6B03-79D6E067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314F-8AEB-A908-CFD4-9A15FB50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F24EED-46F8-694B-CD2B-828BA124D7C3}"/>
              </a:ext>
            </a:extLst>
          </p:cNvPr>
          <p:cNvGrpSpPr/>
          <p:nvPr/>
        </p:nvGrpSpPr>
        <p:grpSpPr>
          <a:xfrm>
            <a:off x="628650" y="1985912"/>
            <a:ext cx="7491214" cy="1959547"/>
            <a:chOff x="848179" y="3597730"/>
            <a:chExt cx="7491214" cy="19595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4E1EE4-E154-226A-6BDC-97F3332D9FBF}"/>
                </a:ext>
              </a:extLst>
            </p:cNvPr>
            <p:cNvSpPr txBox="1"/>
            <p:nvPr/>
          </p:nvSpPr>
          <p:spPr>
            <a:xfrm>
              <a:off x="1371600" y="4460872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prior probabilities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1A93F3-DCE4-9FBC-15E8-7BF1801B8570}"/>
                </a:ext>
              </a:extLst>
            </p:cNvPr>
            <p:cNvSpPr txBox="1"/>
            <p:nvPr/>
          </p:nvSpPr>
          <p:spPr>
            <a:xfrm>
              <a:off x="1371600" y="5034057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Likelihoods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D1F816-C418-D2C2-EC5A-163D570D3DC9}"/>
                </a:ext>
              </a:extLst>
            </p:cNvPr>
            <p:cNvGrpSpPr/>
            <p:nvPr/>
          </p:nvGrpSpPr>
          <p:grpSpPr>
            <a:xfrm>
              <a:off x="3070960" y="4569084"/>
              <a:ext cx="3067449" cy="934762"/>
              <a:chOff x="2765836" y="332718"/>
              <a:chExt cx="3067449" cy="934762"/>
            </a:xfrm>
          </p:grpSpPr>
          <p:sp>
            <p:nvSpPr>
              <p:cNvPr id="19" name="Arrow: Chevron 18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D4F818D9-59C5-5B0F-A935-8964C917F130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Arrow: Chevron 4">
                <a:extLst>
                  <a:ext uri="{FF2B5EF4-FFF2-40B4-BE49-F238E27FC236}">
                    <a16:creationId xmlns:a16="http://schemas.microsoft.com/office/drawing/2014/main" id="{B20958BA-E913-EE1C-35F0-E1CC1EEED304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 dirty="0"/>
                  <a:t>Update belief using Bayes’ rule with new evidence</a:t>
                </a:r>
              </a:p>
            </p:txBody>
          </p:sp>
        </p:grpSp>
        <p:sp>
          <p:nvSpPr>
            <p:cNvPr id="22" name="Cloud 21">
              <a:extLst>
                <a:ext uri="{FF2B5EF4-FFF2-40B4-BE49-F238E27FC236}">
                  <a16:creationId xmlns:a16="http://schemas.microsoft.com/office/drawing/2014/main" id="{C7B4A686-1241-63B5-ED6D-663357482B8E}"/>
                </a:ext>
              </a:extLst>
            </p:cNvPr>
            <p:cNvSpPr/>
            <p:nvPr/>
          </p:nvSpPr>
          <p:spPr>
            <a:xfrm>
              <a:off x="6844189" y="4547144"/>
              <a:ext cx="1495204" cy="975518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Decision</a:t>
              </a: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E077932C-3342-DE67-88D4-A9114C52E975}"/>
                </a:ext>
              </a:extLst>
            </p:cNvPr>
            <p:cNvSpPr/>
            <p:nvPr/>
          </p:nvSpPr>
          <p:spPr>
            <a:xfrm rot="16200000">
              <a:off x="6326865" y="4782636"/>
              <a:ext cx="328868" cy="50284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973E18-5D90-978C-83DA-ED5756C7C4CA}"/>
                </a:ext>
              </a:extLst>
            </p:cNvPr>
            <p:cNvSpPr txBox="1"/>
            <p:nvPr/>
          </p:nvSpPr>
          <p:spPr>
            <a:xfrm>
              <a:off x="5964228" y="4491329"/>
              <a:ext cx="900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+Utility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F713A5-E8CA-45A7-BC8C-837EE9D4DB9D}"/>
                </a:ext>
              </a:extLst>
            </p:cNvPr>
            <p:cNvSpPr txBox="1"/>
            <p:nvPr/>
          </p:nvSpPr>
          <p:spPr>
            <a:xfrm>
              <a:off x="848179" y="3597730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Approach</a:t>
              </a:r>
              <a:endParaRPr lang="en-US" dirty="0"/>
            </a:p>
          </p:txBody>
        </p:sp>
      </p:grpSp>
      <p:sp>
        <p:nvSpPr>
          <p:cNvPr id="30" name="Speech Bubble: Rectangle with Corners Rounded 29">
            <a:extLst>
              <a:ext uri="{FF2B5EF4-FFF2-40B4-BE49-F238E27FC236}">
                <a16:creationId xmlns:a16="http://schemas.microsoft.com/office/drawing/2014/main" id="{E41DE77B-6017-4BC4-2CBB-617F96AB80A8}"/>
              </a:ext>
            </a:extLst>
          </p:cNvPr>
          <p:cNvSpPr/>
          <p:nvPr/>
        </p:nvSpPr>
        <p:spPr>
          <a:xfrm>
            <a:off x="1066800" y="4834806"/>
            <a:ext cx="2004717" cy="1092867"/>
          </a:xfrm>
          <a:prstGeom prst="wedgeRoundRectCallout">
            <a:avLst>
              <a:gd name="adj1" fmla="val -13327"/>
              <a:gd name="adj2" fmla="val -12388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Agent’s knowledge</a:t>
            </a:r>
            <a:r>
              <a:rPr lang="en-US" sz="1200" dirty="0"/>
              <a:t>. We typically use frequentist estimates (e.g., counting) and store them as a model.</a:t>
            </a:r>
          </a:p>
        </p:txBody>
      </p: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6B99ED52-0D36-5A6C-7955-99471CE6C680}"/>
              </a:ext>
            </a:extLst>
          </p:cNvPr>
          <p:cNvSpPr/>
          <p:nvPr/>
        </p:nvSpPr>
        <p:spPr>
          <a:xfrm>
            <a:off x="3786193" y="4818263"/>
            <a:ext cx="2132687" cy="1092867"/>
          </a:xfrm>
          <a:prstGeom prst="wedgeRoundRectCallout">
            <a:avLst>
              <a:gd name="adj1" fmla="val 25891"/>
              <a:gd name="adj2" fmla="val -127371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Predict the belief states </a:t>
            </a:r>
            <a:r>
              <a:rPr lang="en-US" sz="1200" dirty="0"/>
              <a:t>given different actions </a:t>
            </a:r>
            <a:br>
              <a:rPr lang="en-US" sz="1200" dirty="0"/>
            </a:br>
            <a:r>
              <a:rPr lang="en-US" sz="1200" dirty="0"/>
              <a:t>+ </a:t>
            </a:r>
            <a:br>
              <a:rPr lang="en-US" sz="1200" dirty="0"/>
            </a:br>
            <a:r>
              <a:rPr lang="en-US" sz="1200" dirty="0"/>
              <a:t>Use </a:t>
            </a:r>
            <a:r>
              <a:rPr lang="en-US" sz="1200" b="1" dirty="0"/>
              <a:t>utility</a:t>
            </a:r>
            <a:r>
              <a:rPr lang="en-US" sz="1200" dirty="0"/>
              <a:t> information to calculate expected utilities.</a:t>
            </a: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5FC93710-4087-D5DA-DBCB-7E8181259ACF}"/>
              </a:ext>
            </a:extLst>
          </p:cNvPr>
          <p:cNvSpPr/>
          <p:nvPr/>
        </p:nvSpPr>
        <p:spPr>
          <a:xfrm>
            <a:off x="6633556" y="4850734"/>
            <a:ext cx="2132687" cy="1060396"/>
          </a:xfrm>
          <a:prstGeom prst="wedgeRoundRectCallout">
            <a:avLst>
              <a:gd name="adj1" fmla="val -21451"/>
              <a:gd name="adj2" fmla="val -12737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Choose the action that </a:t>
            </a:r>
            <a:r>
              <a:rPr lang="en-US" sz="1200" b="1" dirty="0"/>
              <a:t>maximizes the expected utility</a:t>
            </a:r>
            <a:r>
              <a:rPr lang="en-US" sz="1200" dirty="0"/>
              <a:t>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A37D80-4636-1086-20E0-6408B8876F14}"/>
              </a:ext>
            </a:extLst>
          </p:cNvPr>
          <p:cNvGrpSpPr/>
          <p:nvPr/>
        </p:nvGrpSpPr>
        <p:grpSpPr>
          <a:xfrm>
            <a:off x="2743200" y="2372570"/>
            <a:ext cx="5638800" cy="1818267"/>
            <a:chOff x="2743200" y="2007496"/>
            <a:chExt cx="5638800" cy="181826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1C6F103-C305-233D-EA67-9C70DC27CF3B}"/>
                </a:ext>
              </a:extLst>
            </p:cNvPr>
            <p:cNvSpPr/>
            <p:nvPr/>
          </p:nvSpPr>
          <p:spPr>
            <a:xfrm>
              <a:off x="2743200" y="2061091"/>
              <a:ext cx="5638800" cy="176467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C0D7EE5-59F6-1BB7-3CCA-95BC1A5E9689}"/>
                </a:ext>
              </a:extLst>
            </p:cNvPr>
            <p:cNvSpPr txBox="1"/>
            <p:nvPr/>
          </p:nvSpPr>
          <p:spPr>
            <a:xfrm>
              <a:off x="2743200" y="2007496"/>
              <a:ext cx="14485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Agent function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4B6854D-E92C-38F5-7083-C0F9BA17B980}"/>
              </a:ext>
            </a:extLst>
          </p:cNvPr>
          <p:cNvSpPr txBox="1"/>
          <p:nvPr/>
        </p:nvSpPr>
        <p:spPr>
          <a:xfrm>
            <a:off x="652264" y="1420671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Bayesian Intelligent Agents: This is a type of utility-based agent is also called a decision-theoretic agent.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4E131-6306-3A4F-8589-02F2991AA852}"/>
              </a:ext>
            </a:extLst>
          </p:cNvPr>
          <p:cNvSpPr txBox="1"/>
          <p:nvPr/>
        </p:nvSpPr>
        <p:spPr>
          <a:xfrm>
            <a:off x="579241" y="5837322"/>
            <a:ext cx="2743200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Conditional Independence makes this possible. </a:t>
            </a:r>
          </a:p>
        </p:txBody>
      </p:sp>
    </p:spTree>
    <p:extLst>
      <p:ext uri="{BB962C8B-B14F-4D97-AF65-F5344CB8AC3E}">
        <p14:creationId xmlns:p14="http://schemas.microsoft.com/office/powerpoint/2010/main" val="16847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B769F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9462</TotalTime>
  <Words>922</Words>
  <Application>Microsoft Office PowerPoint</Application>
  <PresentationFormat>On-screen Show (4:3)</PresentationFormat>
  <Paragraphs>150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Narrow</vt:lpstr>
      <vt:lpstr>Arial</vt:lpstr>
      <vt:lpstr>Calibri</vt:lpstr>
      <vt:lpstr>Calibri Light</vt:lpstr>
      <vt:lpstr>Cambria Math</vt:lpstr>
      <vt:lpstr>Symbol</vt:lpstr>
      <vt:lpstr>Office Theme</vt:lpstr>
      <vt:lpstr>CS 5/7320  Artificial Intelligence  Quantifying Uncertainty: Probabilities &amp; Bayesian Decision Making  AIMA Chapter 12</vt:lpstr>
      <vt:lpstr>Making a Decision Under Uncertainty</vt:lpstr>
      <vt:lpstr>Bayes’ Theorem: The Bayesian Update Rule</vt:lpstr>
      <vt:lpstr>MAP: Maximum A Posteriori Decision</vt:lpstr>
      <vt:lpstr>MAP: Example</vt:lpstr>
      <vt:lpstr>Bayes Classifier</vt:lpstr>
      <vt:lpstr>Naïve Bayes Model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 Artificial Intelligence  Uncertainty</dc:title>
  <dc:creator>michael</dc:creator>
  <cp:lastModifiedBy>Hahsler, Michael</cp:lastModifiedBy>
  <cp:revision>142</cp:revision>
  <dcterms:created xsi:type="dcterms:W3CDTF">2020-12-02T20:47:32Z</dcterms:created>
  <dcterms:modified xsi:type="dcterms:W3CDTF">2025-11-13T21:54:07Z</dcterms:modified>
</cp:coreProperties>
</file>