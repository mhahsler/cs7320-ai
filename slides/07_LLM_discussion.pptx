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817" r:id="rId6"/>
    <p:sldId id="384" r:id="rId7"/>
    <p:sldId id="265" r:id="rId8"/>
    <p:sldId id="264" r:id="rId9"/>
    <p:sldId id="257" r:id="rId10"/>
    <p:sldId id="818" r:id="rId11"/>
    <p:sldId id="819" r:id="rId12"/>
    <p:sldId id="259" r:id="rId13"/>
    <p:sldId id="260" r:id="rId14"/>
    <p:sldId id="258" r:id="rId15"/>
    <p:sldId id="263" r:id="rId16"/>
    <p:sldId id="261" r:id="rId17"/>
    <p:sldId id="262" r:id="rId18"/>
    <p:sldId id="26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23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9E11F-0575-E50B-34D2-F98E05FB48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804C4D-475F-F741-5065-DAFC754C13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624D22-AF93-8DE5-A810-7ABB2778F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F861B-2947-4E74-AAE0-E351222E926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16BDB-54F0-CF25-EE90-DDFD97FD8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2D829-4BC3-6F1F-D610-45C3D917C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2241B-143C-4AB1-8D9F-6795ED245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064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727CC-B7CD-3F57-E79F-0D97A50EC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CEE91-79F1-EF42-D68A-BB4C85859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16854-CCAC-2DF1-963C-96CCB5462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F861B-2947-4E74-AAE0-E351222E926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C97A3-45D5-44C4-93FD-06F694ABF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26E5F-4143-346F-44DC-8CA81085C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2241B-143C-4AB1-8D9F-6795ED245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921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B5E1C-2AEF-23DF-1B78-D0E308484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B2162-A36E-35B3-84B7-E08B50CEC2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C060E8-4FF5-6D46-99FD-EA6DA4559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F861B-2947-4E74-AAE0-E351222E926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4FF6CE-1B47-5389-0C9A-137323866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49FC7-CCC1-EA48-70CA-91E1E1D4D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2241B-143C-4AB1-8D9F-6795ED245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725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71786-5978-6404-4B8F-39FFD4F2A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B5F95-0763-903C-4C21-81B1005118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F5C9E9-D4F2-D4BC-10CE-2CB46EC776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F4E004-2EEA-2EAB-DDA8-18157C9A5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F861B-2947-4E74-AAE0-E351222E926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44254C-3BE3-33A8-09D9-CF234F749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BACF5C-9111-5150-87D4-266F295B3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2241B-143C-4AB1-8D9F-6795ED245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53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EDB51-7431-3EE4-8253-46262E30E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E63ED2-F2A3-CE4F-3FC2-376DF01E00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009EA7-973C-BE70-251E-9D846BEBC1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886C29-F5AB-BB91-FFA5-6A119E8319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6214A4-3482-23F6-D132-F8569B74AD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C009A8-33DB-5BAE-40C2-2FB63AA8D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F861B-2947-4E74-AAE0-E351222E926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5B8A1B-1EB1-C26E-E5AC-47A65C27A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BBFED5-B6CD-B0A4-BADF-94BA0CC5E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2241B-143C-4AB1-8D9F-6795ED245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226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4615F-F88C-78BF-BE2B-DD24157FA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A90D99-7411-CA5D-BC49-97D4505F3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F861B-2947-4E74-AAE0-E351222E926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211277-279F-7CFD-BEC5-900E57D5F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5F3D39-51F2-F10F-5E18-D2AD65F53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2241B-143C-4AB1-8D9F-6795ED245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732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98A2A0-6CB9-58BF-F510-6656D4C60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F861B-2947-4E74-AAE0-E351222E926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8378BD-4852-2A79-3729-677E84346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996F9-4CF8-3F00-056F-947F2A7F6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2241B-143C-4AB1-8D9F-6795ED245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319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5734F-84B0-7456-6DF9-2F4F95F48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88B42-851A-41B7-C43C-F93DF2CD9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896FA6-E60B-C724-5ECE-4ED3FDB825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FC097C-5519-6FAE-6526-BD5263051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F861B-2947-4E74-AAE0-E351222E926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19848-DAA0-E65E-C789-A9DE66CBE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75F82B-2835-2DB0-E9CB-8E4F4BF5E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2241B-143C-4AB1-8D9F-6795ED245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62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5D51C-002E-F33E-989F-729A21B0F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6E53B9-DF4B-F43B-0105-4D54825BA6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DBE751-3E4E-AE8A-25A3-2FA63B0E1A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92FC3E-D8F7-865E-0D9C-03C06408C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F861B-2947-4E74-AAE0-E351222E926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20DBC3-DE38-DF36-EFFF-BAC43C591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8F5E6E-2724-EE76-196C-7B9A8B24B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2241B-143C-4AB1-8D9F-6795ED245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133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D92D5-BEAC-3055-5DC1-884036184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7B1334-9CF0-802B-FB30-DD2E7AF330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594E2-150E-D5BB-EEF0-40C68C85B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F861B-2947-4E74-AAE0-E351222E926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4BFBE-55E4-787A-E1DE-6FCB25F9D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4228E-D8F3-D09A-65F5-3AA99796A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2241B-143C-4AB1-8D9F-6795ED245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453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7363AD-EA5C-47FF-8103-277A898E36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C6E778-C9A7-5DFA-1B07-B78CF5726D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AF249-15E2-1A76-1148-82A38D3F8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F861B-2947-4E74-AAE0-E351222E926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1F0CD-1264-F8A5-B35A-46902C3D3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3C52C-3120-2CC4-E08C-E1E6FC31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2241B-143C-4AB1-8D9F-6795ED245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055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968D48-98D0-7449-BC1C-0F45CCBB9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821D19-007A-1C90-E185-941AD683EE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CF36D-BA6D-86F4-0337-644EE4BAA7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CF861B-2947-4E74-AAE0-E351222E926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4F287F-029D-259C-3F9F-8A6A12F438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9CCBB-B80F-70CB-76CB-BE3A58A928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92241B-143C-4AB1-8D9F-6795ED245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210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sa/4.0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hat.openai.com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huggingface.co/models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50.png"/><Relationship Id="rId7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2.png"/><Relationship Id="rId5" Type="http://schemas.openxmlformats.org/officeDocument/2006/relationships/image" Target="../media/image71.png"/><Relationship Id="rId10" Type="http://schemas.openxmlformats.org/officeDocument/2006/relationships/image" Target="../media/image11.png"/><Relationship Id="rId4" Type="http://schemas.openxmlformats.org/officeDocument/2006/relationships/image" Target="../media/image60.png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odingscape.com/blog/rag-101-what-is-rag-and-why-does-it-matter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ercity.ai/blog-post/guide-to-integrating-tools-and-apis-with-language-models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ub.towardsai.net/5-design-patterns-in-agentic-ai-workflow-c972c83f77e4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1" name="Rectangle 6150">
            <a:extLst>
              <a:ext uri="{FF2B5EF4-FFF2-40B4-BE49-F238E27FC236}">
                <a16:creationId xmlns:a16="http://schemas.microsoft.com/office/drawing/2014/main" id="{362D44EE-C852-4460-B8B5-C4F2BC205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21CF30-D3C0-4708-9510-74AEDF0605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4716" y="739978"/>
            <a:ext cx="5334930" cy="3004145"/>
          </a:xfrm>
        </p:spPr>
        <p:txBody>
          <a:bodyPr>
            <a:normAutofit/>
          </a:bodyPr>
          <a:lstStyle/>
          <a:p>
            <a:r>
              <a:rPr lang="en-US" sz="5600" dirty="0"/>
              <a:t>Large Language Models in AI</a:t>
            </a:r>
            <a:br>
              <a:rPr lang="en-US" sz="5600" dirty="0"/>
            </a:br>
            <a:br>
              <a:rPr lang="en-US" sz="5600" dirty="0"/>
            </a:br>
            <a:r>
              <a:rPr lang="en-US" sz="4000" dirty="0"/>
              <a:t>A Quick Overview</a:t>
            </a:r>
            <a:endParaRPr lang="en-US" sz="5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43BF45-B5B0-CA61-0415-BAE832328D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4715" y="3836197"/>
            <a:ext cx="5334931" cy="2189214"/>
          </a:xfrm>
        </p:spPr>
        <p:txBody>
          <a:bodyPr>
            <a:normAutofit/>
          </a:bodyPr>
          <a:lstStyle/>
          <a:p>
            <a:r>
              <a:rPr lang="en-US" dirty="0"/>
              <a:t>Michael Hahsler</a:t>
            </a:r>
          </a:p>
        </p:txBody>
      </p:sp>
      <p:sp>
        <p:nvSpPr>
          <p:cNvPr id="6153" name="Freeform: Shape 6152">
            <a:extLst>
              <a:ext uri="{FF2B5EF4-FFF2-40B4-BE49-F238E27FC236}">
                <a16:creationId xmlns:a16="http://schemas.microsoft.com/office/drawing/2014/main" id="{658970D8-8D1D-4B5C-894B-E871CC865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155" name="Freeform: Shape 6154">
            <a:extLst>
              <a:ext uri="{FF2B5EF4-FFF2-40B4-BE49-F238E27FC236}">
                <a16:creationId xmlns:a16="http://schemas.microsoft.com/office/drawing/2014/main" id="{F227E5B6-9132-43CA-B503-37A18562A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49052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157" name="Freeform: Shape 6156">
            <a:extLst>
              <a:ext uri="{FF2B5EF4-FFF2-40B4-BE49-F238E27FC236}">
                <a16:creationId xmlns:a16="http://schemas.microsoft.com/office/drawing/2014/main" id="{03C2051E-A88D-48E5-BACF-AAED1789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159" name="Freeform: Shape 6158">
            <a:extLst>
              <a:ext uri="{FF2B5EF4-FFF2-40B4-BE49-F238E27FC236}">
                <a16:creationId xmlns:a16="http://schemas.microsoft.com/office/drawing/2014/main" id="{7821A508-2985-4905-874A-527429BA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161" name="Freeform: Shape 6160">
            <a:extLst>
              <a:ext uri="{FF2B5EF4-FFF2-40B4-BE49-F238E27FC236}">
                <a16:creationId xmlns:a16="http://schemas.microsoft.com/office/drawing/2014/main" id="{D2929CB1-0E3C-4B2D-ADC5-0154FB33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697761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6146" name="Picture 2" descr="Generated image">
            <a:extLst>
              <a:ext uri="{FF2B5EF4-FFF2-40B4-BE49-F238E27FC236}">
                <a16:creationId xmlns:a16="http://schemas.microsoft.com/office/drawing/2014/main" id="{98EBD320-9526-EE53-EE65-F6CE90BA3F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3"/>
          <a:stretch>
            <a:fillRect/>
          </a:stretch>
        </p:blipFill>
        <p:spPr bwMode="auto">
          <a:xfrm>
            <a:off x="631840" y="59872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63" name="Freeform: Shape 6162">
            <a:extLst>
              <a:ext uri="{FF2B5EF4-FFF2-40B4-BE49-F238E27FC236}">
                <a16:creationId xmlns:a16="http://schemas.microsoft.com/office/drawing/2014/main" id="{5F2F0C84-BE8C-4DC2-A6D3-30349A80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20513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7699D8E-D1D9-AB62-011A-F01233A3D365}"/>
              </a:ext>
            </a:extLst>
          </p:cNvPr>
          <p:cNvGrpSpPr/>
          <p:nvPr/>
        </p:nvGrpSpPr>
        <p:grpSpPr>
          <a:xfrm>
            <a:off x="331177" y="6241010"/>
            <a:ext cx="3907906" cy="430887"/>
            <a:chOff x="328815" y="6324600"/>
            <a:chExt cx="3907906" cy="4308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795A5CC-9DBF-D632-60D7-9E3408B7D0DD}"/>
                </a:ext>
              </a:extLst>
            </p:cNvPr>
            <p:cNvSpPr txBox="1"/>
            <p:nvPr/>
          </p:nvSpPr>
          <p:spPr>
            <a:xfrm>
              <a:off x="1219200" y="6324600"/>
              <a:ext cx="3017521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0" i="0" dirty="0">
                  <a:effectLst/>
                  <a:latin typeface="Calibri" panose="020F0502020204030204" pitchFamily="34" charset="0"/>
                </a:rPr>
                <a:t>This work is licensed under a </a:t>
              </a:r>
              <a:r>
                <a:rPr lang="en-US" sz="1100" b="0" i="0" strike="noStrike" dirty="0">
                  <a:effectLst/>
                  <a:latin typeface="Calibri" panose="020F0502020204030204" pitchFamily="34" charset="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Creative Commons Attribution-</a:t>
              </a:r>
              <a:r>
                <a:rPr lang="en-US" sz="1100" b="0" i="0" strike="noStrike" dirty="0" err="1">
                  <a:effectLst/>
                  <a:latin typeface="Calibri" panose="020F0502020204030204" pitchFamily="34" charset="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ShareAlike</a:t>
              </a:r>
              <a:r>
                <a:rPr lang="en-US" sz="1100" b="0" i="0" strike="noStrike" dirty="0">
                  <a:effectLst/>
                  <a:latin typeface="Calibri" panose="020F0502020204030204" pitchFamily="34" charset="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 4.0 International License</a:t>
              </a:r>
              <a:r>
                <a:rPr lang="en-US" sz="1100" b="0" i="0" dirty="0">
                  <a:effectLst/>
                  <a:latin typeface="Calibri" panose="020F0502020204030204" pitchFamily="34" charset="0"/>
                </a:rPr>
                <a:t>.</a:t>
              </a:r>
              <a:endParaRPr lang="en-US" sz="1100" dirty="0"/>
            </a:p>
          </p:txBody>
        </p:sp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AA67B341-BD8F-947F-8EDF-E838830CC0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8815" y="6396460"/>
              <a:ext cx="888838" cy="3110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8E1C6AC-A4EC-3B5D-0EF2-4F4F4517B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651171" y="5134418"/>
            <a:ext cx="1209652" cy="1440289"/>
            <a:chOff x="7162800" y="4191000"/>
            <a:chExt cx="1676400" cy="19812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9DD43D1-C3A5-4C24-65EC-B12A7F838B90}"/>
                </a:ext>
              </a:extLst>
            </p:cNvPr>
            <p:cNvSpPr/>
            <p:nvPr/>
          </p:nvSpPr>
          <p:spPr>
            <a:xfrm>
              <a:off x="7162800" y="4191000"/>
              <a:ext cx="1676400" cy="1981200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 descr="A qr code with black dots&#10;&#10;Description automatically generated">
              <a:extLst>
                <a:ext uri="{FF2B5EF4-FFF2-40B4-BE49-F238E27FC236}">
                  <a16:creationId xmlns:a16="http://schemas.microsoft.com/office/drawing/2014/main" id="{46961BC6-AA6B-2A59-D9BF-4FC6D4C5DF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84684" y="4213372"/>
              <a:ext cx="1632631" cy="1632630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1C863D-B6A8-D2D1-D952-511A07BAC193}"/>
                </a:ext>
              </a:extLst>
            </p:cNvPr>
            <p:cNvSpPr/>
            <p:nvPr/>
          </p:nvSpPr>
          <p:spPr>
            <a:xfrm>
              <a:off x="7162800" y="5812970"/>
              <a:ext cx="1664628" cy="359230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Online Material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59007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CDFAD8B-23D0-075A-F5B7-9F03B16C7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936" y="334644"/>
            <a:ext cx="7882128" cy="107691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500" dirty="0"/>
              <a:t>Example Conversation With a </a:t>
            </a:r>
            <a:br>
              <a:rPr lang="en-US" sz="3500" dirty="0"/>
            </a:br>
            <a:r>
              <a:rPr lang="en-US" sz="3500" dirty="0"/>
              <a:t>Large Language Model (LLM)</a:t>
            </a:r>
          </a:p>
        </p:txBody>
      </p:sp>
      <p:pic>
        <p:nvPicPr>
          <p:cNvPr id="5" name="Content Placeholder 4" descr="A conversation with ChatGPT about helping with homwork.">
            <a:extLst>
              <a:ext uri="{FF2B5EF4-FFF2-40B4-BE49-F238E27FC236}">
                <a16:creationId xmlns:a16="http://schemas.microsoft.com/office/drawing/2014/main" id="{DDE0DF8D-9589-133F-308C-71BE1080A7F2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3372" y="1737361"/>
            <a:ext cx="6013501" cy="4250339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5012055-8E42-642E-D4EA-190E3B5DD662}"/>
              </a:ext>
            </a:extLst>
          </p:cNvPr>
          <p:cNvSpPr txBox="1"/>
          <p:nvPr/>
        </p:nvSpPr>
        <p:spPr>
          <a:xfrm>
            <a:off x="4295069" y="5660778"/>
            <a:ext cx="834554" cy="402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68096">
              <a:spcAft>
                <a:spcPts val="600"/>
              </a:spcAft>
            </a:pPr>
            <a:r>
              <a:rPr lang="en-US" sz="2016"/>
              <a:t>…</a:t>
            </a:r>
            <a:endParaRPr lang="en-US" sz="2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858E27-976D-88FE-940C-02BFA855B1F2}"/>
              </a:ext>
            </a:extLst>
          </p:cNvPr>
          <p:cNvSpPr txBox="1"/>
          <p:nvPr/>
        </p:nvSpPr>
        <p:spPr>
          <a:xfrm>
            <a:off x="6349356" y="6013490"/>
            <a:ext cx="3402414" cy="2732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68096">
              <a:spcAft>
                <a:spcPts val="600"/>
              </a:spcAft>
            </a:pPr>
            <a:r>
              <a:rPr lang="en-US" sz="1176"/>
              <a:t>Source: </a:t>
            </a:r>
            <a:r>
              <a:rPr lang="en-US" sz="1176">
                <a:hlinkClick r:id="rId3"/>
              </a:rPr>
              <a:t>https://chat.openai.com/</a:t>
            </a:r>
            <a:r>
              <a:rPr lang="en-US" sz="1176"/>
              <a:t> </a:t>
            </a:r>
            <a:endParaRPr lang="en-US" sz="1400"/>
          </a:p>
        </p:txBody>
      </p:sp>
      <p:sp>
        <p:nvSpPr>
          <p:cNvPr id="2" name="Right Brace 1">
            <a:extLst>
              <a:ext uri="{FF2B5EF4-FFF2-40B4-BE49-F238E27FC236}">
                <a16:creationId xmlns:a16="http://schemas.microsoft.com/office/drawing/2014/main" id="{9DFBAD7D-77A1-6AFF-0C81-2651AFAE54AF}"/>
              </a:ext>
            </a:extLst>
          </p:cNvPr>
          <p:cNvSpPr/>
          <p:nvPr/>
        </p:nvSpPr>
        <p:spPr>
          <a:xfrm>
            <a:off x="8648409" y="3783243"/>
            <a:ext cx="495591" cy="2142907"/>
          </a:xfrm>
          <a:prstGeom prst="rightBrac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0E5D93-7548-9ED3-6254-6F28AA677C1A}"/>
              </a:ext>
            </a:extLst>
          </p:cNvPr>
          <p:cNvSpPr txBox="1"/>
          <p:nvPr/>
        </p:nvSpPr>
        <p:spPr>
          <a:xfrm>
            <a:off x="9381325" y="4200102"/>
            <a:ext cx="1891622" cy="120032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This knowledge has to come from somewhere!</a:t>
            </a:r>
          </a:p>
        </p:txBody>
      </p:sp>
    </p:spTree>
    <p:extLst>
      <p:ext uri="{BB962C8B-B14F-4D97-AF65-F5344CB8AC3E}">
        <p14:creationId xmlns:p14="http://schemas.microsoft.com/office/powerpoint/2010/main" val="955156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9C578-9625-44B8-AF64-9CEF42283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365127"/>
            <a:ext cx="8153400" cy="558076"/>
          </a:xfrm>
        </p:spPr>
        <p:txBody>
          <a:bodyPr>
            <a:normAutofit/>
          </a:bodyPr>
          <a:lstStyle/>
          <a:p>
            <a:r>
              <a:rPr lang="en-US" sz="2800" dirty="0"/>
              <a:t>Using Natural Language for Knowledge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65D05-68B7-4A70-8C8D-AFBC2F08B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2650" y="4918847"/>
            <a:ext cx="7886700" cy="1612921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The user formulates a question about the real world as a natural language </a:t>
            </a:r>
            <a:r>
              <a:rPr lang="en-US" b="1" dirty="0"/>
              <a:t>prompt</a:t>
            </a:r>
            <a:r>
              <a:rPr lang="en-US" dirty="0"/>
              <a:t> (a sequence of tokens).</a:t>
            </a:r>
          </a:p>
          <a:p>
            <a:r>
              <a:rPr lang="en-US" dirty="0"/>
              <a:t>The LLM </a:t>
            </a:r>
            <a:r>
              <a:rPr lang="en-US" b="1" dirty="0"/>
              <a:t>generates text </a:t>
            </a:r>
            <a:r>
              <a:rPr lang="en-US" dirty="0"/>
              <a:t>using a pretrained model that represents its knowledge base.</a:t>
            </a:r>
          </a:p>
          <a:p>
            <a:r>
              <a:rPr lang="en-US" dirty="0"/>
              <a:t>The text (hopefully) is useful in the real world. The </a:t>
            </a:r>
            <a:r>
              <a:rPr lang="en-US" b="1" dirty="0"/>
              <a:t>objective function </a:t>
            </a:r>
            <a:r>
              <a:rPr lang="en-US" dirty="0"/>
              <a:t>is not clear. Maybe it is implied in the prompt?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7855321-8D1D-90A5-586C-7D82C0312A11}"/>
              </a:ext>
            </a:extLst>
          </p:cNvPr>
          <p:cNvGrpSpPr/>
          <p:nvPr/>
        </p:nvGrpSpPr>
        <p:grpSpPr>
          <a:xfrm>
            <a:off x="1828800" y="1105360"/>
            <a:ext cx="8458200" cy="3813486"/>
            <a:chOff x="304800" y="1105360"/>
            <a:chExt cx="8458200" cy="3813486"/>
          </a:xfrm>
        </p:grpSpPr>
        <p:grpSp>
          <p:nvGrpSpPr>
            <p:cNvPr id="5" name="Group 4" descr="A diagram showing how LLMs fit the structure knowledge representation used by knowledge-based agents.">
              <a:extLst>
                <a:ext uri="{FF2B5EF4-FFF2-40B4-BE49-F238E27FC236}">
                  <a16:creationId xmlns:a16="http://schemas.microsoft.com/office/drawing/2014/main" id="{B266BC1B-424E-E5E2-C00B-C85CCB7C6F6F}"/>
                </a:ext>
              </a:extLst>
            </p:cNvPr>
            <p:cNvGrpSpPr/>
            <p:nvPr/>
          </p:nvGrpSpPr>
          <p:grpSpPr>
            <a:xfrm>
              <a:off x="304800" y="1105360"/>
              <a:ext cx="8458200" cy="3813486"/>
              <a:chOff x="304800" y="1105360"/>
              <a:chExt cx="8458200" cy="3813486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9BF91B6D-86A1-4EC3-86B7-31180718A5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04800" y="2020164"/>
                <a:ext cx="8458200" cy="2792908"/>
              </a:xfrm>
              <a:prstGeom prst="rect">
                <a:avLst/>
              </a:prstGeom>
            </p:spPr>
          </p:pic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87C76E13-1940-4A02-9752-8E2F6CD8EAE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500792" y="2562548"/>
                <a:ext cx="0" cy="36611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14" name="Flowchart: Multidocument 13">
                <a:extLst>
                  <a:ext uri="{FF2B5EF4-FFF2-40B4-BE49-F238E27FC236}">
                    <a16:creationId xmlns:a16="http://schemas.microsoft.com/office/drawing/2014/main" id="{587D664C-62DD-B249-E25E-723233B2179A}"/>
                  </a:ext>
                </a:extLst>
              </p:cNvPr>
              <p:cNvSpPr/>
              <p:nvPr/>
            </p:nvSpPr>
            <p:spPr>
              <a:xfrm>
                <a:off x="2929292" y="3039254"/>
                <a:ext cx="1143000" cy="610191"/>
              </a:xfrm>
              <a:prstGeom prst="flowChartMultidocumen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Prompts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C7D32E6D-586F-B355-E331-F1089D35FED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516704" y="3649445"/>
                <a:ext cx="0" cy="36611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17" name="Flowchart: Multidocument 16">
                <a:extLst>
                  <a:ext uri="{FF2B5EF4-FFF2-40B4-BE49-F238E27FC236}">
                    <a16:creationId xmlns:a16="http://schemas.microsoft.com/office/drawing/2014/main" id="{D4139DBB-ACD7-C8DA-CB8D-D19E855EB49C}"/>
                  </a:ext>
                </a:extLst>
              </p:cNvPr>
              <p:cNvSpPr/>
              <p:nvPr/>
            </p:nvSpPr>
            <p:spPr>
              <a:xfrm>
                <a:off x="5861235" y="2857772"/>
                <a:ext cx="1143000" cy="903574"/>
              </a:xfrm>
              <a:prstGeom prst="flowChartMultidocumen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Text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97A8A1B-AF90-62D1-5F1B-1F50136C3B7C}"/>
                  </a:ext>
                </a:extLst>
              </p:cNvPr>
              <p:cNvSpPr txBox="1"/>
              <p:nvPr/>
            </p:nvSpPr>
            <p:spPr>
              <a:xfrm>
                <a:off x="4136197" y="2606150"/>
                <a:ext cx="12700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accent2"/>
                    </a:solidFill>
                  </a:rPr>
                  <a:t>Generates</a:t>
                </a:r>
              </a:p>
            </p:txBody>
          </p: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CE970966-C578-FE62-E5B4-343595585F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77000" y="3696493"/>
                <a:ext cx="0" cy="38989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9649024D-198D-0681-81BD-6BE64DAD75A7}"/>
                  </a:ext>
                </a:extLst>
              </p:cNvPr>
              <p:cNvGrpSpPr/>
              <p:nvPr/>
            </p:nvGrpSpPr>
            <p:grpSpPr>
              <a:xfrm>
                <a:off x="4136197" y="2400536"/>
                <a:ext cx="1224990" cy="305455"/>
                <a:chOff x="5867400" y="1524000"/>
                <a:chExt cx="936306" cy="566145"/>
              </a:xfrm>
            </p:grpSpPr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3C19A48D-5C1C-807E-C6A8-7757A8BA99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67400" y="1528600"/>
                  <a:ext cx="936306" cy="545017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F6DBA013-DF20-0788-AE43-DE9F383864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901955" y="1524000"/>
                  <a:ext cx="901751" cy="566145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" name="Flowchart: Magnetic Disk 5">
                <a:extLst>
                  <a:ext uri="{FF2B5EF4-FFF2-40B4-BE49-F238E27FC236}">
                    <a16:creationId xmlns:a16="http://schemas.microsoft.com/office/drawing/2014/main" id="{3C351FF7-F61B-1563-9441-F70A4B3FD7C1}"/>
                  </a:ext>
                </a:extLst>
              </p:cNvPr>
              <p:cNvSpPr/>
              <p:nvPr/>
            </p:nvSpPr>
            <p:spPr>
              <a:xfrm>
                <a:off x="964414" y="2190097"/>
                <a:ext cx="757533" cy="533400"/>
              </a:xfrm>
              <a:prstGeom prst="flowChartMagneticDisk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KB</a:t>
                </a:r>
              </a:p>
            </p:txBody>
          </p: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B61D950E-E7EF-DC8A-C21E-B0E434EC17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77000" y="2514600"/>
                <a:ext cx="10391" cy="29439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84CB2650-18BF-5E77-72FF-746A963C41EB}"/>
                  </a:ext>
                </a:extLst>
              </p:cNvPr>
              <p:cNvGrpSpPr/>
              <p:nvPr/>
            </p:nvGrpSpPr>
            <p:grpSpPr>
              <a:xfrm>
                <a:off x="4072292" y="4334377"/>
                <a:ext cx="1224990" cy="305455"/>
                <a:chOff x="5867400" y="1524000"/>
                <a:chExt cx="936306" cy="566145"/>
              </a:xfrm>
            </p:grpSpPr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5DB55F67-8628-B3C2-DD28-003667B6C6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67400" y="1528600"/>
                  <a:ext cx="936306" cy="545017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0B43803D-A81E-4123-00F0-7D67D1A0CA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901955" y="1524000"/>
                  <a:ext cx="901751" cy="566145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C9567E1-1F33-CD80-A6FF-2B7E24C4BB52}"/>
                  </a:ext>
                </a:extLst>
              </p:cNvPr>
              <p:cNvSpPr txBox="1"/>
              <p:nvPr/>
            </p:nvSpPr>
            <p:spPr>
              <a:xfrm>
                <a:off x="4278703" y="4549514"/>
                <a:ext cx="9918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accent2"/>
                    </a:solidFill>
                  </a:rPr>
                  <a:t>Useful?</a:t>
                </a:r>
              </a:p>
            </p:txBody>
          </p:sp>
          <p:sp>
            <p:nvSpPr>
              <p:cNvPr id="32" name="Speech Bubble: Rectangle with Corners Rounded 31">
                <a:extLst>
                  <a:ext uri="{FF2B5EF4-FFF2-40B4-BE49-F238E27FC236}">
                    <a16:creationId xmlns:a16="http://schemas.microsoft.com/office/drawing/2014/main" id="{3B77A4D0-1B69-8099-AA4C-9EE2F0618A4C}"/>
                  </a:ext>
                </a:extLst>
              </p:cNvPr>
              <p:cNvSpPr/>
              <p:nvPr/>
            </p:nvSpPr>
            <p:spPr>
              <a:xfrm>
                <a:off x="762000" y="1105360"/>
                <a:ext cx="3810000" cy="936173"/>
              </a:xfrm>
              <a:prstGeom prst="wedgeRoundRectCallout">
                <a:avLst>
                  <a:gd name="adj1" fmla="val -36361"/>
                  <a:gd name="adj2" fmla="val 75333"/>
                  <a:gd name="adj3" fmla="val 16667"/>
                </a:avLst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Pretrained model knows words relationship, grammar, and facts stored as parameters in a network.</a:t>
                </a:r>
              </a:p>
            </p:txBody>
          </p:sp>
        </p:grp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26C09F6-1C95-E0CD-22D8-7F75C715994B}"/>
                </a:ext>
              </a:extLst>
            </p:cNvPr>
            <p:cNvCxnSpPr>
              <a:cxnSpLocks/>
            </p:cNvCxnSpPr>
            <p:nvPr/>
          </p:nvCxnSpPr>
          <p:spPr>
            <a:xfrm>
              <a:off x="3969223" y="2286000"/>
              <a:ext cx="1804182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2" name="Callout: Line 11">
            <a:extLst>
              <a:ext uri="{FF2B5EF4-FFF2-40B4-BE49-F238E27FC236}">
                <a16:creationId xmlns:a16="http://schemas.microsoft.com/office/drawing/2014/main" id="{3B9826D5-DE6B-1048-5906-6CE912E7E20E}"/>
              </a:ext>
            </a:extLst>
          </p:cNvPr>
          <p:cNvSpPr/>
          <p:nvPr/>
        </p:nvSpPr>
        <p:spPr>
          <a:xfrm>
            <a:off x="9341015" y="971980"/>
            <a:ext cx="2036634" cy="866027"/>
          </a:xfrm>
          <a:prstGeom prst="borderCallout1">
            <a:avLst>
              <a:gd name="adj1" fmla="val 18750"/>
              <a:gd name="adj2" fmla="val -8333"/>
              <a:gd name="adj3" fmla="val 173756"/>
              <a:gd name="adj4" fmla="val -2907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Modified version of knowledge represented using logic.</a:t>
            </a:r>
          </a:p>
        </p:txBody>
      </p:sp>
    </p:spTree>
    <p:extLst>
      <p:ext uri="{BB962C8B-B14F-4D97-AF65-F5344CB8AC3E}">
        <p14:creationId xmlns:p14="http://schemas.microsoft.com/office/powerpoint/2010/main" val="3148554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A0B0C-8C88-A326-0005-27E45A05C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LLMs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030C7-EEBD-36D9-F88D-79F8CB222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95702" cy="4351338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Large language models are </a:t>
            </a:r>
            <a:r>
              <a:rPr lang="en-US" b="1" dirty="0"/>
              <a:t>knowledge-based agents</a:t>
            </a:r>
            <a:r>
              <a:rPr lang="en-US" dirty="0"/>
              <a:t>.</a:t>
            </a:r>
          </a:p>
          <a:p>
            <a:r>
              <a:rPr lang="en-US" dirty="0"/>
              <a:t>The knowledge base is a large, deep artificial neural network using the </a:t>
            </a:r>
            <a:r>
              <a:rPr lang="en-US" b="1" dirty="0"/>
              <a:t>transformer architecture</a:t>
            </a:r>
            <a:r>
              <a:rPr lang="en-US" dirty="0"/>
              <a:t>.</a:t>
            </a:r>
          </a:p>
          <a:p>
            <a:r>
              <a:rPr lang="en-US" dirty="0"/>
              <a:t>The model is </a:t>
            </a:r>
            <a:r>
              <a:rPr lang="en-US" b="1" dirty="0"/>
              <a:t>pretrained</a:t>
            </a:r>
            <a:r>
              <a:rPr lang="en-US" dirty="0"/>
              <a:t> for the task of predicting the next word using self-supervised learning on a large text corpus.</a:t>
            </a:r>
          </a:p>
          <a:p>
            <a:r>
              <a:rPr lang="en-US" dirty="0"/>
              <a:t>The pretrained model is specialized for a specific task using </a:t>
            </a:r>
            <a:r>
              <a:rPr lang="en-US" b="1" dirty="0"/>
              <a:t>fine-tuning </a:t>
            </a:r>
            <a:r>
              <a:rPr lang="en-US" dirty="0"/>
              <a:t>on examples. For chatbots, this includes</a:t>
            </a:r>
          </a:p>
          <a:p>
            <a:pPr lvl="1"/>
            <a:r>
              <a:rPr lang="en-US" dirty="0"/>
              <a:t>supervised instruction training followed by </a:t>
            </a:r>
          </a:p>
          <a:p>
            <a:pPr lvl="1"/>
            <a:r>
              <a:rPr lang="en-US" dirty="0"/>
              <a:t>reinforcement learning from human feedback (RLHF).</a:t>
            </a:r>
          </a:p>
          <a:p>
            <a:r>
              <a:rPr lang="en-US" dirty="0"/>
              <a:t>The model can generate text following a “</a:t>
            </a:r>
            <a:r>
              <a:rPr lang="en-US" b="1" dirty="0"/>
              <a:t>prompt</a:t>
            </a:r>
            <a:r>
              <a:rPr lang="en-US" dirty="0"/>
              <a:t>.”</a:t>
            </a:r>
          </a:p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A5E9B1-B9E3-2281-2617-F9501FC4074B}"/>
              </a:ext>
            </a:extLst>
          </p:cNvPr>
          <p:cNvSpPr txBox="1"/>
          <p:nvPr/>
        </p:nvSpPr>
        <p:spPr>
          <a:xfrm>
            <a:off x="6707045" y="5665404"/>
            <a:ext cx="4570778" cy="584775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Pretrained models can be downloaded from </a:t>
            </a:r>
            <a:br>
              <a:rPr lang="en-US" sz="1600" dirty="0"/>
            </a:br>
            <a:r>
              <a:rPr lang="en-US" sz="1600" dirty="0"/>
              <a:t>Hugging Face: </a:t>
            </a:r>
            <a:r>
              <a:rPr lang="en-US" sz="1600" dirty="0">
                <a:hlinkClick r:id="rId2"/>
              </a:rPr>
              <a:t>https://huggingface.co/models</a:t>
            </a:r>
            <a:r>
              <a:rPr lang="en-US" sz="1600" dirty="0"/>
              <a:t> 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F5E9DC1-3194-820E-AFED-41E003397F77}"/>
              </a:ext>
            </a:extLst>
          </p:cNvPr>
          <p:cNvGrpSpPr/>
          <p:nvPr/>
        </p:nvGrpSpPr>
        <p:grpSpPr>
          <a:xfrm>
            <a:off x="6193393" y="1825625"/>
            <a:ext cx="5598083" cy="2792061"/>
            <a:chOff x="6184415" y="307127"/>
            <a:chExt cx="5598083" cy="279206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A1E30F4-E7A2-2D6F-68AD-8FCC1355D5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6397232" y="389014"/>
              <a:ext cx="5310676" cy="2233067"/>
              <a:chOff x="721548" y="1293003"/>
              <a:chExt cx="9322045" cy="2440797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37B166E-6650-5C7E-6475-982052BE6823}"/>
                  </a:ext>
                </a:extLst>
              </p:cNvPr>
              <p:cNvSpPr/>
              <p:nvPr/>
            </p:nvSpPr>
            <p:spPr bwMode="auto">
              <a:xfrm>
                <a:off x="838200" y="3200400"/>
                <a:ext cx="2667000" cy="53340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200" dirty="0"/>
                  <a:t>Text Generator</a:t>
                </a:r>
              </a:p>
            </p:txBody>
          </p:sp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4EB4A527-E206-ED61-B3CD-4DDE80C6039C}"/>
                  </a:ext>
                </a:extLst>
              </p:cNvPr>
              <p:cNvCxnSpPr/>
              <p:nvPr/>
            </p:nvCxnSpPr>
            <p:spPr bwMode="auto">
              <a:xfrm>
                <a:off x="3733800" y="3427412"/>
                <a:ext cx="1447800" cy="158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5E9069E-79EE-024A-5D98-E6B639242A35}"/>
                  </a:ext>
                </a:extLst>
              </p:cNvPr>
              <p:cNvSpPr/>
              <p:nvPr/>
            </p:nvSpPr>
            <p:spPr>
              <a:xfrm>
                <a:off x="5098576" y="3296153"/>
                <a:ext cx="4037878" cy="2859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100" b="1" dirty="0">
                    <a:solidFill>
                      <a:schemeClr val="accent2"/>
                    </a:solidFill>
                  </a:rPr>
                  <a:t>Domain-independent algorithms</a:t>
                </a:r>
              </a:p>
            </p:txBody>
          </p: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D29FEEFB-C953-971D-4C28-1FC450C13BE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3695701" y="2754478"/>
                <a:ext cx="979810" cy="433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2C69019-DFE1-8C4D-BE7D-F157310CB670}"/>
                  </a:ext>
                </a:extLst>
              </p:cNvPr>
              <p:cNvSpPr/>
              <p:nvPr/>
            </p:nvSpPr>
            <p:spPr>
              <a:xfrm>
                <a:off x="5592146" y="2841273"/>
                <a:ext cx="4151686" cy="2775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050" b="0" dirty="0"/>
                  <a:t>Domain-specific content </a:t>
                </a:r>
                <a:r>
                  <a:rPr lang="en-US" sz="1050" dirty="0"/>
                  <a:t>(fine tuning)</a:t>
                </a:r>
              </a:p>
            </p:txBody>
          </p:sp>
          <p:sp>
            <p:nvSpPr>
              <p:cNvPr id="10" name="Cylinder 9">
                <a:extLst>
                  <a:ext uri="{FF2B5EF4-FFF2-40B4-BE49-F238E27FC236}">
                    <a16:creationId xmlns:a16="http://schemas.microsoft.com/office/drawing/2014/main" id="{82A32D59-CB64-0336-B845-565DFD77707B}"/>
                  </a:ext>
                </a:extLst>
              </p:cNvPr>
              <p:cNvSpPr/>
              <p:nvPr/>
            </p:nvSpPr>
            <p:spPr>
              <a:xfrm>
                <a:off x="1215794" y="2267103"/>
                <a:ext cx="1780185" cy="1014123"/>
              </a:xfrm>
              <a:prstGeom prst="can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dirty="0"/>
                  <a:t>Knowledge base</a:t>
                </a:r>
                <a:endParaRPr lang="en-US" sz="1200" b="1" dirty="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8F2C718-0081-8C9B-EA31-A3FE5D924D7B}"/>
                  </a:ext>
                </a:extLst>
              </p:cNvPr>
              <p:cNvSpPr txBox="1"/>
              <p:nvPr/>
            </p:nvSpPr>
            <p:spPr>
              <a:xfrm>
                <a:off x="5098576" y="2463942"/>
                <a:ext cx="4945017" cy="2775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b="1" dirty="0">
                    <a:solidFill>
                      <a:schemeClr val="accent2"/>
                    </a:solidFill>
                  </a:rPr>
                  <a:t>Domain-independent content </a:t>
                </a:r>
                <a:r>
                  <a:rPr lang="en-US" sz="1050" dirty="0"/>
                  <a:t>(pre-training)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D7EAD63-2473-E433-9FDB-7ACB2C977FB9}"/>
                  </a:ext>
                </a:extLst>
              </p:cNvPr>
              <p:cNvSpPr txBox="1"/>
              <p:nvPr/>
            </p:nvSpPr>
            <p:spPr>
              <a:xfrm>
                <a:off x="6936744" y="2612234"/>
                <a:ext cx="521236" cy="3700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/>
                  <a:t>+</a:t>
                </a:r>
              </a:p>
            </p:txBody>
          </p:sp>
          <p:sp>
            <p:nvSpPr>
              <p:cNvPr id="13" name="Speech Bubble: Rectangle with Corners Rounded 12">
                <a:extLst>
                  <a:ext uri="{FF2B5EF4-FFF2-40B4-BE49-F238E27FC236}">
                    <a16:creationId xmlns:a16="http://schemas.microsoft.com/office/drawing/2014/main" id="{7BB4B066-1E33-EB5C-EACF-172F43A7FE98}"/>
                  </a:ext>
                </a:extLst>
              </p:cNvPr>
              <p:cNvSpPr/>
              <p:nvPr/>
            </p:nvSpPr>
            <p:spPr>
              <a:xfrm>
                <a:off x="721548" y="1293003"/>
                <a:ext cx="5058154" cy="669640"/>
              </a:xfrm>
              <a:prstGeom prst="wedgeRoundRectCallout">
                <a:avLst>
                  <a:gd name="adj1" fmla="val -18704"/>
                  <a:gd name="adj2" fmla="val 114087"/>
                  <a:gd name="adj3" fmla="val 16667"/>
                </a:avLst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Learned word relationships, grammar, facts, and how to answer questions.</a:t>
                </a:r>
              </a:p>
            </p:txBody>
          </p:sp>
          <p:sp>
            <p:nvSpPr>
              <p:cNvPr id="14" name="Left Brace 13">
                <a:extLst>
                  <a:ext uri="{FF2B5EF4-FFF2-40B4-BE49-F238E27FC236}">
                    <a16:creationId xmlns:a16="http://schemas.microsoft.com/office/drawing/2014/main" id="{30BF9769-02A9-A9B4-5F1D-0FA3403D9665}"/>
                  </a:ext>
                </a:extLst>
              </p:cNvPr>
              <p:cNvSpPr/>
              <p:nvPr/>
            </p:nvSpPr>
            <p:spPr>
              <a:xfrm>
                <a:off x="4912276" y="2398637"/>
                <a:ext cx="108171" cy="711685"/>
              </a:xfrm>
              <a:prstGeom prst="leftBrac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C4078DD-28E2-B8AF-CA37-A203043042A2}"/>
                </a:ext>
              </a:extLst>
            </p:cNvPr>
            <p:cNvSpPr txBox="1"/>
            <p:nvPr/>
          </p:nvSpPr>
          <p:spPr>
            <a:xfrm>
              <a:off x="7612709" y="2709578"/>
              <a:ext cx="274184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LLM as a knowledge-based agent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1610E8B-7B14-5BBE-9586-6B148F7AD098}"/>
                </a:ext>
              </a:extLst>
            </p:cNvPr>
            <p:cNvSpPr/>
            <p:nvPr/>
          </p:nvSpPr>
          <p:spPr>
            <a:xfrm>
              <a:off x="6184415" y="307127"/>
              <a:ext cx="5598083" cy="2792061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60847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CFA10-D4CE-3C52-F4BD-BE3E73982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LLMs Understand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89801-C8CF-5519-CF41-BEDB62A10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46626" cy="4351338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LLMs can only compute with numbers!</a:t>
            </a:r>
          </a:p>
          <a:p>
            <a:endParaRPr lang="en-US" dirty="0"/>
          </a:p>
          <a:p>
            <a:r>
              <a:rPr lang="en-US" dirty="0"/>
              <a:t>Prompts are converted into numbers: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Tokenization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Text is converted into a sequence of tokens (ids). </a:t>
            </a:r>
          </a:p>
          <a:p>
            <a:pPr lvl="2"/>
            <a:r>
              <a:rPr lang="en-US" dirty="0"/>
              <a:t>Tokens represent words, parts of words, parts of numbers, etc.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Embedding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Tokes are converted to large vectors indicating a position in a high-dimensional space called the embedding space. </a:t>
            </a:r>
          </a:p>
          <a:p>
            <a:pPr lvl="2"/>
            <a:r>
              <a:rPr lang="en-US" dirty="0"/>
              <a:t>Positions in this space have meaning.</a:t>
            </a:r>
          </a:p>
          <a:p>
            <a:endParaRPr lang="en-US" dirty="0"/>
          </a:p>
          <a:p>
            <a:r>
              <a:rPr lang="en-US" dirty="0"/>
              <a:t>Computation is done by calculations (moving around) in the embedding space. </a:t>
            </a:r>
            <a:br>
              <a:rPr lang="en-US" dirty="0"/>
            </a:br>
            <a:endParaRPr lang="en-US" dirty="0"/>
          </a:p>
          <a:p>
            <a:r>
              <a:rPr lang="en-US" dirty="0"/>
              <a:t>New words are generated from resulting vectors by learning a function that maps vectors back to tokens.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F879D49-1DC0-9973-934B-90D098D317D3}"/>
              </a:ext>
            </a:extLst>
          </p:cNvPr>
          <p:cNvGrpSpPr/>
          <p:nvPr/>
        </p:nvGrpSpPr>
        <p:grpSpPr>
          <a:xfrm>
            <a:off x="8067207" y="2590123"/>
            <a:ext cx="3877456" cy="3166139"/>
            <a:chOff x="8112177" y="1825625"/>
            <a:chExt cx="3877456" cy="3166139"/>
          </a:xfrm>
        </p:grpSpPr>
        <p:pic>
          <p:nvPicPr>
            <p:cNvPr id="5122" name="Picture 2" descr="From Words to Vectors: Understanding Word2Vec in NLP">
              <a:extLst>
                <a:ext uri="{FF2B5EF4-FFF2-40B4-BE49-F238E27FC236}">
                  <a16:creationId xmlns:a16="http://schemas.microsoft.com/office/drawing/2014/main" id="{0639C443-65B5-49F3-F42E-9C72535161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12177" y="1825625"/>
              <a:ext cx="3877456" cy="29080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5933749-B8D1-DAE5-13EB-B07CB562E8F6}"/>
                </a:ext>
              </a:extLst>
            </p:cNvPr>
            <p:cNvSpPr txBox="1"/>
            <p:nvPr/>
          </p:nvSpPr>
          <p:spPr>
            <a:xfrm>
              <a:off x="8385287" y="4745543"/>
              <a:ext cx="333123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/>
                <a:t>Source: https://zilliz.com/glossary/word2vec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B3ABC39-3DB7-3F72-2BE3-A931C82B666E}"/>
              </a:ext>
            </a:extLst>
          </p:cNvPr>
          <p:cNvSpPr txBox="1"/>
          <p:nvPr/>
        </p:nvSpPr>
        <p:spPr>
          <a:xfrm>
            <a:off x="8094162" y="2128947"/>
            <a:ext cx="3877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Natural Language Processing (NLP)</a:t>
            </a:r>
          </a:p>
        </p:txBody>
      </p:sp>
    </p:spTree>
    <p:extLst>
      <p:ext uri="{BB962C8B-B14F-4D97-AF65-F5344CB8AC3E}">
        <p14:creationId xmlns:p14="http://schemas.microsoft.com/office/powerpoint/2010/main" val="3438995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914E1-7CB1-4F78-40CA-04C37EEF8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Prompts and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D4C67-94D4-7FEF-9DF3-14051AE05A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619395"/>
            <a:ext cx="5181600" cy="4557568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LLMs can only perform </a:t>
            </a:r>
            <a:r>
              <a:rPr lang="en-US" b="1" dirty="0"/>
              <a:t>next-token prediction</a:t>
            </a:r>
            <a:r>
              <a:rPr lang="en-US" dirty="0"/>
              <a:t>.</a:t>
            </a:r>
          </a:p>
          <a:p>
            <a:r>
              <a:rPr lang="en-US" dirty="0"/>
              <a:t>The most likely next word is predicted based on the </a:t>
            </a:r>
            <a:r>
              <a:rPr lang="en-US" b="1" dirty="0"/>
              <a:t>context</a:t>
            </a:r>
            <a:r>
              <a:rPr lang="en-US" dirty="0"/>
              <a:t>, which is the input window (percept) for the LLM.</a:t>
            </a:r>
          </a:p>
          <a:p>
            <a:r>
              <a:rPr lang="en-US" dirty="0"/>
              <a:t>The context is typically a combination of the 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b="1" dirty="0"/>
              <a:t>system prompt </a:t>
            </a:r>
            <a:r>
              <a:rPr lang="en-US" dirty="0"/>
              <a:t>(general instructions you often don’t see)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more </a:t>
            </a:r>
            <a:r>
              <a:rPr lang="en-US" b="1" dirty="0"/>
              <a:t>context information </a:t>
            </a:r>
            <a:r>
              <a:rPr lang="en-US" dirty="0"/>
              <a:t>(documents, additional information)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the </a:t>
            </a:r>
            <a:r>
              <a:rPr lang="en-US" b="1" dirty="0"/>
              <a:t>user prompt</a:t>
            </a:r>
          </a:p>
          <a:p>
            <a:endParaRPr lang="en-US" dirty="0"/>
          </a:p>
          <a:p>
            <a:r>
              <a:rPr lang="en-US" dirty="0"/>
              <a:t>The context window size is limited by the model, and the model “forgets” everything that drops out of the window.</a:t>
            </a:r>
          </a:p>
          <a:p>
            <a:r>
              <a:rPr lang="en-US" dirty="0"/>
              <a:t>The complete response is created </a:t>
            </a:r>
            <a:r>
              <a:rPr lang="en-US" b="1" dirty="0"/>
              <a:t>token-by-token</a:t>
            </a:r>
            <a:r>
              <a:rPr lang="en-US" dirty="0"/>
              <a:t> (</a:t>
            </a:r>
            <a:r>
              <a:rPr lang="en-US" dirty="0" err="1"/>
              <a:t>autoregessive</a:t>
            </a:r>
            <a:r>
              <a:rPr lang="en-US" dirty="0"/>
              <a:t> generation). LLMs may hallucinate by creating low-probability tokens, and autoregression will amplify this issue.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EF222D-0786-09E4-2592-89B81D51D8A8}"/>
              </a:ext>
            </a:extLst>
          </p:cNvPr>
          <p:cNvSpPr txBox="1"/>
          <p:nvPr/>
        </p:nvSpPr>
        <p:spPr>
          <a:xfrm>
            <a:off x="6172200" y="1456293"/>
            <a:ext cx="60971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Example Context: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5BB4FBC-73A9-EDC7-CF06-B5836CF88D63}"/>
              </a:ext>
            </a:extLst>
          </p:cNvPr>
          <p:cNvGrpSpPr/>
          <p:nvPr/>
        </p:nvGrpSpPr>
        <p:grpSpPr>
          <a:xfrm>
            <a:off x="6270504" y="963261"/>
            <a:ext cx="5695223" cy="4931478"/>
            <a:chOff x="6270504" y="963261"/>
            <a:chExt cx="5695223" cy="4931478"/>
          </a:xfrm>
        </p:grpSpPr>
        <p:sp>
          <p:nvSpPr>
            <p:cNvPr id="10" name="Content Placeholder 3">
              <a:extLst>
                <a:ext uri="{FF2B5EF4-FFF2-40B4-BE49-F238E27FC236}">
                  <a16:creationId xmlns:a16="http://schemas.microsoft.com/office/drawing/2014/main" id="{F421B963-3380-8002-7FFB-D5C589360877}"/>
                </a:ext>
              </a:extLst>
            </p:cNvPr>
            <p:cNvSpPr txBox="1">
              <a:spLocks/>
            </p:cNvSpPr>
            <p:nvPr/>
          </p:nvSpPr>
          <p:spPr>
            <a:xfrm>
              <a:off x="6270504" y="1846511"/>
              <a:ext cx="5181600" cy="234791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 fontScale="700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endParaRPr lang="en-US">
                <a:highlight>
                  <a:srgbClr val="FFFF00"/>
                </a:highlight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US">
                  <a:highlight>
                    <a:srgbClr val="FFFF00"/>
                  </a:highlight>
                </a:rPr>
                <a:t>You are a helpful assistant who answers user questions based on the following information.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US">
                  <a:highlight>
                    <a:srgbClr val="FF00FF"/>
                  </a:highlight>
                </a:rPr>
                <a:t>This week’s schedule: 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US">
                  <a:highlight>
                    <a:srgbClr val="FF00FF"/>
                  </a:highlight>
                </a:rPr>
                <a:t>Monday 10 AM – AI class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US">
                  <a:highlight>
                    <a:srgbClr val="FF00FF"/>
                  </a:highlight>
                </a:rPr>
                <a:t>Wednesday 12 AM – Data Mining class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US">
                  <a:highlight>
                    <a:srgbClr val="00FFFF"/>
                  </a:highlight>
                </a:rPr>
                <a:t>When do I need to go to the AI class?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US" dirty="0"/>
            </a:p>
          </p:txBody>
        </p:sp>
        <p:sp>
          <p:nvSpPr>
            <p:cNvPr id="7" name="Speech Bubble: Rectangle with Corners Rounded 6">
              <a:extLst>
                <a:ext uri="{FF2B5EF4-FFF2-40B4-BE49-F238E27FC236}">
                  <a16:creationId xmlns:a16="http://schemas.microsoft.com/office/drawing/2014/main" id="{ED4B900C-784B-A7F3-F374-63A4D4611B28}"/>
                </a:ext>
              </a:extLst>
            </p:cNvPr>
            <p:cNvSpPr/>
            <p:nvPr/>
          </p:nvSpPr>
          <p:spPr>
            <a:xfrm>
              <a:off x="8941576" y="963261"/>
              <a:ext cx="1472812" cy="551432"/>
            </a:xfrm>
            <a:prstGeom prst="wedgeRoundRectCallout">
              <a:avLst>
                <a:gd name="adj1" fmla="val -59222"/>
                <a:gd name="adj2" fmla="val 170095"/>
                <a:gd name="adj3" fmla="val 16667"/>
              </a:avLst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System Prompt</a:t>
              </a:r>
            </a:p>
          </p:txBody>
        </p:sp>
        <p:sp>
          <p:nvSpPr>
            <p:cNvPr id="8" name="Speech Bubble: Rectangle with Corners Rounded 7">
              <a:extLst>
                <a:ext uri="{FF2B5EF4-FFF2-40B4-BE49-F238E27FC236}">
                  <a16:creationId xmlns:a16="http://schemas.microsoft.com/office/drawing/2014/main" id="{2F2E38FD-08A6-B675-A002-4DFD43FF9CE4}"/>
                </a:ext>
              </a:extLst>
            </p:cNvPr>
            <p:cNvSpPr/>
            <p:nvPr/>
          </p:nvSpPr>
          <p:spPr>
            <a:xfrm>
              <a:off x="7586263" y="5343307"/>
              <a:ext cx="1472812" cy="551432"/>
            </a:xfrm>
            <a:prstGeom prst="wedgeRoundRectCallout">
              <a:avLst>
                <a:gd name="adj1" fmla="val -77705"/>
                <a:gd name="adj2" fmla="val -302057"/>
                <a:gd name="adj3" fmla="val 16667"/>
              </a:avLst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User Prompt</a:t>
              </a:r>
            </a:p>
          </p:txBody>
        </p:sp>
        <p:sp>
          <p:nvSpPr>
            <p:cNvPr id="9" name="Speech Bubble: Rectangle with Corners Rounded 8">
              <a:extLst>
                <a:ext uri="{FF2B5EF4-FFF2-40B4-BE49-F238E27FC236}">
                  <a16:creationId xmlns:a16="http://schemas.microsoft.com/office/drawing/2014/main" id="{DDE403AD-8974-A2FB-A1D3-26F2593C3CA4}"/>
                </a:ext>
              </a:extLst>
            </p:cNvPr>
            <p:cNvSpPr/>
            <p:nvPr/>
          </p:nvSpPr>
          <p:spPr>
            <a:xfrm>
              <a:off x="10107262" y="4496885"/>
              <a:ext cx="1858465" cy="1289662"/>
            </a:xfrm>
            <a:prstGeom prst="wedgeRoundRectCallout">
              <a:avLst>
                <a:gd name="adj1" fmla="val -31033"/>
                <a:gd name="adj2" fmla="val -121280"/>
                <a:gd name="adj3" fmla="val 16667"/>
              </a:avLst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Additional context (e.g., from a database)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61685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62B1B-94AA-843A-397B-76C5C8424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7563"/>
          </a:xfrm>
        </p:spPr>
        <p:txBody>
          <a:bodyPr>
            <a:normAutofit fontScale="90000"/>
          </a:bodyPr>
          <a:lstStyle/>
          <a:p>
            <a:r>
              <a:rPr lang="en-US" dirty="0"/>
              <a:t>How LLMs Predict the Next Word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966A8E-9F7B-AA53-4EBB-45CD72CD9A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0553"/>
                <a:ext cx="10515600" cy="4612657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sz="2000" b="1" dirty="0"/>
                  <a:t>Example: </a:t>
                </a:r>
                <a:r>
                  <a:rPr lang="en-US" sz="2000" dirty="0"/>
                  <a:t>“Tomorrow is a good”</a:t>
                </a:r>
              </a:p>
              <a:p>
                <a:endParaRPr lang="en-US" sz="2000" b="1" dirty="0"/>
              </a:p>
              <a:p>
                <a:r>
                  <a:rPr lang="en-US" sz="2000" b="1" dirty="0"/>
                  <a:t>Model</a:t>
                </a:r>
                <a:r>
                  <a:rPr lang="en-US" sz="2000" dirty="0"/>
                  <a:t>: The optimal MAP decision for the next word using the Bayes rule is</a:t>
                </a:r>
                <a:br>
                  <a:rPr lang="en-US" sz="20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argmax</m:t>
                        </m:r>
                      </m:e>
                      <m:sub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−1, 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−1, 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 …,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endParaRPr lang="en-US" sz="2000" b="1" dirty="0"/>
              </a:p>
              <a:p>
                <a:r>
                  <a:rPr lang="en-US" sz="2000" b="1" dirty="0"/>
                  <a:t>Learning/Estimation: </a:t>
                </a:r>
                <a:r>
                  <a:rPr lang="en-US" sz="2000" dirty="0"/>
                  <a:t>From a large amount of data “Tomorrow is a good [day].”</a:t>
                </a:r>
                <a:br>
                  <a:rPr lang="en-US" sz="2000" b="1" dirty="0"/>
                </a:b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br>
                  <a:rPr lang="en-US" sz="200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−1, 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 …,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br>
                  <a:rPr lang="en-US" sz="2000" dirty="0"/>
                </a:br>
                <a:endParaRPr lang="en-US" sz="2000" b="1" dirty="0"/>
              </a:p>
              <a:p>
                <a:r>
                  <a:rPr lang="en-US" sz="2000" b="1" dirty="0"/>
                  <a:t>Model size: </a:t>
                </a:r>
                <a:r>
                  <a:rPr lang="en-US" sz="2000" dirty="0"/>
                  <a:t>vocabulary size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000" dirty="0"/>
                  <a:t>, context length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b="1" dirty="0"/>
              </a:p>
              <a:p>
                <a:r>
                  <a:rPr lang="en-US" sz="2000" b="1" dirty="0"/>
                  <a:t>Example GPT 3</a:t>
                </a:r>
                <a:r>
                  <a:rPr lang="en-US" sz="2000" dirty="0"/>
                  <a:t>: </a:t>
                </a:r>
              </a:p>
              <a:p>
                <a:pPr lvl="1"/>
                <a:r>
                  <a:rPr lang="en-US" sz="1600" dirty="0"/>
                  <a:t>Naïve version: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 = 50,000, 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 = 2000</m:t>
                    </m:r>
                  </m:oMath>
                </a14:m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50000</m:t>
                            </m:r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2000</m:t>
                            </m:r>
                          </m:sup>
                        </m:sSup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9400</m:t>
                            </m:r>
                          </m:sup>
                        </m:sSup>
                      </m:e>
                    </m:d>
                  </m:oMath>
                </a14:m>
                <a:endParaRPr lang="en-US" sz="1600" b="0" dirty="0">
                  <a:ea typeface="Cambria Math" panose="02040503050406030204" pitchFamily="18" charset="0"/>
                </a:endParaRPr>
              </a:p>
              <a:p>
                <a:pPr lvl="1"/>
                <a:r>
                  <a:rPr lang="en-US" sz="1600" dirty="0"/>
                  <a:t>GPT 3 models </a:t>
                </a:r>
                <a14:m>
                  <m:oMath xmlns:m="http://schemas.openxmlformats.org/officeDocument/2006/math">
                    <m:r>
                      <a:rPr lang="en-US" sz="1600" b="1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600" dirty="0"/>
                  <a:t> with only 175 billion parameters (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600" dirty="0"/>
                  <a:t>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966A8E-9F7B-AA53-4EBB-45CD72CD9A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0553"/>
                <a:ext cx="10515600" cy="4612657"/>
              </a:xfrm>
              <a:blipFill>
                <a:blip r:embed="rId2"/>
                <a:stretch>
                  <a:fillRect l="-522" t="-18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1F574AC9-A49B-35AF-9112-3C7B14B4AE5E}"/>
              </a:ext>
            </a:extLst>
          </p:cNvPr>
          <p:cNvGrpSpPr/>
          <p:nvPr/>
        </p:nvGrpSpPr>
        <p:grpSpPr>
          <a:xfrm>
            <a:off x="2745825" y="1499353"/>
            <a:ext cx="2487685" cy="467297"/>
            <a:chOff x="2745825" y="1499353"/>
            <a:chExt cx="2487685" cy="4672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1096E73E-377C-A8E4-64B9-721845C8B64B}"/>
                    </a:ext>
                  </a:extLst>
                </p:cNvPr>
                <p:cNvSpPr txBox="1"/>
                <p:nvPr/>
              </p:nvSpPr>
              <p:spPr>
                <a:xfrm>
                  <a:off x="4431313" y="1576297"/>
                  <a:ext cx="802197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1096E73E-377C-A8E4-64B9-721845C8B6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313" y="1576297"/>
                  <a:ext cx="802197" cy="30777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3CDA3101-7F74-A837-16F8-69EEE1741915}"/>
                    </a:ext>
                  </a:extLst>
                </p:cNvPr>
                <p:cNvSpPr txBox="1"/>
                <p:nvPr/>
              </p:nvSpPr>
              <p:spPr>
                <a:xfrm>
                  <a:off x="4002075" y="1548394"/>
                  <a:ext cx="49862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US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3CDA3101-7F74-A837-16F8-69EEE17419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2075" y="1548394"/>
                  <a:ext cx="498621" cy="30777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BC85B512-1C3B-1944-0D53-C9EA10988A89}"/>
                    </a:ext>
                  </a:extLst>
                </p:cNvPr>
                <p:cNvSpPr txBox="1"/>
                <p:nvPr/>
              </p:nvSpPr>
              <p:spPr>
                <a:xfrm>
                  <a:off x="3602027" y="1658873"/>
                  <a:ext cx="49862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</m:oMath>
                    </m:oMathPara>
                  </a14:m>
                  <a:endParaRPr lang="en-US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BC85B512-1C3B-1944-0D53-C9EA10988A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2027" y="1658873"/>
                  <a:ext cx="498621" cy="30777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2EB7D6C-3C41-D22E-72FD-273F33C6D036}"/>
                    </a:ext>
                  </a:extLst>
                </p:cNvPr>
                <p:cNvSpPr txBox="1"/>
                <p:nvPr/>
              </p:nvSpPr>
              <p:spPr>
                <a:xfrm>
                  <a:off x="3385487" y="1499353"/>
                  <a:ext cx="49862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−3</m:t>
                            </m:r>
                          </m:sub>
                        </m:sSub>
                      </m:oMath>
                    </m:oMathPara>
                  </a14:m>
                  <a:endParaRPr lang="en-US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2EB7D6C-3C41-D22E-72FD-273F33C6D0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85487" y="1499353"/>
                  <a:ext cx="498621" cy="3077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ADAA862-D6CA-6869-38E5-3A8AA8C3DDB8}"/>
                </a:ext>
              </a:extLst>
            </p:cNvPr>
            <p:cNvCxnSpPr>
              <a:cxnSpLocks/>
              <a:endCxn id="13" idx="3"/>
            </p:cNvCxnSpPr>
            <p:nvPr/>
          </p:nvCxnSpPr>
          <p:spPr>
            <a:xfrm flipV="1">
              <a:off x="3884108" y="1653242"/>
              <a:ext cx="0" cy="1538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DDB5113-6FAB-EFFD-FF45-DDF0913A9096}"/>
                    </a:ext>
                  </a:extLst>
                </p:cNvPr>
                <p:cNvSpPr txBox="1"/>
                <p:nvPr/>
              </p:nvSpPr>
              <p:spPr>
                <a:xfrm>
                  <a:off x="2745825" y="1499968"/>
                  <a:ext cx="49862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−4</m:t>
                            </m:r>
                          </m:sub>
                        </m:sSub>
                      </m:oMath>
                    </m:oMathPara>
                  </a14:m>
                  <a:endParaRPr lang="en-US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DDB5113-6FAB-EFFD-FF45-DDF0913A90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45825" y="1499968"/>
                  <a:ext cx="498621" cy="30777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F603B62-893F-6775-6645-1F065AF34BCE}"/>
                  </a:ext>
                </a:extLst>
              </p:cNvPr>
              <p:cNvSpPr txBox="1"/>
              <p:nvPr/>
            </p:nvSpPr>
            <p:spPr>
              <a:xfrm>
                <a:off x="7401885" y="1127264"/>
                <a:ext cx="2396456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FF0000"/>
                    </a:solidFill>
                  </a:rPr>
                  <a:t> is a random variable representing a word/token at position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400" dirty="0">
                    <a:solidFill>
                      <a:srgbClr val="FF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F603B62-893F-6775-6645-1F065AF34B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1885" y="1127264"/>
                <a:ext cx="2396456" cy="738664"/>
              </a:xfrm>
              <a:prstGeom prst="rect">
                <a:avLst/>
              </a:prstGeom>
              <a:blipFill>
                <a:blip r:embed="rId8"/>
                <a:stretch>
                  <a:fillRect l="-763" t="-1653" r="-1272" b="-74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Speech Bubble: Rectangle with Corners Rounded 31">
            <a:extLst>
              <a:ext uri="{FF2B5EF4-FFF2-40B4-BE49-F238E27FC236}">
                <a16:creationId xmlns:a16="http://schemas.microsoft.com/office/drawing/2014/main" id="{2F347387-73ED-D6EF-47CD-CE49827FC4AD}"/>
              </a:ext>
            </a:extLst>
          </p:cNvPr>
          <p:cNvSpPr/>
          <p:nvPr/>
        </p:nvSpPr>
        <p:spPr>
          <a:xfrm>
            <a:off x="7238419" y="4453338"/>
            <a:ext cx="1696177" cy="663114"/>
          </a:xfrm>
          <a:prstGeom prst="wedgeRoundRectCallout">
            <a:avLst>
              <a:gd name="adj1" fmla="val -57198"/>
              <a:gd name="adj2" fmla="val 49181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This does not fit in memory and we cannot estimate that many numbers!</a:t>
            </a:r>
          </a:p>
        </p:txBody>
      </p:sp>
      <p:sp>
        <p:nvSpPr>
          <p:cNvPr id="33" name="Speech Bubble: Rectangle with Corners Rounded 32">
            <a:extLst>
              <a:ext uri="{FF2B5EF4-FFF2-40B4-BE49-F238E27FC236}">
                <a16:creationId xmlns:a16="http://schemas.microsoft.com/office/drawing/2014/main" id="{EE7284CD-EA04-D082-748B-6D4ECF11AC11}"/>
              </a:ext>
            </a:extLst>
          </p:cNvPr>
          <p:cNvSpPr/>
          <p:nvPr/>
        </p:nvSpPr>
        <p:spPr>
          <a:xfrm>
            <a:off x="6593746" y="5902139"/>
            <a:ext cx="1616277" cy="419456"/>
          </a:xfrm>
          <a:prstGeom prst="wedgeRoundRectCallout">
            <a:avLst>
              <a:gd name="adj1" fmla="val -53414"/>
              <a:gd name="adj2" fmla="val -106842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With 16-bit floats, this needs &gt; 350 GB RAM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5" name="Table 34">
                <a:extLst>
                  <a:ext uri="{FF2B5EF4-FFF2-40B4-BE49-F238E27FC236}">
                    <a16:creationId xmlns:a16="http://schemas.microsoft.com/office/drawing/2014/main" id="{635074A9-6B68-D76A-F1BB-22D30ADC75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8416708"/>
                  </p:ext>
                </p:extLst>
              </p:nvPr>
            </p:nvGraphicFramePr>
            <p:xfrm>
              <a:off x="8934596" y="4293931"/>
              <a:ext cx="3146472" cy="1198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4107">
                      <a:extLst>
                        <a:ext uri="{9D8B030D-6E8A-4147-A177-3AD203B41FA5}">
                          <a16:colId xmlns:a16="http://schemas.microsoft.com/office/drawing/2014/main" val="2886527042"/>
                        </a:ext>
                      </a:extLst>
                    </a:gridCol>
                    <a:gridCol w="230345">
                      <a:extLst>
                        <a:ext uri="{9D8B030D-6E8A-4147-A177-3AD203B41FA5}">
                          <a16:colId xmlns:a16="http://schemas.microsoft.com/office/drawing/2014/main" val="2843465921"/>
                        </a:ext>
                      </a:extLst>
                    </a:gridCol>
                    <a:gridCol w="474650">
                      <a:extLst>
                        <a:ext uri="{9D8B030D-6E8A-4147-A177-3AD203B41FA5}">
                          <a16:colId xmlns:a16="http://schemas.microsoft.com/office/drawing/2014/main" val="3869960157"/>
                        </a:ext>
                      </a:extLst>
                    </a:gridCol>
                    <a:gridCol w="390889">
                      <a:extLst>
                        <a:ext uri="{9D8B030D-6E8A-4147-A177-3AD203B41FA5}">
                          <a16:colId xmlns:a16="http://schemas.microsoft.com/office/drawing/2014/main" val="2082622642"/>
                        </a:ext>
                      </a:extLst>
                    </a:gridCol>
                    <a:gridCol w="516531">
                      <a:extLst>
                        <a:ext uri="{9D8B030D-6E8A-4147-A177-3AD203B41FA5}">
                          <a16:colId xmlns:a16="http://schemas.microsoft.com/office/drawing/2014/main" val="2201784429"/>
                        </a:ext>
                      </a:extLst>
                    </a:gridCol>
                    <a:gridCol w="649154">
                      <a:extLst>
                        <a:ext uri="{9D8B030D-6E8A-4147-A177-3AD203B41FA5}">
                          <a16:colId xmlns:a16="http://schemas.microsoft.com/office/drawing/2014/main" val="2101555180"/>
                        </a:ext>
                      </a:extLst>
                    </a:gridCol>
                    <a:gridCol w="570796">
                      <a:extLst>
                        <a:ext uri="{9D8B030D-6E8A-4147-A177-3AD203B41FA5}">
                          <a16:colId xmlns:a16="http://schemas.microsoft.com/office/drawing/2014/main" val="3151341098"/>
                        </a:ext>
                      </a:extLst>
                    </a:gridCol>
                  </a:tblGrid>
                  <a:tr h="29971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𝒍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 dirty="0"/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dirty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n-US" sz="11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10266598"/>
                      </a:ext>
                    </a:extLst>
                  </a:tr>
                  <a:tr h="2997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is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good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day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0.01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5126471"/>
                      </a:ext>
                    </a:extLst>
                  </a:tr>
                  <a:tr h="2997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is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good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reason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1e-12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9562409"/>
                      </a:ext>
                    </a:extLst>
                  </a:tr>
                  <a:tr h="299710">
                    <a:tc>
                      <a:txBody>
                        <a:bodyPr/>
                        <a:lstStyle/>
                        <a:p>
                          <a:pPr algn="ctr"/>
                          <a:endParaRPr 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396557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5" name="Table 34">
                <a:extLst>
                  <a:ext uri="{FF2B5EF4-FFF2-40B4-BE49-F238E27FC236}">
                    <a16:creationId xmlns:a16="http://schemas.microsoft.com/office/drawing/2014/main" id="{635074A9-6B68-D76A-F1BB-22D30ADC75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8416708"/>
                  </p:ext>
                </p:extLst>
              </p:nvPr>
            </p:nvGraphicFramePr>
            <p:xfrm>
              <a:off x="8934596" y="4293931"/>
              <a:ext cx="3146472" cy="1198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4107">
                      <a:extLst>
                        <a:ext uri="{9D8B030D-6E8A-4147-A177-3AD203B41FA5}">
                          <a16:colId xmlns:a16="http://schemas.microsoft.com/office/drawing/2014/main" val="2886527042"/>
                        </a:ext>
                      </a:extLst>
                    </a:gridCol>
                    <a:gridCol w="230345">
                      <a:extLst>
                        <a:ext uri="{9D8B030D-6E8A-4147-A177-3AD203B41FA5}">
                          <a16:colId xmlns:a16="http://schemas.microsoft.com/office/drawing/2014/main" val="2843465921"/>
                        </a:ext>
                      </a:extLst>
                    </a:gridCol>
                    <a:gridCol w="474650">
                      <a:extLst>
                        <a:ext uri="{9D8B030D-6E8A-4147-A177-3AD203B41FA5}">
                          <a16:colId xmlns:a16="http://schemas.microsoft.com/office/drawing/2014/main" val="3869960157"/>
                        </a:ext>
                      </a:extLst>
                    </a:gridCol>
                    <a:gridCol w="390889">
                      <a:extLst>
                        <a:ext uri="{9D8B030D-6E8A-4147-A177-3AD203B41FA5}">
                          <a16:colId xmlns:a16="http://schemas.microsoft.com/office/drawing/2014/main" val="2082622642"/>
                        </a:ext>
                      </a:extLst>
                    </a:gridCol>
                    <a:gridCol w="516531">
                      <a:extLst>
                        <a:ext uri="{9D8B030D-6E8A-4147-A177-3AD203B41FA5}">
                          <a16:colId xmlns:a16="http://schemas.microsoft.com/office/drawing/2014/main" val="2201784429"/>
                        </a:ext>
                      </a:extLst>
                    </a:gridCol>
                    <a:gridCol w="649154">
                      <a:extLst>
                        <a:ext uri="{9D8B030D-6E8A-4147-A177-3AD203B41FA5}">
                          <a16:colId xmlns:a16="http://schemas.microsoft.com/office/drawing/2014/main" val="2101555180"/>
                        </a:ext>
                      </a:extLst>
                    </a:gridCol>
                    <a:gridCol w="570796">
                      <a:extLst>
                        <a:ext uri="{9D8B030D-6E8A-4147-A177-3AD203B41FA5}">
                          <a16:colId xmlns:a16="http://schemas.microsoft.com/office/drawing/2014/main" val="3151341098"/>
                        </a:ext>
                      </a:extLst>
                    </a:gridCol>
                  </a:tblGrid>
                  <a:tr h="29971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1923" t="-2000" r="-901923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 dirty="0"/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115385" t="-2000" r="-453846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258462" t="-2000" r="-444615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274118" t="-2000" r="-240000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300000" t="-2000" r="-92453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451064" t="-2000" r="-4255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266598"/>
                      </a:ext>
                    </a:extLst>
                  </a:tr>
                  <a:tr h="2997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is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good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day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0.01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5126471"/>
                      </a:ext>
                    </a:extLst>
                  </a:tr>
                  <a:tr h="2997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is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good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reason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1e-12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9562409"/>
                      </a:ext>
                    </a:extLst>
                  </a:tr>
                  <a:tr h="299710">
                    <a:tc>
                      <a:txBody>
                        <a:bodyPr/>
                        <a:lstStyle/>
                        <a:p>
                          <a:pPr algn="ctr"/>
                          <a:endParaRPr 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396557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ECD25E6-F099-1936-79B7-A5259CC32167}"/>
                  </a:ext>
                </a:extLst>
              </p:cNvPr>
              <p:cNvSpPr txBox="1"/>
              <p:nvPr/>
            </p:nvSpPr>
            <p:spPr>
              <a:xfrm>
                <a:off x="9619828" y="3571008"/>
                <a:ext cx="192632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FF0000"/>
                    </a:solidFill>
                  </a:rPr>
                  <a:t>Joint Probability as a table has all the information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sz="1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1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a:rPr lang="en-US" sz="1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sz="1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2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ECD25E6-F099-1936-79B7-A5259CC321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9828" y="3571008"/>
                <a:ext cx="1926321" cy="646331"/>
              </a:xfrm>
              <a:prstGeom prst="rect">
                <a:avLst/>
              </a:prstGeom>
              <a:blipFill>
                <a:blip r:embed="rId10"/>
                <a:stretch>
                  <a:fillRect t="-943" r="-949" b="-2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536439E-7C86-9899-8AC7-FC834C84E4E8}"/>
                  </a:ext>
                </a:extLst>
              </p:cNvPr>
              <p:cNvSpPr txBox="1"/>
              <p:nvPr/>
            </p:nvSpPr>
            <p:spPr>
              <a:xfrm>
                <a:off x="9957961" y="5286504"/>
                <a:ext cx="1367919" cy="374270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rows!</a:t>
                </a:r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536439E-7C86-9899-8AC7-FC834C84E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7961" y="5286504"/>
                <a:ext cx="1367919" cy="374270"/>
              </a:xfrm>
              <a:prstGeom prst="rect">
                <a:avLst/>
              </a:prstGeom>
              <a:blipFill>
                <a:blip r:embed="rId11"/>
                <a:stretch>
                  <a:fillRect t="-1515" r="-1316" b="-21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Speech Bubble: Rectangle with Corners Rounded 43">
            <a:extLst>
              <a:ext uri="{FF2B5EF4-FFF2-40B4-BE49-F238E27FC236}">
                <a16:creationId xmlns:a16="http://schemas.microsoft.com/office/drawing/2014/main" id="{4AEB7823-4402-50D9-9AE4-1CAAD9CDE37C}"/>
              </a:ext>
            </a:extLst>
          </p:cNvPr>
          <p:cNvSpPr/>
          <p:nvPr/>
        </p:nvSpPr>
        <p:spPr>
          <a:xfrm>
            <a:off x="9537613" y="2678871"/>
            <a:ext cx="1926322" cy="359259"/>
          </a:xfrm>
          <a:prstGeom prst="wedgeRoundRectCallout">
            <a:avLst>
              <a:gd name="adj1" fmla="val -51992"/>
              <a:gd name="adj2" fmla="val 78810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Mask the next word = self-supervised learning</a:t>
            </a:r>
          </a:p>
        </p:txBody>
      </p:sp>
      <p:sp>
        <p:nvSpPr>
          <p:cNvPr id="46" name="Speech Bubble: Rectangle with Corners Rounded 45">
            <a:extLst>
              <a:ext uri="{FF2B5EF4-FFF2-40B4-BE49-F238E27FC236}">
                <a16:creationId xmlns:a16="http://schemas.microsoft.com/office/drawing/2014/main" id="{E2A488A5-5E46-BDCE-62AF-98144137C21F}"/>
              </a:ext>
            </a:extLst>
          </p:cNvPr>
          <p:cNvSpPr/>
          <p:nvPr/>
        </p:nvSpPr>
        <p:spPr>
          <a:xfrm>
            <a:off x="2694331" y="5843960"/>
            <a:ext cx="3114107" cy="457752"/>
          </a:xfrm>
          <a:prstGeom prst="wedgeRoundRectCallout">
            <a:avLst>
              <a:gd name="adj1" fmla="val 51457"/>
              <a:gd name="adj2" fmla="val -98668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Tricks for compression in transformers are positional encoding and the attention mechanism.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535F1FB-2B93-4D0F-9D29-DAFC51BD5908}"/>
              </a:ext>
            </a:extLst>
          </p:cNvPr>
          <p:cNvGrpSpPr/>
          <p:nvPr/>
        </p:nvGrpSpPr>
        <p:grpSpPr>
          <a:xfrm>
            <a:off x="2321659" y="897676"/>
            <a:ext cx="3936527" cy="787927"/>
            <a:chOff x="2321659" y="897676"/>
            <a:chExt cx="3936527" cy="787927"/>
          </a:xfrm>
        </p:grpSpPr>
        <p:sp>
          <p:nvSpPr>
            <p:cNvPr id="6" name="Speech Bubble: Rectangle with Corners Rounded 5">
              <a:extLst>
                <a:ext uri="{FF2B5EF4-FFF2-40B4-BE49-F238E27FC236}">
                  <a16:creationId xmlns:a16="http://schemas.microsoft.com/office/drawing/2014/main" id="{27FDE617-2598-92CF-901D-FF592CF53DD5}"/>
                </a:ext>
              </a:extLst>
            </p:cNvPr>
            <p:cNvSpPr/>
            <p:nvPr/>
          </p:nvSpPr>
          <p:spPr>
            <a:xfrm>
              <a:off x="3217876" y="897676"/>
              <a:ext cx="1267091" cy="261508"/>
            </a:xfrm>
            <a:prstGeom prst="wedgeRoundRectCallout">
              <a:avLst>
                <a:gd name="adj1" fmla="val -32457"/>
                <a:gd name="adj2" fmla="val 95407"/>
                <a:gd name="adj3" fmla="val 16667"/>
              </a:avLst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Context window</a:t>
              </a:r>
            </a:p>
          </p:txBody>
        </p:sp>
        <p:sp>
          <p:nvSpPr>
            <p:cNvPr id="7" name="Speech Bubble: Rectangle with Corners Rounded 6">
              <a:extLst>
                <a:ext uri="{FF2B5EF4-FFF2-40B4-BE49-F238E27FC236}">
                  <a16:creationId xmlns:a16="http://schemas.microsoft.com/office/drawing/2014/main" id="{B8501F6F-4D89-16CF-30AF-EDD67120261C}"/>
                </a:ext>
              </a:extLst>
            </p:cNvPr>
            <p:cNvSpPr/>
            <p:nvPr/>
          </p:nvSpPr>
          <p:spPr>
            <a:xfrm>
              <a:off x="4773335" y="978822"/>
              <a:ext cx="1484851" cy="270543"/>
            </a:xfrm>
            <a:prstGeom prst="wedgeRoundRectCallout">
              <a:avLst>
                <a:gd name="adj1" fmla="val -42043"/>
                <a:gd name="adj2" fmla="val 91496"/>
                <a:gd name="adj3" fmla="val 16667"/>
              </a:avLst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Predict the next word</a:t>
              </a:r>
            </a:p>
          </p:txBody>
        </p:sp>
        <p:sp>
          <p:nvSpPr>
            <p:cNvPr id="8" name="Right Bracket 7">
              <a:extLst>
                <a:ext uri="{FF2B5EF4-FFF2-40B4-BE49-F238E27FC236}">
                  <a16:creationId xmlns:a16="http://schemas.microsoft.com/office/drawing/2014/main" id="{2D6ED7B0-2707-DB4F-32BB-6110C2C9DF81}"/>
                </a:ext>
              </a:extLst>
            </p:cNvPr>
            <p:cNvSpPr/>
            <p:nvPr/>
          </p:nvSpPr>
          <p:spPr>
            <a:xfrm rot="16200000">
              <a:off x="3351573" y="239748"/>
              <a:ext cx="119212" cy="2179039"/>
            </a:xfrm>
            <a:prstGeom prst="rightBracket">
              <a:avLst>
                <a:gd name="adj" fmla="val 0"/>
              </a:avLst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A243C20-405C-FF96-C9FF-384EFD928147}"/>
                </a:ext>
              </a:extLst>
            </p:cNvPr>
            <p:cNvSpPr/>
            <p:nvPr/>
          </p:nvSpPr>
          <p:spPr>
            <a:xfrm>
              <a:off x="4632387" y="1368926"/>
              <a:ext cx="400048" cy="316677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62361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2" grpId="0" animBg="1"/>
      <p:bldP spid="33" grpId="0" animBg="1"/>
      <p:bldP spid="42" grpId="0"/>
      <p:bldP spid="43" grpId="0" animBg="1"/>
      <p:bldP spid="44" grpId="0" animBg="1"/>
      <p:bldP spid="4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E241C-EBF7-6515-B681-99C9650CF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a GPT-type LLM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2B17EA3-EC65-DBEF-A15C-DE7518DD94D2}"/>
              </a:ext>
            </a:extLst>
          </p:cNvPr>
          <p:cNvGrpSpPr/>
          <p:nvPr/>
        </p:nvGrpSpPr>
        <p:grpSpPr>
          <a:xfrm>
            <a:off x="272436" y="1801052"/>
            <a:ext cx="6875892" cy="4333958"/>
            <a:chOff x="243919" y="2158917"/>
            <a:chExt cx="6875892" cy="4333958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1E60410-B47F-F095-D2F7-496B90E1B1F5}"/>
                </a:ext>
              </a:extLst>
            </p:cNvPr>
            <p:cNvSpPr txBox="1"/>
            <p:nvPr/>
          </p:nvSpPr>
          <p:spPr>
            <a:xfrm>
              <a:off x="243919" y="6185097"/>
              <a:ext cx="6875892" cy="3077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Structure of a GPT-type LLM using a decoder only transformer architecture </a:t>
              </a: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C92505A4-00EB-EBEA-ABFF-3D5C2AD766C2}"/>
                </a:ext>
              </a:extLst>
            </p:cNvPr>
            <p:cNvGrpSpPr/>
            <p:nvPr/>
          </p:nvGrpSpPr>
          <p:grpSpPr>
            <a:xfrm>
              <a:off x="1949284" y="2158917"/>
              <a:ext cx="4685291" cy="3827050"/>
              <a:chOff x="1949284" y="2158917"/>
              <a:chExt cx="4685291" cy="3827050"/>
            </a:xfrm>
          </p:grpSpPr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58AEDBE-D719-A588-F2C0-9E30A27A6410}"/>
                  </a:ext>
                </a:extLst>
              </p:cNvPr>
              <p:cNvSpPr txBox="1"/>
              <p:nvPr/>
            </p:nvSpPr>
            <p:spPr>
              <a:xfrm rot="5400000">
                <a:off x="3173629" y="4364439"/>
                <a:ext cx="411700" cy="28313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vert270" wrap="square" rtlCol="0">
                <a:spAutoFit/>
              </a:bodyPr>
              <a:lstStyle/>
              <a:p>
                <a:pPr algn="ctr"/>
                <a:r>
                  <a:rPr lang="en-US" sz="1200" dirty="0"/>
                  <a:t>Prompt (words)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B5EDAB0-3777-6B94-2901-D84D890F3991}"/>
                  </a:ext>
                </a:extLst>
              </p:cNvPr>
              <p:cNvSpPr txBox="1"/>
              <p:nvPr/>
            </p:nvSpPr>
            <p:spPr>
              <a:xfrm rot="5400000">
                <a:off x="3173629" y="3510605"/>
                <a:ext cx="411700" cy="283135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vert270" wrap="square" rtlCol="0">
                <a:spAutoFit/>
              </a:bodyPr>
              <a:lstStyle/>
              <a:p>
                <a:pPr algn="ctr"/>
                <a:r>
                  <a:rPr lang="en-US" sz="1200" dirty="0"/>
                  <a:t>Token sequence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74D7DEA-4976-D2E9-257A-17EFE90E8508}"/>
                  </a:ext>
                </a:extLst>
              </p:cNvPr>
              <p:cNvSpPr txBox="1"/>
              <p:nvPr/>
            </p:nvSpPr>
            <p:spPr>
              <a:xfrm rot="5400000">
                <a:off x="3173629" y="2651116"/>
                <a:ext cx="411700" cy="28426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vert270" wrap="square" rtlCol="0">
                <a:spAutoFit/>
              </a:bodyPr>
              <a:lstStyle/>
              <a:p>
                <a:pPr algn="ctr"/>
                <a:r>
                  <a:rPr lang="en-US" sz="1200" dirty="0"/>
                  <a:t>Vectors (embedding as tensor)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32CA9B6-32DA-3AF4-E9E9-757C12F49D83}"/>
                  </a:ext>
                </a:extLst>
              </p:cNvPr>
              <p:cNvSpPr txBox="1"/>
              <p:nvPr/>
            </p:nvSpPr>
            <p:spPr>
              <a:xfrm rot="5400000">
                <a:off x="3173629" y="1797277"/>
                <a:ext cx="411700" cy="284265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vert270" wrap="square" rtlCol="0">
                <a:spAutoFit/>
              </a:bodyPr>
              <a:lstStyle/>
              <a:p>
                <a:pPr algn="ctr"/>
                <a:r>
                  <a:rPr lang="en-US" sz="1200" dirty="0"/>
                  <a:t>Vector (state)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FD02DECE-D478-2EBA-D6E0-FC82A5596AC9}"/>
                  </a:ext>
                </a:extLst>
              </p:cNvPr>
              <p:cNvSpPr txBox="1"/>
              <p:nvPr/>
            </p:nvSpPr>
            <p:spPr>
              <a:xfrm rot="5400000">
                <a:off x="3173629" y="934572"/>
                <a:ext cx="411700" cy="286038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vert270" wrap="square" rtlCol="0">
                <a:spAutoFit/>
              </a:bodyPr>
              <a:lstStyle/>
              <a:p>
                <a:pPr algn="ctr"/>
                <a:r>
                  <a:rPr lang="en-US" sz="1200" dirty="0"/>
                  <a:t>Predicted probabilities for next token</a:t>
                </a:r>
              </a:p>
            </p:txBody>
          </p:sp>
          <p:sp>
            <p:nvSpPr>
              <p:cNvPr id="52" name="Arrow: Right 51">
                <a:extLst>
                  <a:ext uri="{FF2B5EF4-FFF2-40B4-BE49-F238E27FC236}">
                    <a16:creationId xmlns:a16="http://schemas.microsoft.com/office/drawing/2014/main" id="{A5CB2F7A-32B9-6CDA-201E-2DFFA043211E}"/>
                  </a:ext>
                </a:extLst>
              </p:cNvPr>
              <p:cNvSpPr/>
              <p:nvPr/>
            </p:nvSpPr>
            <p:spPr>
              <a:xfrm rot="16200000" flipV="1">
                <a:off x="3211393" y="5163389"/>
                <a:ext cx="336174" cy="379628"/>
              </a:xfrm>
              <a:prstGeom prst="rightArrow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000" dirty="0"/>
              </a:p>
            </p:txBody>
          </p:sp>
          <p:sp>
            <p:nvSpPr>
              <p:cNvPr id="53" name="Arrow: Right 52">
                <a:extLst>
                  <a:ext uri="{FF2B5EF4-FFF2-40B4-BE49-F238E27FC236}">
                    <a16:creationId xmlns:a16="http://schemas.microsoft.com/office/drawing/2014/main" id="{559A64E7-EB68-F3EC-51D0-AC6D38701EA7}"/>
                  </a:ext>
                </a:extLst>
              </p:cNvPr>
              <p:cNvSpPr/>
              <p:nvPr/>
            </p:nvSpPr>
            <p:spPr>
              <a:xfrm rot="16200000" flipV="1">
                <a:off x="3211393" y="4309550"/>
                <a:ext cx="336174" cy="379628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 dirty="0"/>
              </a:p>
            </p:txBody>
          </p:sp>
          <p:sp>
            <p:nvSpPr>
              <p:cNvPr id="54" name="Arrow: Right 53">
                <a:extLst>
                  <a:ext uri="{FF2B5EF4-FFF2-40B4-BE49-F238E27FC236}">
                    <a16:creationId xmlns:a16="http://schemas.microsoft.com/office/drawing/2014/main" id="{22BBF2B9-0FCF-A4D0-FE28-34B1629F855B}"/>
                  </a:ext>
                </a:extLst>
              </p:cNvPr>
              <p:cNvSpPr/>
              <p:nvPr/>
            </p:nvSpPr>
            <p:spPr>
              <a:xfrm rot="16200000" flipV="1">
                <a:off x="3211393" y="2601872"/>
                <a:ext cx="336174" cy="379628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 dirty="0"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96D84A2-EC6D-2421-305C-9BD8D0DE7C6B}"/>
                  </a:ext>
                </a:extLst>
              </p:cNvPr>
              <p:cNvSpPr txBox="1"/>
              <p:nvPr/>
            </p:nvSpPr>
            <p:spPr>
              <a:xfrm>
                <a:off x="3633642" y="5208635"/>
                <a:ext cx="1068359" cy="2916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/>
                  <a:t>Tokenizing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C7B3F2F7-EBE0-BC4D-92D1-25A2C9D01429}"/>
                  </a:ext>
                </a:extLst>
              </p:cNvPr>
              <p:cNvSpPr txBox="1"/>
              <p:nvPr/>
            </p:nvSpPr>
            <p:spPr>
              <a:xfrm>
                <a:off x="3589513" y="4375830"/>
                <a:ext cx="158090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/>
                  <a:t>Positional embedding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DBA34F5E-3E9E-8343-3FF2-E98803459047}"/>
                      </a:ext>
                    </a:extLst>
                  </p:cNvPr>
                  <p:cNvSpPr txBox="1"/>
                  <p:nvPr/>
                </p:nvSpPr>
                <p:spPr>
                  <a:xfrm>
                    <a:off x="3583617" y="3418462"/>
                    <a:ext cx="1580907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sz="11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a14:m>
                    <a:r>
                      <a:rPr lang="en-US" sz="1100" dirty="0"/>
                      <a:t> transformer blocks</a:t>
                    </a:r>
                    <a:br>
                      <a:rPr lang="en-US" sz="1100" dirty="0"/>
                    </a:br>
                    <a:r>
                      <a:rPr lang="en-US" sz="1100" dirty="0"/>
                      <a:t>   with self-attention</a:t>
                    </a:r>
                  </a:p>
                </p:txBody>
              </p:sp>
            </mc:Choice>
            <mc:Fallback xmlns="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DBA34F5E-3E9E-8343-3FF2-E9880345904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83617" y="3418462"/>
                    <a:ext cx="1580907" cy="430887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t="-1408" b="-845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F3298B2-C999-6590-0FD0-EA2156882510}"/>
                  </a:ext>
                </a:extLst>
              </p:cNvPr>
              <p:cNvSpPr txBox="1"/>
              <p:nvPr/>
            </p:nvSpPr>
            <p:spPr>
              <a:xfrm>
                <a:off x="3569293" y="2645875"/>
                <a:ext cx="974377" cy="2916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/>
                  <a:t>classifier</a:t>
                </a:r>
              </a:p>
            </p:txBody>
          </p: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27D4C078-74BC-E43E-3AFF-13C40369FC1B}"/>
                  </a:ext>
                </a:extLst>
              </p:cNvPr>
              <p:cNvGrpSpPr/>
              <p:nvPr/>
            </p:nvGrpSpPr>
            <p:grpSpPr>
              <a:xfrm>
                <a:off x="5262871" y="2183540"/>
                <a:ext cx="1371704" cy="769441"/>
                <a:chOff x="5262871" y="2183540"/>
                <a:chExt cx="1371704" cy="769441"/>
              </a:xfrm>
            </p:grpSpPr>
            <p:sp>
              <p:nvSpPr>
                <p:cNvPr id="64" name="Arrow: Right 63">
                  <a:extLst>
                    <a:ext uri="{FF2B5EF4-FFF2-40B4-BE49-F238E27FC236}">
                      <a16:creationId xmlns:a16="http://schemas.microsoft.com/office/drawing/2014/main" id="{CC036597-18A1-D454-5A3C-950AAC9A958B}"/>
                    </a:ext>
                  </a:extLst>
                </p:cNvPr>
                <p:cNvSpPr/>
                <p:nvPr/>
              </p:nvSpPr>
              <p:spPr>
                <a:xfrm rot="16200000" flipV="1">
                  <a:off x="5284598" y="2161813"/>
                  <a:ext cx="336174" cy="379628"/>
                </a:xfrm>
                <a:prstGeom prst="rightArrow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00" dirty="0"/>
                </a:p>
              </p:txBody>
            </p:sp>
            <p:sp>
              <p:nvSpPr>
                <p:cNvPr id="65" name="Arrow: Right 64">
                  <a:extLst>
                    <a:ext uri="{FF2B5EF4-FFF2-40B4-BE49-F238E27FC236}">
                      <a16:creationId xmlns:a16="http://schemas.microsoft.com/office/drawing/2014/main" id="{68A3ACB3-AD43-83F5-8F5D-96109E05ABAF}"/>
                    </a:ext>
                  </a:extLst>
                </p:cNvPr>
                <p:cNvSpPr/>
                <p:nvPr/>
              </p:nvSpPr>
              <p:spPr>
                <a:xfrm rot="16200000" flipV="1">
                  <a:off x="5301513" y="2573268"/>
                  <a:ext cx="336174" cy="379628"/>
                </a:xfrm>
                <a:prstGeom prst="rightArrow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00" dirty="0"/>
                </a:p>
              </p:txBody>
            </p:sp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CE80B21E-1E07-6DE1-D0E2-D9D2EEFEB202}"/>
                    </a:ext>
                  </a:extLst>
                </p:cNvPr>
                <p:cNvSpPr txBox="1"/>
                <p:nvPr/>
              </p:nvSpPr>
              <p:spPr>
                <a:xfrm>
                  <a:off x="5660198" y="2183540"/>
                  <a:ext cx="974377" cy="7694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100" dirty="0"/>
                    <a:t>Trainable artificial neural networks</a:t>
                  </a:r>
                </a:p>
              </p:txBody>
            </p:sp>
          </p:grp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69738BD0-7079-744B-8A4E-CB0A8F3A4FCC}"/>
                  </a:ext>
                </a:extLst>
              </p:cNvPr>
              <p:cNvGrpSpPr/>
              <p:nvPr/>
            </p:nvGrpSpPr>
            <p:grpSpPr>
              <a:xfrm>
                <a:off x="3175804" y="3414619"/>
                <a:ext cx="428389" cy="468315"/>
                <a:chOff x="3175804" y="3414619"/>
                <a:chExt cx="428389" cy="468315"/>
              </a:xfrm>
            </p:grpSpPr>
            <p:sp>
              <p:nvSpPr>
                <p:cNvPr id="61" name="Arrow: Right 60">
                  <a:extLst>
                    <a:ext uri="{FF2B5EF4-FFF2-40B4-BE49-F238E27FC236}">
                      <a16:creationId xmlns:a16="http://schemas.microsoft.com/office/drawing/2014/main" id="{514ACEBD-9807-2057-0F2B-0666CC2C9ED6}"/>
                    </a:ext>
                  </a:extLst>
                </p:cNvPr>
                <p:cNvSpPr/>
                <p:nvPr/>
              </p:nvSpPr>
              <p:spPr>
                <a:xfrm rot="16200000" flipV="1">
                  <a:off x="3246292" y="3392892"/>
                  <a:ext cx="336174" cy="379628"/>
                </a:xfrm>
                <a:prstGeom prst="rightArrow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00" dirty="0"/>
                </a:p>
              </p:txBody>
            </p:sp>
            <p:sp>
              <p:nvSpPr>
                <p:cNvPr id="62" name="Arrow: Right 61">
                  <a:extLst>
                    <a:ext uri="{FF2B5EF4-FFF2-40B4-BE49-F238E27FC236}">
                      <a16:creationId xmlns:a16="http://schemas.microsoft.com/office/drawing/2014/main" id="{20AAD393-41D3-F056-32FE-EABF8239A063}"/>
                    </a:ext>
                  </a:extLst>
                </p:cNvPr>
                <p:cNvSpPr/>
                <p:nvPr/>
              </p:nvSpPr>
              <p:spPr>
                <a:xfrm rot="16200000" flipV="1">
                  <a:off x="3225716" y="3461617"/>
                  <a:ext cx="336174" cy="379628"/>
                </a:xfrm>
                <a:prstGeom prst="rightArrow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00" dirty="0"/>
                </a:p>
              </p:txBody>
            </p:sp>
            <p:sp>
              <p:nvSpPr>
                <p:cNvPr id="63" name="Arrow: Right 62">
                  <a:extLst>
                    <a:ext uri="{FF2B5EF4-FFF2-40B4-BE49-F238E27FC236}">
                      <a16:creationId xmlns:a16="http://schemas.microsoft.com/office/drawing/2014/main" id="{9C1990CA-F963-5A1D-8E49-E49054FB1B03}"/>
                    </a:ext>
                  </a:extLst>
                </p:cNvPr>
                <p:cNvSpPr/>
                <p:nvPr/>
              </p:nvSpPr>
              <p:spPr>
                <a:xfrm rot="16200000" flipV="1">
                  <a:off x="3197531" y="3525033"/>
                  <a:ext cx="336174" cy="379628"/>
                </a:xfrm>
                <a:prstGeom prst="rightArrow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00" dirty="0"/>
                </a:p>
              </p:txBody>
            </p:sp>
          </p:grpSp>
        </p:grp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D034C4E1-7D9E-CF3C-F195-A70D81E4E564}"/>
              </a:ext>
            </a:extLst>
          </p:cNvPr>
          <p:cNvGrpSpPr/>
          <p:nvPr/>
        </p:nvGrpSpPr>
        <p:grpSpPr>
          <a:xfrm>
            <a:off x="7733403" y="2270639"/>
            <a:ext cx="3808199" cy="3821622"/>
            <a:chOff x="7343660" y="2207818"/>
            <a:chExt cx="3808199" cy="3821622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4E89313-A594-97AD-CA85-9FDE2B2683A1}"/>
                </a:ext>
              </a:extLst>
            </p:cNvPr>
            <p:cNvSpPr txBox="1"/>
            <p:nvPr/>
          </p:nvSpPr>
          <p:spPr>
            <a:xfrm>
              <a:off x="7957101" y="5660108"/>
              <a:ext cx="16839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highlight>
                    <a:srgbClr val="FFFF00"/>
                  </a:highlight>
                </a:rPr>
                <a:t>Today</a:t>
              </a:r>
              <a:r>
                <a:rPr lang="en-US" dirty="0"/>
                <a:t> </a:t>
              </a:r>
              <a:r>
                <a:rPr lang="en-US" dirty="0">
                  <a:highlight>
                    <a:srgbClr val="FF00FF"/>
                  </a:highlight>
                </a:rPr>
                <a:t>is</a:t>
              </a:r>
              <a:r>
                <a:rPr lang="en-US" dirty="0"/>
                <a:t> </a:t>
              </a:r>
              <a:r>
                <a:rPr lang="en-US" dirty="0">
                  <a:highlight>
                    <a:srgbClr val="00FFFF"/>
                  </a:highlight>
                </a:rPr>
                <a:t>a</a:t>
              </a:r>
              <a:r>
                <a:rPr lang="en-US" dirty="0"/>
                <a:t> </a:t>
              </a:r>
              <a:r>
                <a:rPr lang="en-US" dirty="0">
                  <a:highlight>
                    <a:srgbClr val="00FF00"/>
                  </a:highlight>
                </a:rPr>
                <a:t>good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992AACC-9652-AFB9-744C-69D290D1E0F9}"/>
                </a:ext>
              </a:extLst>
            </p:cNvPr>
            <p:cNvSpPr txBox="1"/>
            <p:nvPr/>
          </p:nvSpPr>
          <p:spPr>
            <a:xfrm>
              <a:off x="7403641" y="4887076"/>
              <a:ext cx="263326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[18449, 382, 261, 1899]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5058C7B1-4B33-24C8-C617-6670C765752A}"/>
                    </a:ext>
                  </a:extLst>
                </p:cNvPr>
                <p:cNvSpPr txBox="1"/>
                <p:nvPr/>
              </p:nvSpPr>
              <p:spPr>
                <a:xfrm>
                  <a:off x="7466214" y="3874952"/>
                  <a:ext cx="2388157" cy="6621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3.12</m:t>
                                  </m:r>
                                </m:e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12.01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⋱</m:t>
                                  </m:r>
                                </m:e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67.34</m:t>
                                  </m:r>
                                </m:e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676.32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5058C7B1-4B33-24C8-C617-6670C76575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66214" y="3874952"/>
                  <a:ext cx="2388157" cy="66210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FBB0D185-A720-453A-AB56-178C7B9BA777}"/>
                    </a:ext>
                  </a:extLst>
                </p:cNvPr>
                <p:cNvSpPr txBox="1"/>
                <p:nvPr/>
              </p:nvSpPr>
              <p:spPr>
                <a:xfrm>
                  <a:off x="7343660" y="2207818"/>
                  <a:ext cx="263326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(0, …,.63,…,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FBB0D185-A720-453A-AB56-178C7B9BA7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3660" y="2207818"/>
                  <a:ext cx="2633263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3A2ABF14-9C4C-E077-4C91-389CB23867CD}"/>
                    </a:ext>
                  </a:extLst>
                </p:cNvPr>
                <p:cNvSpPr txBox="1"/>
                <p:nvPr/>
              </p:nvSpPr>
              <p:spPr>
                <a:xfrm>
                  <a:off x="7379439" y="3037866"/>
                  <a:ext cx="263326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(32432.23, …,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 899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.12)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3A2ABF14-9C4C-E077-4C91-389CB23867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79439" y="3037866"/>
                  <a:ext cx="2633263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757D7563-126B-BE3A-CACB-2CA8E582B3F6}"/>
                </a:ext>
              </a:extLst>
            </p:cNvPr>
            <p:cNvGrpSpPr/>
            <p:nvPr/>
          </p:nvGrpSpPr>
          <p:grpSpPr>
            <a:xfrm>
              <a:off x="8486505" y="2645875"/>
              <a:ext cx="2665354" cy="2897691"/>
              <a:chOff x="8626628" y="2775999"/>
              <a:chExt cx="2665354" cy="2897691"/>
            </a:xfrm>
          </p:grpSpPr>
          <p:sp>
            <p:nvSpPr>
              <p:cNvPr id="68" name="Arrow: Right 67">
                <a:extLst>
                  <a:ext uri="{FF2B5EF4-FFF2-40B4-BE49-F238E27FC236}">
                    <a16:creationId xmlns:a16="http://schemas.microsoft.com/office/drawing/2014/main" id="{D7830F1B-4BD7-133F-A713-AF641056CD72}"/>
                  </a:ext>
                </a:extLst>
              </p:cNvPr>
              <p:cNvSpPr/>
              <p:nvPr/>
            </p:nvSpPr>
            <p:spPr>
              <a:xfrm rot="16200000" flipV="1">
                <a:off x="8662217" y="5315789"/>
                <a:ext cx="336174" cy="379628"/>
              </a:xfrm>
              <a:prstGeom prst="rightArrow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000" dirty="0"/>
              </a:p>
            </p:txBody>
          </p:sp>
          <p:sp>
            <p:nvSpPr>
              <p:cNvPr id="69" name="Arrow: Right 68">
                <a:extLst>
                  <a:ext uri="{FF2B5EF4-FFF2-40B4-BE49-F238E27FC236}">
                    <a16:creationId xmlns:a16="http://schemas.microsoft.com/office/drawing/2014/main" id="{A2E4670B-814A-6488-2E90-E62C7D51B60E}"/>
                  </a:ext>
                </a:extLst>
              </p:cNvPr>
              <p:cNvSpPr/>
              <p:nvPr/>
            </p:nvSpPr>
            <p:spPr>
              <a:xfrm rot="16200000" flipV="1">
                <a:off x="8648355" y="4653224"/>
                <a:ext cx="336174" cy="379628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 dirty="0"/>
              </a:p>
            </p:txBody>
          </p:sp>
          <p:sp>
            <p:nvSpPr>
              <p:cNvPr id="70" name="Arrow: Right 69">
                <a:extLst>
                  <a:ext uri="{FF2B5EF4-FFF2-40B4-BE49-F238E27FC236}">
                    <a16:creationId xmlns:a16="http://schemas.microsoft.com/office/drawing/2014/main" id="{F1346027-19BF-2ADB-282E-455F9079F8AF}"/>
                  </a:ext>
                </a:extLst>
              </p:cNvPr>
              <p:cNvSpPr/>
              <p:nvPr/>
            </p:nvSpPr>
            <p:spPr>
              <a:xfrm rot="16200000" flipV="1">
                <a:off x="8662217" y="2754272"/>
                <a:ext cx="336174" cy="379628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 dirty="0"/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47654251-5B0D-A851-5BFE-5000316AEC4F}"/>
                  </a:ext>
                </a:extLst>
              </p:cNvPr>
              <p:cNvSpPr txBox="1"/>
              <p:nvPr/>
            </p:nvSpPr>
            <p:spPr>
              <a:xfrm>
                <a:off x="9084466" y="5361035"/>
                <a:ext cx="1068359" cy="2916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/>
                  <a:t>Tokenizing</a:t>
                </a: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177990ED-C1F5-BEFD-54CC-9A327C28C74D}"/>
                  </a:ext>
                </a:extLst>
              </p:cNvPr>
              <p:cNvSpPr txBox="1"/>
              <p:nvPr/>
            </p:nvSpPr>
            <p:spPr>
              <a:xfrm>
                <a:off x="9020117" y="4667180"/>
                <a:ext cx="2271865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/>
                  <a:t>Positional embedding </a:t>
                </a:r>
                <a:br>
                  <a:rPr lang="en-US" sz="1100" dirty="0"/>
                </a:br>
                <a:r>
                  <a:rPr lang="en-US" sz="1100" dirty="0"/>
                  <a:t>(a single connected layer)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3" name="TextBox 72">
                    <a:extLst>
                      <a:ext uri="{FF2B5EF4-FFF2-40B4-BE49-F238E27FC236}">
                        <a16:creationId xmlns:a16="http://schemas.microsoft.com/office/drawing/2014/main" id="{C26CC13D-EEF6-2091-5017-5E7C9394F2FA}"/>
                      </a:ext>
                    </a:extLst>
                  </p:cNvPr>
                  <p:cNvSpPr txBox="1"/>
                  <p:nvPr/>
                </p:nvSpPr>
                <p:spPr>
                  <a:xfrm>
                    <a:off x="9034441" y="3570862"/>
                    <a:ext cx="1580907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sz="11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a14:m>
                    <a:r>
                      <a:rPr lang="en-US" sz="1100" dirty="0"/>
                      <a:t> transformer blocks</a:t>
                    </a:r>
                    <a:br>
                      <a:rPr lang="en-US" sz="1100" dirty="0"/>
                    </a:br>
                    <a:r>
                      <a:rPr lang="en-US" sz="1100" dirty="0"/>
                      <a:t>   with self-attention</a:t>
                    </a:r>
                  </a:p>
                </p:txBody>
              </p:sp>
            </mc:Choice>
            <mc:Fallback xmlns="">
              <p:sp>
                <p:nvSpPr>
                  <p:cNvPr id="73" name="TextBox 72">
                    <a:extLst>
                      <a:ext uri="{FF2B5EF4-FFF2-40B4-BE49-F238E27FC236}">
                        <a16:creationId xmlns:a16="http://schemas.microsoft.com/office/drawing/2014/main" id="{C26CC13D-EEF6-2091-5017-5E7C9394F2F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34441" y="3570862"/>
                    <a:ext cx="1580907" cy="43088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t="-1429" b="-1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D0CAE62C-AB78-731C-6D86-DD4492286520}"/>
                  </a:ext>
                </a:extLst>
              </p:cNvPr>
              <p:cNvSpPr txBox="1"/>
              <p:nvPr/>
            </p:nvSpPr>
            <p:spPr>
              <a:xfrm>
                <a:off x="9020117" y="2798275"/>
                <a:ext cx="199131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/>
                  <a:t>Classifier (a soft-max layer)</a:t>
                </a:r>
              </a:p>
            </p:txBody>
          </p:sp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id="{DCC71A0A-EA8D-CF7D-BBB1-6210FE08A318}"/>
                  </a:ext>
                </a:extLst>
              </p:cNvPr>
              <p:cNvGrpSpPr/>
              <p:nvPr/>
            </p:nvGrpSpPr>
            <p:grpSpPr>
              <a:xfrm>
                <a:off x="8626628" y="3567019"/>
                <a:ext cx="428389" cy="468315"/>
                <a:chOff x="3175804" y="3414619"/>
                <a:chExt cx="428389" cy="468315"/>
              </a:xfrm>
            </p:grpSpPr>
            <p:sp>
              <p:nvSpPr>
                <p:cNvPr id="76" name="Arrow: Right 75">
                  <a:extLst>
                    <a:ext uri="{FF2B5EF4-FFF2-40B4-BE49-F238E27FC236}">
                      <a16:creationId xmlns:a16="http://schemas.microsoft.com/office/drawing/2014/main" id="{F8E14A8C-7BB2-0723-A9FD-6B6EF2FD3E6E}"/>
                    </a:ext>
                  </a:extLst>
                </p:cNvPr>
                <p:cNvSpPr/>
                <p:nvPr/>
              </p:nvSpPr>
              <p:spPr>
                <a:xfrm rot="16200000" flipV="1">
                  <a:off x="3246292" y="3392892"/>
                  <a:ext cx="336174" cy="379628"/>
                </a:xfrm>
                <a:prstGeom prst="rightArrow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00" dirty="0"/>
                </a:p>
              </p:txBody>
            </p:sp>
            <p:sp>
              <p:nvSpPr>
                <p:cNvPr id="77" name="Arrow: Right 76">
                  <a:extLst>
                    <a:ext uri="{FF2B5EF4-FFF2-40B4-BE49-F238E27FC236}">
                      <a16:creationId xmlns:a16="http://schemas.microsoft.com/office/drawing/2014/main" id="{70BA4503-4EFB-C45F-936C-2B6E68D0B90C}"/>
                    </a:ext>
                  </a:extLst>
                </p:cNvPr>
                <p:cNvSpPr/>
                <p:nvPr/>
              </p:nvSpPr>
              <p:spPr>
                <a:xfrm rot="16200000" flipV="1">
                  <a:off x="3225716" y="3461617"/>
                  <a:ext cx="336174" cy="379628"/>
                </a:xfrm>
                <a:prstGeom prst="rightArrow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00" dirty="0"/>
                </a:p>
              </p:txBody>
            </p:sp>
            <p:sp>
              <p:nvSpPr>
                <p:cNvPr id="78" name="Arrow: Right 77">
                  <a:extLst>
                    <a:ext uri="{FF2B5EF4-FFF2-40B4-BE49-F238E27FC236}">
                      <a16:creationId xmlns:a16="http://schemas.microsoft.com/office/drawing/2014/main" id="{440C038B-E006-8A2C-6E1D-CCAA43D6FDC7}"/>
                    </a:ext>
                  </a:extLst>
                </p:cNvPr>
                <p:cNvSpPr/>
                <p:nvPr/>
              </p:nvSpPr>
              <p:spPr>
                <a:xfrm rot="16200000" flipV="1">
                  <a:off x="3197531" y="3525033"/>
                  <a:ext cx="336174" cy="379628"/>
                </a:xfrm>
                <a:prstGeom prst="rightArrow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00" dirty="0"/>
                </a:p>
              </p:txBody>
            </p:sp>
          </p:grpSp>
        </p:grp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0240959E-3CBA-B6A0-FFA1-F24614135DD6}"/>
              </a:ext>
            </a:extLst>
          </p:cNvPr>
          <p:cNvSpPr txBox="1"/>
          <p:nvPr/>
        </p:nvSpPr>
        <p:spPr>
          <a:xfrm>
            <a:off x="8247966" y="1487764"/>
            <a:ext cx="17240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Example</a:t>
            </a:r>
          </a:p>
        </p:txBody>
      </p:sp>
      <p:sp>
        <p:nvSpPr>
          <p:cNvPr id="81" name="Speech Bubble: Rectangle with Corners Rounded 80">
            <a:extLst>
              <a:ext uri="{FF2B5EF4-FFF2-40B4-BE49-F238E27FC236}">
                <a16:creationId xmlns:a16="http://schemas.microsoft.com/office/drawing/2014/main" id="{EB442860-41B0-500C-4D57-097233E54322}"/>
              </a:ext>
            </a:extLst>
          </p:cNvPr>
          <p:cNvSpPr/>
          <p:nvPr/>
        </p:nvSpPr>
        <p:spPr>
          <a:xfrm>
            <a:off x="9941973" y="1746505"/>
            <a:ext cx="2094046" cy="320284"/>
          </a:xfrm>
          <a:prstGeom prst="wedgeRoundRectCallout">
            <a:avLst>
              <a:gd name="adj1" fmla="val -85812"/>
              <a:gd name="adj2" fmla="val 139144"/>
              <a:gd name="adj3" fmla="val 16667"/>
            </a:avLst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Probability for token “day”</a:t>
            </a:r>
          </a:p>
        </p:txBody>
      </p:sp>
      <p:sp>
        <p:nvSpPr>
          <p:cNvPr id="82" name="Speech Bubble: Rectangle with Corners Rounded 81">
            <a:extLst>
              <a:ext uri="{FF2B5EF4-FFF2-40B4-BE49-F238E27FC236}">
                <a16:creationId xmlns:a16="http://schemas.microsoft.com/office/drawing/2014/main" id="{803EE8E4-C4CD-F5F0-1AE9-A66CDFEAC13B}"/>
              </a:ext>
            </a:extLst>
          </p:cNvPr>
          <p:cNvSpPr/>
          <p:nvPr/>
        </p:nvSpPr>
        <p:spPr>
          <a:xfrm>
            <a:off x="10233849" y="4026716"/>
            <a:ext cx="1580905" cy="320284"/>
          </a:xfrm>
          <a:prstGeom prst="wedgeRoundRectCallout">
            <a:avLst>
              <a:gd name="adj1" fmla="val -81227"/>
              <a:gd name="adj2" fmla="val 25817"/>
              <a:gd name="adj3" fmla="val 16667"/>
            </a:avLst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Token by embedding size matrix</a:t>
            </a:r>
          </a:p>
        </p:txBody>
      </p:sp>
      <p:sp>
        <p:nvSpPr>
          <p:cNvPr id="83" name="Speech Bubble: Rectangle with Corners Rounded 82">
            <a:extLst>
              <a:ext uri="{FF2B5EF4-FFF2-40B4-BE49-F238E27FC236}">
                <a16:creationId xmlns:a16="http://schemas.microsoft.com/office/drawing/2014/main" id="{30D819F0-0671-6362-2260-BCEE111B1158}"/>
              </a:ext>
            </a:extLst>
          </p:cNvPr>
          <p:cNvSpPr/>
          <p:nvPr/>
        </p:nvSpPr>
        <p:spPr>
          <a:xfrm>
            <a:off x="10402445" y="2991257"/>
            <a:ext cx="1580905" cy="320284"/>
          </a:xfrm>
          <a:prstGeom prst="wedgeRoundRectCallout">
            <a:avLst>
              <a:gd name="adj1" fmla="val -81227"/>
              <a:gd name="adj2" fmla="val 25817"/>
              <a:gd name="adj3" fmla="val 16667"/>
            </a:avLst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Single embedding size vector.</a:t>
            </a: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1F74E6EE-20A0-9D70-DE59-BB3007B561E7}"/>
              </a:ext>
            </a:extLst>
          </p:cNvPr>
          <p:cNvCxnSpPr/>
          <p:nvPr/>
        </p:nvCxnSpPr>
        <p:spPr>
          <a:xfrm>
            <a:off x="7315200" y="1493756"/>
            <a:ext cx="0" cy="484422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4397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D385A-D658-061C-3FF8-9E8697E85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 Engineering / Context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CA82F-7E87-F33C-678A-4F3E6B9D2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70313" cy="4351338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Design effective natural language instructions (prompts) to guide generative AI models toward desired outputs, such as text, images, or code.</a:t>
            </a:r>
          </a:p>
          <a:p>
            <a:pPr lvl="1"/>
            <a:r>
              <a:rPr lang="en-US" b="1" dirty="0"/>
              <a:t>Zero-shot prompt: </a:t>
            </a:r>
            <a:r>
              <a:rPr lang="en-US" dirty="0"/>
              <a:t>directly instructs the model to perform a task without any additional examples.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Few-Shot Prompting: </a:t>
            </a:r>
            <a:r>
              <a:rPr lang="en-US" dirty="0"/>
              <a:t>Provide demonstrations in the prompt to steer the model to better performance. This is also called “in-context learning”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Chain-of-thought</a:t>
            </a:r>
            <a:r>
              <a:rPr lang="en-US" dirty="0"/>
              <a:t>: solve a problem as a series of intermediate steps before giving a final answer. </a:t>
            </a:r>
            <a:br>
              <a:rPr lang="en-US" dirty="0"/>
            </a:br>
            <a:r>
              <a:rPr lang="en-US" i="1" dirty="0"/>
              <a:t>Note: </a:t>
            </a:r>
            <a:r>
              <a:rPr lang="en-US" dirty="0"/>
              <a:t>Many modern chatbots include chain-of-thought into the system prompt and call this </a:t>
            </a:r>
            <a:r>
              <a:rPr lang="en-US" b="1" dirty="0"/>
              <a:t>reasoning models</a:t>
            </a:r>
            <a:r>
              <a:rPr lang="en-US" dirty="0"/>
              <a:t>!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F77830A-561A-B934-3E00-539C021C23B2}"/>
              </a:ext>
            </a:extLst>
          </p:cNvPr>
          <p:cNvGrpSpPr/>
          <p:nvPr/>
        </p:nvGrpSpPr>
        <p:grpSpPr>
          <a:xfrm>
            <a:off x="8025423" y="2555396"/>
            <a:ext cx="3750089" cy="2959168"/>
            <a:chOff x="8025423" y="2555396"/>
            <a:chExt cx="3750089" cy="295916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506427E-FA4C-2E1F-5B08-A69F783CB207}"/>
                </a:ext>
              </a:extLst>
            </p:cNvPr>
            <p:cNvSpPr txBox="1"/>
            <p:nvPr/>
          </p:nvSpPr>
          <p:spPr>
            <a:xfrm>
              <a:off x="8025424" y="3848090"/>
              <a:ext cx="3750087" cy="73866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400" dirty="0"/>
                <a:t>Review: Loved it! Output: Positive</a:t>
              </a:r>
            </a:p>
            <a:p>
              <a:r>
                <a:rPr lang="en-US" sz="1400" dirty="0"/>
                <a:t>Review: Hated it. Output: Negative</a:t>
              </a:r>
            </a:p>
            <a:p>
              <a:r>
                <a:rPr lang="en-US" sz="1400" dirty="0"/>
                <a:t>Review: It was good. Output: 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3A5546D-5CD6-4509-AB15-DD534CF900AC}"/>
                </a:ext>
              </a:extLst>
            </p:cNvPr>
            <p:cNvSpPr txBox="1"/>
            <p:nvPr/>
          </p:nvSpPr>
          <p:spPr>
            <a:xfrm>
              <a:off x="8025424" y="3044937"/>
              <a:ext cx="3750087" cy="30777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400" dirty="0"/>
                <a:t>6 times 15 minus 3 is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C4D6113-2342-DBC8-C22F-F88114463945}"/>
                </a:ext>
              </a:extLst>
            </p:cNvPr>
            <p:cNvSpPr txBox="1"/>
            <p:nvPr/>
          </p:nvSpPr>
          <p:spPr>
            <a:xfrm>
              <a:off x="8025423" y="4991344"/>
              <a:ext cx="3750087" cy="52322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400" dirty="0"/>
                <a:t>How much is 6 times 15 minus 3? </a:t>
              </a:r>
              <a:r>
                <a:rPr lang="en-US" sz="1400" i="1" dirty="0"/>
                <a:t>Let's think step-by-step.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3CFADBC-5696-A6E2-9E51-ECFA641D0A16}"/>
                </a:ext>
              </a:extLst>
            </p:cNvPr>
            <p:cNvSpPr txBox="1"/>
            <p:nvPr/>
          </p:nvSpPr>
          <p:spPr>
            <a:xfrm>
              <a:off x="8025425" y="2555396"/>
              <a:ext cx="3750087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400" dirty="0"/>
                <a:t>Examples: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83930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10DB1-D016-962B-05B5-14E467C87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Retrieval Augmented Generation (RAG)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7F2F3-19BA-9759-7B24-F24A77190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58640" cy="4351338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RAG combines an information retrieval component with a text generator model.</a:t>
            </a:r>
          </a:p>
          <a:p>
            <a:r>
              <a:rPr lang="en-US" dirty="0"/>
              <a:t>Approach: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RAG takes an input and retrieves a set of relevant/supporting documents given a source (e.g., Wikipedia).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The documents are concatenated as context with the original input prompt and fed to the text generator LLM.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The LLM produces the final output.</a:t>
            </a:r>
          </a:p>
          <a:p>
            <a:endParaRPr lang="en-US" dirty="0"/>
          </a:p>
          <a:p>
            <a:r>
              <a:rPr lang="en-US" dirty="0"/>
              <a:t>This approach can reduce issues with hallucination and introduce information that was not in the training data.</a:t>
            </a:r>
          </a:p>
          <a:p>
            <a:r>
              <a:rPr lang="en-US" dirty="0"/>
              <a:t>Tools: </a:t>
            </a:r>
            <a:r>
              <a:rPr lang="en-US" dirty="0" err="1"/>
              <a:t>LangChain</a:t>
            </a:r>
            <a:r>
              <a:rPr lang="en-US" dirty="0"/>
              <a:t>, </a:t>
            </a:r>
            <a:r>
              <a:rPr lang="en-US" dirty="0" err="1"/>
              <a:t>LambdaIndex</a:t>
            </a:r>
            <a:r>
              <a:rPr lang="en-US" dirty="0"/>
              <a:t>, </a:t>
            </a:r>
            <a:r>
              <a:rPr lang="en-US" dirty="0" err="1"/>
              <a:t>Flowise</a:t>
            </a:r>
            <a:r>
              <a:rPr lang="en-US" dirty="0"/>
              <a:t>,…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0EF5B99-7F95-309B-1CF2-9CA200AF629D}"/>
              </a:ext>
            </a:extLst>
          </p:cNvPr>
          <p:cNvGrpSpPr/>
          <p:nvPr/>
        </p:nvGrpSpPr>
        <p:grpSpPr>
          <a:xfrm>
            <a:off x="5312845" y="1825625"/>
            <a:ext cx="6281189" cy="3563053"/>
            <a:chOff x="5312845" y="1825625"/>
            <a:chExt cx="6281189" cy="356305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23B5F4B-997E-0996-C305-70B36523ADA0}"/>
                </a:ext>
              </a:extLst>
            </p:cNvPr>
            <p:cNvGrpSpPr/>
            <p:nvPr/>
          </p:nvGrpSpPr>
          <p:grpSpPr>
            <a:xfrm>
              <a:off x="5312845" y="1965379"/>
              <a:ext cx="6156960" cy="3243731"/>
              <a:chOff x="5312845" y="1965379"/>
              <a:chExt cx="6156960" cy="3243731"/>
            </a:xfrm>
          </p:grpSpPr>
          <p:pic>
            <p:nvPicPr>
              <p:cNvPr id="1026" name="Picture 2" descr="llamaindex_rag_overview">
                <a:extLst>
                  <a:ext uri="{FF2B5EF4-FFF2-40B4-BE49-F238E27FC236}">
                    <a16:creationId xmlns:a16="http://schemas.microsoft.com/office/drawing/2014/main" id="{732BDF57-20DA-B85C-D52B-C3DF4DFC7D2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312845" y="1965379"/>
                <a:ext cx="6156960" cy="299751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88E5CA6-37FB-00E5-8826-C2474404AB5E}"/>
                  </a:ext>
                </a:extLst>
              </p:cNvPr>
              <p:cNvSpPr txBox="1"/>
              <p:nvPr/>
            </p:nvSpPr>
            <p:spPr>
              <a:xfrm>
                <a:off x="5598082" y="4962889"/>
                <a:ext cx="575571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/>
                  <a:t>Source: </a:t>
                </a:r>
                <a:r>
                  <a:rPr lang="en-US" sz="1000" dirty="0">
                    <a:hlinkClick r:id="rId3"/>
                  </a:rPr>
                  <a:t>https://codingscape.com/blog/rag-101-what-is-rag-and-why-does-it-matter</a:t>
                </a:r>
                <a:r>
                  <a:rPr lang="en-US" sz="1000" dirty="0"/>
                  <a:t> </a:t>
                </a:r>
              </a:p>
            </p:txBody>
          </p:sp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0C3515D-D1E4-C2A4-BFE8-9B360FD83283}"/>
                </a:ext>
              </a:extLst>
            </p:cNvPr>
            <p:cNvSpPr/>
            <p:nvPr/>
          </p:nvSpPr>
          <p:spPr>
            <a:xfrm>
              <a:off x="5312845" y="1825625"/>
              <a:ext cx="6281189" cy="3563053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42212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81EE8-BE9A-D917-529C-02C6E1693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LLMs that use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74EC8-27CC-1E0D-8F02-2C32D1B09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07964" cy="4351338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Enables LLMs to use tools like browsing the web, a calculator, or executing code.</a:t>
            </a:r>
          </a:p>
          <a:p>
            <a:endParaRPr lang="en-US" dirty="0"/>
          </a:p>
          <a:p>
            <a:r>
              <a:rPr lang="en-US" b="1" dirty="0"/>
              <a:t>Training</a:t>
            </a:r>
            <a:r>
              <a:rPr lang="en-US" dirty="0"/>
              <a:t>: LLMs are finetuned using demonstrations of how the tool is correctly used.</a:t>
            </a:r>
          </a:p>
          <a:p>
            <a:endParaRPr lang="en-US" b="1" dirty="0"/>
          </a:p>
          <a:p>
            <a:r>
              <a:rPr lang="en-US" b="1" dirty="0"/>
              <a:t>Execution</a:t>
            </a:r>
            <a:r>
              <a:rPr lang="en-US"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LLM generates a structured output that signals a tool call. E.g.: “browser(http://…”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tool call is intercepted by the surrounding program, and the tool is executed.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tool’s result is returned to the LLM to create the final output.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r>
              <a:rPr lang="en-US" b="1" dirty="0"/>
              <a:t>Frameworks</a:t>
            </a:r>
            <a:r>
              <a:rPr lang="en-US" dirty="0"/>
              <a:t>: </a:t>
            </a:r>
            <a:r>
              <a:rPr lang="en-US" dirty="0" err="1"/>
              <a:t>LangChain</a:t>
            </a:r>
            <a:r>
              <a:rPr lang="en-US" dirty="0"/>
              <a:t>, LangGraph, OpenAI Agents SDK, …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70A259-7857-4CAE-2196-6F0AE7EEDEEA}"/>
              </a:ext>
            </a:extLst>
          </p:cNvPr>
          <p:cNvGrpSpPr/>
          <p:nvPr/>
        </p:nvGrpSpPr>
        <p:grpSpPr>
          <a:xfrm>
            <a:off x="5726243" y="944380"/>
            <a:ext cx="6688923" cy="3774203"/>
            <a:chOff x="5726243" y="944380"/>
            <a:chExt cx="6688923" cy="377420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F49AB2E-5AB0-D019-D397-E5FDF8E5D0CA}"/>
                </a:ext>
              </a:extLst>
            </p:cNvPr>
            <p:cNvGrpSpPr/>
            <p:nvPr/>
          </p:nvGrpSpPr>
          <p:grpSpPr>
            <a:xfrm>
              <a:off x="5726243" y="944380"/>
              <a:ext cx="6688923" cy="3593554"/>
              <a:chOff x="5726243" y="944380"/>
              <a:chExt cx="6688923" cy="3593554"/>
            </a:xfrm>
          </p:grpSpPr>
          <p:pic>
            <p:nvPicPr>
              <p:cNvPr id="2050" name="Picture 2" descr="Comprehensive Guide to Integrating Tools and APIs with Language Models">
                <a:extLst>
                  <a:ext uri="{FF2B5EF4-FFF2-40B4-BE49-F238E27FC236}">
                    <a16:creationId xmlns:a16="http://schemas.microsoft.com/office/drawing/2014/main" id="{2E347DCA-C0D2-CEFE-5B81-EC991D65CAE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726243" y="944380"/>
                <a:ext cx="6688923" cy="359355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A975DA3-83A5-50B9-CB16-0DED99189862}"/>
                  </a:ext>
                </a:extLst>
              </p:cNvPr>
              <p:cNvSpPr txBox="1"/>
              <p:nvPr/>
            </p:nvSpPr>
            <p:spPr>
              <a:xfrm>
                <a:off x="6180859" y="4291713"/>
                <a:ext cx="589961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/>
                  <a:t>Source: </a:t>
                </a:r>
                <a:r>
                  <a:rPr lang="en-US" sz="1000" dirty="0">
                    <a:hlinkClick r:id="rId3"/>
                  </a:rPr>
                  <a:t>https://www.mercity.ai/blog-post/guide-to-integrating-tools-and-apis-with-language-models</a:t>
                </a:r>
                <a:r>
                  <a:rPr lang="en-US" sz="1000" dirty="0"/>
                  <a:t> </a:t>
                </a:r>
              </a:p>
            </p:txBody>
          </p: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ACC561C-9FFA-CE93-AA50-9C86ADC7B693}"/>
                </a:ext>
              </a:extLst>
            </p:cNvPr>
            <p:cNvSpPr/>
            <p:nvPr/>
          </p:nvSpPr>
          <p:spPr>
            <a:xfrm>
              <a:off x="6096000" y="944380"/>
              <a:ext cx="5984471" cy="3774203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486409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16A47-FBB2-0EAE-3680-654EAE7E0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LLMs and Images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50B36-D45A-D14A-30C9-32F7AD51D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Image interpretation: </a:t>
            </a:r>
            <a:r>
              <a:rPr lang="en-US" dirty="0"/>
              <a:t>image as the input</a:t>
            </a:r>
          </a:p>
          <a:p>
            <a:pPr lvl="1"/>
            <a:r>
              <a:rPr lang="en-US" dirty="0"/>
              <a:t>LLMs </a:t>
            </a:r>
            <a:r>
              <a:rPr lang="en-US" b="1" dirty="0"/>
              <a:t>convert visual data into locations in the embedding space </a:t>
            </a:r>
            <a:r>
              <a:rPr lang="en-US" dirty="0"/>
              <a:t>(using image encoders and multimodal alignment). </a:t>
            </a:r>
          </a:p>
          <a:p>
            <a:pPr lvl="1"/>
            <a:r>
              <a:rPr lang="en-US" dirty="0"/>
              <a:t>The location in the embedding space connects the image to tokens. This connection enables LLMs to describe the image.</a:t>
            </a:r>
          </a:p>
          <a:p>
            <a:pPr lvl="1"/>
            <a:r>
              <a:rPr lang="en-US" b="1" dirty="0"/>
              <a:t>Training</a:t>
            </a:r>
            <a:r>
              <a:rPr lang="en-US" dirty="0"/>
              <a:t>: LLMs that process images are usually trained with multimodal datasets and tasks like image-text matching, predicting missing parts of an image, etc.</a:t>
            </a:r>
          </a:p>
          <a:p>
            <a:pPr lvl="1"/>
            <a:endParaRPr lang="en-US" dirty="0"/>
          </a:p>
          <a:p>
            <a:r>
              <a:rPr lang="en-US" b="1" dirty="0"/>
              <a:t>Image generation: </a:t>
            </a:r>
            <a:r>
              <a:rPr lang="en-US" dirty="0"/>
              <a:t>Image as the output</a:t>
            </a:r>
          </a:p>
          <a:p>
            <a:pPr lvl="1"/>
            <a:r>
              <a:rPr lang="en-US" dirty="0"/>
              <a:t>LLMs do not directly generate images.</a:t>
            </a:r>
          </a:p>
          <a:p>
            <a:pPr lvl="1"/>
            <a:r>
              <a:rPr lang="en-US" dirty="0"/>
              <a:t>The LLM is trained to generate a textual description of the desired image and then uses an </a:t>
            </a:r>
            <a:r>
              <a:rPr lang="en-US" b="1" dirty="0"/>
              <a:t>external tool </a:t>
            </a:r>
            <a:r>
              <a:rPr lang="en-US" dirty="0"/>
              <a:t>like a diffusion model (DALL-E, Stable Diffusion, Imagen).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8922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CBB8B-8EE2-CE69-286C-A67838D0E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Argentic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90ACC-CCBF-FBC5-807D-0DE2D285D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An AI solution that uses a set of specially prompted LLM calls. </a:t>
            </a:r>
          </a:p>
          <a:p>
            <a:pPr marL="0" indent="0">
              <a:buNone/>
            </a:pPr>
            <a:r>
              <a:rPr lang="en-US" dirty="0"/>
              <a:t>The solution involves any or all of these:</a:t>
            </a:r>
          </a:p>
          <a:p>
            <a:pPr lvl="1"/>
            <a:r>
              <a:rPr lang="en-US" b="1" dirty="0"/>
              <a:t>Multiple LLM calls</a:t>
            </a:r>
          </a:p>
          <a:p>
            <a:pPr lvl="1"/>
            <a:r>
              <a:rPr lang="en-US" dirty="0"/>
              <a:t>LLMs can use </a:t>
            </a:r>
            <a:r>
              <a:rPr lang="en-US" b="1" dirty="0"/>
              <a:t>tools</a:t>
            </a:r>
            <a:r>
              <a:rPr lang="en-US" dirty="0"/>
              <a:t> (browse the web, access files, etc.) to interact with an environment.</a:t>
            </a:r>
          </a:p>
          <a:p>
            <a:pPr lvl="1"/>
            <a:r>
              <a:rPr lang="en-US" dirty="0"/>
              <a:t>A </a:t>
            </a:r>
            <a:r>
              <a:rPr lang="en-US" b="1" dirty="0"/>
              <a:t>planner</a:t>
            </a:r>
            <a:r>
              <a:rPr lang="en-US" dirty="0"/>
              <a:t> coordinates the activities of the agents: Can be a developer-defined workflow or use an LLM to plan its own.</a:t>
            </a:r>
          </a:p>
          <a:p>
            <a:endParaRPr lang="en-US" dirty="0"/>
          </a:p>
          <a:p>
            <a:r>
              <a:rPr lang="en-US" b="1" dirty="0"/>
              <a:t>Tools</a:t>
            </a:r>
            <a:r>
              <a:rPr lang="en-US" dirty="0"/>
              <a:t>: </a:t>
            </a:r>
            <a:r>
              <a:rPr lang="en-US" dirty="0" err="1"/>
              <a:t>LangChain</a:t>
            </a:r>
            <a:r>
              <a:rPr lang="en-US" dirty="0"/>
              <a:t>, LangGraph, </a:t>
            </a:r>
            <a:r>
              <a:rPr lang="en-US" dirty="0" err="1"/>
              <a:t>CrewAI</a:t>
            </a:r>
            <a:r>
              <a:rPr lang="en-US" dirty="0"/>
              <a:t>, …</a:t>
            </a:r>
          </a:p>
        </p:txBody>
      </p:sp>
    </p:spTree>
    <p:extLst>
      <p:ext uri="{BB962C8B-B14F-4D97-AF65-F5344CB8AC3E}">
        <p14:creationId xmlns:p14="http://schemas.microsoft.com/office/powerpoint/2010/main" val="2802124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6881E-5F00-BA85-6E67-444C24BEB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Argentic AI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C6D2B-6F2F-0E0D-BEBD-E8FBCAAF3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10728" cy="4351338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Prompt chaining</a:t>
            </a:r>
            <a:r>
              <a:rPr lang="en-US" dirty="0"/>
              <a:t>: each step has a focused job, making each LLM query simpler and more accurate.</a:t>
            </a:r>
          </a:p>
          <a:p>
            <a:r>
              <a:rPr lang="en-US" b="1" dirty="0"/>
              <a:t>Routing</a:t>
            </a:r>
            <a:r>
              <a:rPr lang="en-US" dirty="0"/>
              <a:t> is about smartly directing inputs to the right handler (e.g., LLMs trained differently).</a:t>
            </a:r>
          </a:p>
          <a:p>
            <a:r>
              <a:rPr lang="en-US" b="1" dirty="0"/>
              <a:t>Parallelization</a:t>
            </a:r>
            <a:r>
              <a:rPr lang="en-US" dirty="0"/>
              <a:t> lets the agent do multiple things at the same time.</a:t>
            </a:r>
          </a:p>
          <a:p>
            <a:r>
              <a:rPr lang="en-US" b="1" dirty="0"/>
              <a:t>Orchestration</a:t>
            </a:r>
            <a:r>
              <a:rPr lang="en-US" dirty="0"/>
              <a:t>: An agent takes the input, breaks it into sub-tasks on the fly, and then dispatches each subtask to separate “worker” agents.</a:t>
            </a:r>
          </a:p>
          <a:p>
            <a:r>
              <a:rPr lang="en-US" b="1" dirty="0"/>
              <a:t>Evaluator–optimizer </a:t>
            </a:r>
            <a:r>
              <a:rPr lang="en-US" dirty="0"/>
              <a:t>is a feedback loop. One agent generates a solution, and another evaluates it and suggests improvements.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63A999C-CE15-E62E-07BA-C08D46D63F51}"/>
              </a:ext>
            </a:extLst>
          </p:cNvPr>
          <p:cNvGrpSpPr/>
          <p:nvPr/>
        </p:nvGrpSpPr>
        <p:grpSpPr>
          <a:xfrm>
            <a:off x="5093185" y="1690688"/>
            <a:ext cx="7308220" cy="4609385"/>
            <a:chOff x="5093185" y="1369322"/>
            <a:chExt cx="7308220" cy="4609385"/>
          </a:xfrm>
        </p:grpSpPr>
        <p:pic>
          <p:nvPicPr>
            <p:cNvPr id="4098" name="Picture 2">
              <a:extLst>
                <a:ext uri="{FF2B5EF4-FFF2-40B4-BE49-F238E27FC236}">
                  <a16:creationId xmlns:a16="http://schemas.microsoft.com/office/drawing/2014/main" id="{BB5CA5D9-27D7-EC75-EED5-9679B80EE5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35114" y="1369322"/>
              <a:ext cx="6894573" cy="43402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11E0D61-F0EE-6CA7-629D-3EB295A4A9CA}"/>
                </a:ext>
              </a:extLst>
            </p:cNvPr>
            <p:cNvSpPr txBox="1"/>
            <p:nvPr/>
          </p:nvSpPr>
          <p:spPr>
            <a:xfrm>
              <a:off x="5093185" y="5732486"/>
              <a:ext cx="730822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Source: </a:t>
              </a:r>
              <a:r>
                <a:rPr lang="en-US" sz="1000" dirty="0">
                  <a:hlinkClick r:id="rId4"/>
                </a:rPr>
                <a:t>https://pub.towardsai.net/5-design-patterns-in-agentic-ai-workflow-c972c83f77e4</a:t>
              </a:r>
              <a:r>
                <a:rPr lang="en-US" sz="1000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170962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BC9A44-A717-439B-1981-66C6265B0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7858D-C9E0-B5BE-F2EA-BB136826C2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6433"/>
            <a:ext cx="5540115" cy="4866442"/>
          </a:xfrm>
        </p:spPr>
        <p:txBody>
          <a:bodyPr>
            <a:normAutofit fontScale="92500" lnSpcReduction="20000"/>
          </a:bodyPr>
          <a:lstStyle/>
          <a:p>
            <a:r>
              <a:rPr lang="en-US" sz="1400" dirty="0"/>
              <a:t>LLMs are </a:t>
            </a:r>
            <a:r>
              <a:rPr lang="en-US" sz="1400" b="1" dirty="0"/>
              <a:t>knowledge-based agents</a:t>
            </a:r>
            <a:r>
              <a:rPr lang="en-US" sz="1400" dirty="0"/>
              <a:t> trained for the next-word prediction task.</a:t>
            </a:r>
          </a:p>
          <a:p>
            <a:r>
              <a:rPr lang="en-US" sz="1400" dirty="0"/>
              <a:t>LLMs can be fine-tuned for specific purposes (e.g., a chatbot), to </a:t>
            </a:r>
            <a:r>
              <a:rPr lang="en-US" sz="1400" b="1" dirty="0"/>
              <a:t>understand images</a:t>
            </a:r>
            <a:r>
              <a:rPr lang="en-US" sz="1400" dirty="0"/>
              <a:t>, and to </a:t>
            </a:r>
            <a:r>
              <a:rPr lang="en-US" sz="1400" b="1" dirty="0"/>
              <a:t>use tools</a:t>
            </a:r>
            <a:r>
              <a:rPr lang="en-US" sz="1400" dirty="0"/>
              <a:t>.</a:t>
            </a:r>
          </a:p>
          <a:p>
            <a:r>
              <a:rPr lang="en-US" sz="1400" b="1" dirty="0"/>
              <a:t>Prompt engineering </a:t>
            </a:r>
            <a:r>
              <a:rPr lang="en-US" sz="1400" dirty="0"/>
              <a:t>(context engineering) is important to produce better responses from the LLM.</a:t>
            </a:r>
          </a:p>
          <a:p>
            <a:r>
              <a:rPr lang="en-US" sz="1400" b="1" dirty="0"/>
              <a:t>Retrieval Augmented Generation </a:t>
            </a:r>
            <a:r>
              <a:rPr lang="en-US" sz="1400" dirty="0"/>
              <a:t>(RAG) can be used to include information that was not in the training data.</a:t>
            </a:r>
          </a:p>
          <a:p>
            <a:r>
              <a:rPr lang="en-US" sz="1400" b="1" dirty="0"/>
              <a:t>Agentic AI </a:t>
            </a:r>
            <a:r>
              <a:rPr lang="en-US" sz="1400" dirty="0"/>
              <a:t>uses multiple LLM calls to deal with more complicated problems.</a:t>
            </a:r>
          </a:p>
          <a:p>
            <a:endParaRPr lang="en-US" sz="1400" dirty="0"/>
          </a:p>
          <a:p>
            <a:r>
              <a:rPr lang="en-US" sz="1400" dirty="0"/>
              <a:t>Some issues: </a:t>
            </a:r>
          </a:p>
          <a:p>
            <a:pPr lvl="1"/>
            <a:r>
              <a:rPr lang="en-US" sz="1400" b="1" dirty="0"/>
              <a:t>Hallucinations</a:t>
            </a:r>
            <a:r>
              <a:rPr lang="en-US" sz="1400" dirty="0"/>
              <a:t>; the LLM does not say when it is not sure. RAG can help.</a:t>
            </a:r>
          </a:p>
          <a:p>
            <a:pPr lvl="1"/>
            <a:r>
              <a:rPr lang="en-US" sz="1400" b="1" dirty="0"/>
              <a:t>Privacy and data security </a:t>
            </a:r>
            <a:r>
              <a:rPr lang="en-US" sz="1400" dirty="0"/>
              <a:t>when a third party hosts the LLM. Training data can be poisoned.</a:t>
            </a:r>
          </a:p>
          <a:p>
            <a:pPr lvl="1"/>
            <a:r>
              <a:rPr lang="en-US" sz="1400" b="1" dirty="0"/>
              <a:t>Safety</a:t>
            </a:r>
            <a:r>
              <a:rPr lang="en-US" sz="1400" dirty="0"/>
              <a:t>: It is easy to avoid guardrails (i.e., </a:t>
            </a:r>
            <a:r>
              <a:rPr lang="en-US" sz="1400" dirty="0" err="1"/>
              <a:t>jailbrake</a:t>
            </a:r>
            <a:r>
              <a:rPr lang="en-US" sz="1400" dirty="0"/>
              <a:t>) leading to unsafe responses.</a:t>
            </a:r>
          </a:p>
          <a:p>
            <a:pPr lvl="1"/>
            <a:r>
              <a:rPr lang="en-US" sz="1400" dirty="0"/>
              <a:t>LLMs currently have no (or very little</a:t>
            </a:r>
            <a:r>
              <a:rPr lang="en-US" sz="1400" b="1" dirty="0"/>
              <a:t>) common sense</a:t>
            </a:r>
            <a:r>
              <a:rPr lang="en-US" sz="1400" dirty="0"/>
              <a:t>.</a:t>
            </a:r>
          </a:p>
          <a:p>
            <a:pPr lvl="1"/>
            <a:r>
              <a:rPr lang="en-US" sz="1400" dirty="0"/>
              <a:t>LLMs’ performance is influenced by small prompt changes. The results are not very </a:t>
            </a:r>
            <a:r>
              <a:rPr lang="en-US" sz="1400" b="1" dirty="0"/>
              <a:t>dependable</a:t>
            </a:r>
            <a:r>
              <a:rPr lang="en-US" sz="1400" dirty="0"/>
              <a:t>.</a:t>
            </a:r>
          </a:p>
          <a:p>
            <a:pPr lvl="1"/>
            <a:r>
              <a:rPr lang="en-US" sz="1400" b="1" dirty="0"/>
              <a:t>Reasoning</a:t>
            </a:r>
            <a:r>
              <a:rPr lang="en-US" sz="1400" dirty="0"/>
              <a:t> capabilities are very limited. Agentic AI tries to mitigate this issue by focusing on smaller tasks. </a:t>
            </a:r>
          </a:p>
          <a:p>
            <a:endParaRPr lang="en-US" sz="1400" dirty="0"/>
          </a:p>
        </p:txBody>
      </p:sp>
      <p:pic>
        <p:nvPicPr>
          <p:cNvPr id="4" name="Picture 2" descr="Generated image">
            <a:extLst>
              <a:ext uri="{FF2B5EF4-FFF2-40B4-BE49-F238E27FC236}">
                <a16:creationId xmlns:a16="http://schemas.microsoft.com/office/drawing/2014/main" id="{5159A795-6BA6-5020-532B-19E3C55057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16" r="8638"/>
          <a:stretch>
            <a:fillRect/>
          </a:stretch>
        </p:blipFill>
        <p:spPr bwMode="auto"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4023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2C0C88D39C234FAEC96AAE0F671565" ma:contentTypeVersion="14" ma:contentTypeDescription="Create a new document." ma:contentTypeScope="" ma:versionID="aacf67911b4e5100e6e89812ee2bd0a3">
  <xsd:schema xmlns:xsd="http://www.w3.org/2001/XMLSchema" xmlns:xs="http://www.w3.org/2001/XMLSchema" xmlns:p="http://schemas.microsoft.com/office/2006/metadata/properties" xmlns:ns3="49eab711-90d1-4c0f-9775-bfb7f5e5a799" xmlns:ns4="609867d6-2629-4535-86dd-ac3b97a3ffd8" targetNamespace="http://schemas.microsoft.com/office/2006/metadata/properties" ma:root="true" ma:fieldsID="8f1a028f5fcafea802f1bbbd0ccd48f9" ns3:_="" ns4:_="">
    <xsd:import namespace="49eab711-90d1-4c0f-9775-bfb7f5e5a799"/>
    <xsd:import namespace="609867d6-2629-4535-86dd-ac3b97a3ffd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SearchPropertie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eab711-90d1-4c0f-9775-bfb7f5e5a79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8" nillable="true" ma:displayName="Tags" ma:internalName="MediaServiceAutoTags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9867d6-2629-4535-86dd-ac3b97a3ffd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9eab711-90d1-4c0f-9775-bfb7f5e5a79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9830ED9-A146-440C-B934-C557D3AC18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eab711-90d1-4c0f-9775-bfb7f5e5a799"/>
    <ds:schemaRef ds:uri="609867d6-2629-4535-86dd-ac3b97a3ffd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1B526AB-E763-48A9-8676-6358C5544126}">
  <ds:schemaRefs>
    <ds:schemaRef ds:uri="http://purl.org/dc/dcmitype/"/>
    <ds:schemaRef ds:uri="http://schemas.microsoft.com/office/infopath/2007/PartnerControls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609867d6-2629-4535-86dd-ac3b97a3ffd8"/>
    <ds:schemaRef ds:uri="49eab711-90d1-4c0f-9775-bfb7f5e5a799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7EAB5880-6DEB-490E-8068-CD3C9FC7A3F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1795</TotalTime>
  <Words>1821</Words>
  <Application>Microsoft Office PowerPoint</Application>
  <PresentationFormat>Widescreen</PresentationFormat>
  <Paragraphs>215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Cambria Math</vt:lpstr>
      <vt:lpstr>Office Theme</vt:lpstr>
      <vt:lpstr>Large Language Models in AI  A Quick Overview</vt:lpstr>
      <vt:lpstr>Example Conversation With a  Large Language Model (LLM)</vt:lpstr>
      <vt:lpstr>Using Natural Language for Knowledge Representation</vt:lpstr>
      <vt:lpstr>What are LLMs</vt:lpstr>
      <vt:lpstr>How LLMs Understand Text</vt:lpstr>
      <vt:lpstr>Prompts and Generation</vt:lpstr>
      <vt:lpstr>How LLMs Predict the Next Word</vt:lpstr>
      <vt:lpstr>Structure of a GPT-type LLM</vt:lpstr>
      <vt:lpstr>Prompt Engineering / Context Engineering</vt:lpstr>
      <vt:lpstr>Retrieval Augmented Generation (RAG)</vt:lpstr>
      <vt:lpstr>LLMs that use Tools</vt:lpstr>
      <vt:lpstr>LLMs and Images</vt:lpstr>
      <vt:lpstr>Argentic AI</vt:lpstr>
      <vt:lpstr>Argentic AI Strategies</vt:lpstr>
      <vt:lpstr>Conclusion</vt:lpstr>
    </vt:vector>
  </TitlesOfParts>
  <Company>Southern Methodist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Hahsler, Michael</dc:creator>
  <cp:lastModifiedBy>Hahsler, Michael</cp:lastModifiedBy>
  <cp:revision>19</cp:revision>
  <dcterms:created xsi:type="dcterms:W3CDTF">2025-08-31T19:58:19Z</dcterms:created>
  <dcterms:modified xsi:type="dcterms:W3CDTF">2025-11-06T16:53:28Z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0x010100E62C0C88D39C234FAEC96AAE0F671565</vt:lpwstr>
  </property>
</Properties>
</file>