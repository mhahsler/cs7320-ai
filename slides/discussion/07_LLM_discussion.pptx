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817" r:id="rId6"/>
    <p:sldId id="384" r:id="rId7"/>
    <p:sldId id="265" r:id="rId8"/>
    <p:sldId id="264" r:id="rId9"/>
    <p:sldId id="257" r:id="rId10"/>
    <p:sldId id="818" r:id="rId11"/>
    <p:sldId id="819" r:id="rId12"/>
    <p:sldId id="259" r:id="rId13"/>
    <p:sldId id="260" r:id="rId14"/>
    <p:sldId id="258" r:id="rId15"/>
    <p:sldId id="263" r:id="rId16"/>
    <p:sldId id="261" r:id="rId17"/>
    <p:sldId id="262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E11F-0575-E50B-34D2-F98E05FB4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04C4D-475F-F741-5065-DAFC754C1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4D22-AF93-8DE5-A810-7ABB2778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16BDB-54F0-CF25-EE90-DDFD97FD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2D829-4BC3-6F1F-D610-45C3D917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6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27CC-B7CD-3F57-E79F-0D97A50E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EE91-79F1-EF42-D68A-BB4C8585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16854-CCAC-2DF1-963C-96CCB546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97A3-45D5-44C4-93FD-06F694AB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6E5F-4143-346F-44DC-8CA81085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2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5E1C-2AEF-23DF-1B78-D0E30848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2162-A36E-35B3-84B7-E08B50CEC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060E8-4FF5-6D46-99FD-EA6DA455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FF6CE-1B47-5389-0C9A-13732386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49FC7-CCC1-EA48-70CA-91E1E1D4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2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71786-5978-6404-4B8F-39FFD4F2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B5F95-0763-903C-4C21-81B100511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5C9E9-D4F2-D4BC-10CE-2CB46EC77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4E004-2EEA-2EAB-DDA8-18157C9A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4254C-3BE3-33A8-09D9-CF234F74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ACF5C-9111-5150-87D4-266F295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DB51-7431-3EE4-8253-46262E30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3ED2-F2A3-CE4F-3FC2-376DF01E0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09EA7-973C-BE70-251E-9D846BEBC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86C29-F5AB-BB91-FFA5-6A119E831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214A4-3482-23F6-D132-F8569B74A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009A8-33DB-5BAE-40C2-2FB63AA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B8A1B-1EB1-C26E-E5AC-47A65C27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BFED5-B6CD-B0A4-BADF-94BA0CC5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2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615F-F88C-78BF-BE2B-DD24157F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90D99-7411-CA5D-BC49-97D4505F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11277-279F-7CFD-BEC5-900E57D5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3D39-51F2-F10F-5E18-D2AD65F5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A2A0-6CB9-58BF-F510-6656D4C6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378BD-4852-2A79-3729-677E8434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996F9-4CF8-3F00-056F-947F2A7F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1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734F-84B0-7456-6DF9-2F4F95F4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8B42-851A-41B7-C43C-F93DF2CD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96FA6-E60B-C724-5ECE-4ED3FDB82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C097C-5519-6FAE-6526-BD526305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19848-DAA0-E65E-C789-A9DE66CB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5F82B-2835-2DB0-E9CB-8E4F4BF5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D51C-002E-F33E-989F-729A21B0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E53B9-DF4B-F43B-0105-4D54825BA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BE751-3E4E-AE8A-25A3-2FA63B0E1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2FC3E-D8F7-865E-0D9C-03C06408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0DBC3-DE38-DF36-EFFF-BAC43C59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F5E6E-2724-EE76-196C-7B9A8B24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3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92D5-BEAC-3055-5DC1-88403618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B1334-9CF0-802B-FB30-DD2E7AF33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594E2-150E-D5BB-EEF0-40C68C85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4BFBE-55E4-787A-E1DE-6FCB25F9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28E-D8F3-D09A-65F5-3AA99796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5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363AD-EA5C-47FF-8103-277A898E3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6E778-C9A7-5DFA-1B07-B78CF5726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F249-15E2-1A76-1148-82A38D3F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1F0CD-1264-F8A5-B35A-46902C3D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3C52C-3120-2CC4-E08C-E1E6FC31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5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68D48-98D0-7449-BC1C-0F45CCBB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1D19-007A-1C90-E185-941AD683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F36D-BA6D-86F4-0337-644EE4BAA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F861B-2947-4E74-AAE0-E351222E9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F287F-029D-259C-3F9F-8A6A12F43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CCBB-B80F-70CB-76CB-BE3A58A9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sa/4.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model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0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1.png"/><Relationship Id="rId10" Type="http://schemas.openxmlformats.org/officeDocument/2006/relationships/image" Target="../media/image11.png"/><Relationship Id="rId4" Type="http://schemas.openxmlformats.org/officeDocument/2006/relationships/image" Target="../media/image60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ingscape.com/blog/rag-101-what-is-rag-and-why-does-it-matter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city.ai/blog-post/guide-to-integrating-tools-and-apis-with-language-model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.towardsai.net/5-design-patterns-in-agentic-ai-workflow-c972c83f77e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1CF30-D3C0-4708-9510-74AEDF060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sz="5600" dirty="0"/>
              <a:t>Large Language Models in AI</a:t>
            </a:r>
            <a:br>
              <a:rPr lang="en-US" sz="5600" dirty="0"/>
            </a:br>
            <a:br>
              <a:rPr lang="en-US" sz="5600" dirty="0"/>
            </a:br>
            <a:r>
              <a:rPr lang="en-US" sz="4000" dirty="0"/>
              <a:t>A Quick Overview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3BF45-B5B0-CA61-0415-BAE832328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/>
              <a:t>Michael Hahsler</a:t>
            </a:r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55" name="Freeform: Shape 615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57" name="Freeform: Shape 615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61" name="Freeform: Shape 616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146" name="Picture 2" descr="Generated image">
            <a:extLst>
              <a:ext uri="{FF2B5EF4-FFF2-40B4-BE49-F238E27FC236}">
                <a16:creationId xmlns:a16="http://schemas.microsoft.com/office/drawing/2014/main" id="{98EBD320-9526-EE53-EE65-F6CE90BA3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3" name="Freeform: Shape 616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699D8E-D1D9-AB62-011A-F01233A3D365}"/>
              </a:ext>
            </a:extLst>
          </p:cNvPr>
          <p:cNvGrpSpPr/>
          <p:nvPr/>
        </p:nvGrpSpPr>
        <p:grpSpPr>
          <a:xfrm>
            <a:off x="331177" y="6241010"/>
            <a:ext cx="3907906" cy="430887"/>
            <a:chOff x="328815" y="6324600"/>
            <a:chExt cx="3907906" cy="4308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A5CC-9DBF-D632-60D7-9E3408B7D0DD}"/>
                </a:ext>
              </a:extLst>
            </p:cNvPr>
            <p:cNvSpPr txBox="1"/>
            <p:nvPr/>
          </p:nvSpPr>
          <p:spPr>
            <a:xfrm>
              <a:off x="1219200" y="6324600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effectLst/>
                  <a:latin typeface="Calibri" panose="020F0502020204030204" pitchFamily="34" charset="0"/>
                </a:rPr>
                <a:t>.</a:t>
              </a:r>
              <a:endParaRPr lang="en-US" sz="1100" dirty="0"/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A67B341-BD8F-947F-8EDF-E838830CC0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815" y="6396460"/>
              <a:ext cx="888838" cy="31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8E1C6AC-A4EC-3B5D-0EF2-4F4F4517B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51171" y="5134418"/>
            <a:ext cx="1209652" cy="1440289"/>
            <a:chOff x="7162800" y="4191000"/>
            <a:chExt cx="1676400" cy="1981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DD43D1-C3A5-4C24-65EC-B12A7F838B90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46961BC6-AA6B-2A59-D9BF-4FC6D4C5D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1C863D-B6A8-D2D1-D952-511A07BAC193}"/>
                </a:ext>
              </a:extLst>
            </p:cNvPr>
            <p:cNvSpPr/>
            <p:nvPr/>
          </p:nvSpPr>
          <p:spPr>
            <a:xfrm>
              <a:off x="7162800" y="5812970"/>
              <a:ext cx="1664628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900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DFAD8B-23D0-075A-F5B7-9F03B16C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334644"/>
            <a:ext cx="7882128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dirty="0"/>
              <a:t>Example Conversation With a </a:t>
            </a:r>
            <a:br>
              <a:rPr lang="en-US" sz="3500" dirty="0"/>
            </a:br>
            <a:r>
              <a:rPr lang="en-US" sz="3500" dirty="0"/>
              <a:t>Large Language Model (LLM)</a:t>
            </a:r>
          </a:p>
        </p:txBody>
      </p:sp>
      <p:pic>
        <p:nvPicPr>
          <p:cNvPr id="5" name="Content Placeholder 4" descr="A conversation with ChatGPT about helping with homwork.">
            <a:extLst>
              <a:ext uri="{FF2B5EF4-FFF2-40B4-BE49-F238E27FC236}">
                <a16:creationId xmlns:a16="http://schemas.microsoft.com/office/drawing/2014/main" id="{DDE0DF8D-9589-133F-308C-71BE1080A7F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372" y="1737361"/>
            <a:ext cx="6013501" cy="425033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012055-8E42-642E-D4EA-190E3B5DD662}"/>
              </a:ext>
            </a:extLst>
          </p:cNvPr>
          <p:cNvSpPr txBox="1"/>
          <p:nvPr/>
        </p:nvSpPr>
        <p:spPr>
          <a:xfrm>
            <a:off x="4295069" y="5660778"/>
            <a:ext cx="834554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8096">
              <a:spcAft>
                <a:spcPts val="600"/>
              </a:spcAft>
            </a:pPr>
            <a:r>
              <a:rPr lang="en-US" sz="2016"/>
              <a:t>…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58E27-976D-88FE-940C-02BFA855B1F2}"/>
              </a:ext>
            </a:extLst>
          </p:cNvPr>
          <p:cNvSpPr txBox="1"/>
          <p:nvPr/>
        </p:nvSpPr>
        <p:spPr>
          <a:xfrm>
            <a:off x="6349356" y="6013490"/>
            <a:ext cx="3402414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8096">
              <a:spcAft>
                <a:spcPts val="600"/>
              </a:spcAft>
            </a:pPr>
            <a:r>
              <a:rPr lang="en-US" sz="1176"/>
              <a:t>Source: </a:t>
            </a:r>
            <a:r>
              <a:rPr lang="en-US" sz="1176">
                <a:hlinkClick r:id="rId3"/>
              </a:rPr>
              <a:t>https://chat.openai.com/</a:t>
            </a:r>
            <a:r>
              <a:rPr lang="en-US" sz="1176"/>
              <a:t> </a:t>
            </a:r>
            <a:endParaRPr lang="en-US" sz="140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9DFBAD7D-77A1-6AFF-0C81-2651AFAE54AF}"/>
              </a:ext>
            </a:extLst>
          </p:cNvPr>
          <p:cNvSpPr/>
          <p:nvPr/>
        </p:nvSpPr>
        <p:spPr>
          <a:xfrm>
            <a:off x="8648409" y="3783243"/>
            <a:ext cx="495591" cy="2142907"/>
          </a:xfrm>
          <a:prstGeom prst="righ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E5D93-7548-9ED3-6254-6F28AA677C1A}"/>
              </a:ext>
            </a:extLst>
          </p:cNvPr>
          <p:cNvSpPr txBox="1"/>
          <p:nvPr/>
        </p:nvSpPr>
        <p:spPr>
          <a:xfrm>
            <a:off x="9381325" y="4200102"/>
            <a:ext cx="1891622" cy="120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knowledge has to come from somewhere!</a:t>
            </a:r>
          </a:p>
        </p:txBody>
      </p:sp>
    </p:spTree>
    <p:extLst>
      <p:ext uri="{BB962C8B-B14F-4D97-AF65-F5344CB8AC3E}">
        <p14:creationId xmlns:p14="http://schemas.microsoft.com/office/powerpoint/2010/main" val="95515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C578-9625-44B8-AF64-9CEF4228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65127"/>
            <a:ext cx="8153400" cy="558076"/>
          </a:xfrm>
        </p:spPr>
        <p:txBody>
          <a:bodyPr>
            <a:normAutofit/>
          </a:bodyPr>
          <a:lstStyle/>
          <a:p>
            <a:r>
              <a:rPr lang="en-US" sz="2800" dirty="0"/>
              <a:t>Using Natural Language for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65D05-68B7-4A70-8C8D-AFBC2F08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4918847"/>
            <a:ext cx="7886700" cy="161292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user formulates a question about the real world as a natural language </a:t>
            </a:r>
            <a:r>
              <a:rPr lang="en-US" b="1" dirty="0"/>
              <a:t>prompt</a:t>
            </a:r>
            <a:r>
              <a:rPr lang="en-US" dirty="0"/>
              <a:t> (a sequence of tokens).</a:t>
            </a:r>
          </a:p>
          <a:p>
            <a:r>
              <a:rPr lang="en-US" dirty="0"/>
              <a:t>The LLM </a:t>
            </a:r>
            <a:r>
              <a:rPr lang="en-US" b="1" dirty="0"/>
              <a:t>generates text </a:t>
            </a:r>
            <a:r>
              <a:rPr lang="en-US" dirty="0"/>
              <a:t>using a pretrained model that represents its knowledge base.</a:t>
            </a:r>
          </a:p>
          <a:p>
            <a:r>
              <a:rPr lang="en-US" dirty="0"/>
              <a:t>The text (hopefully) is useful in the real world. The </a:t>
            </a:r>
            <a:r>
              <a:rPr lang="en-US" b="1" dirty="0"/>
              <a:t>objective function </a:t>
            </a:r>
            <a:r>
              <a:rPr lang="en-US" dirty="0"/>
              <a:t>is not clear. Maybe it is implied in the prompt?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855321-8D1D-90A5-586C-7D82C0312A11}"/>
              </a:ext>
            </a:extLst>
          </p:cNvPr>
          <p:cNvGrpSpPr/>
          <p:nvPr/>
        </p:nvGrpSpPr>
        <p:grpSpPr>
          <a:xfrm>
            <a:off x="1828800" y="1105360"/>
            <a:ext cx="8458200" cy="3813486"/>
            <a:chOff x="304800" y="1105360"/>
            <a:chExt cx="8458200" cy="3813486"/>
          </a:xfrm>
        </p:grpSpPr>
        <p:grpSp>
          <p:nvGrpSpPr>
            <p:cNvPr id="5" name="Group 4" descr="A diagram showing how LLMs fit the structure knowledge representation used by knowledge-based agents.">
              <a:extLst>
                <a:ext uri="{FF2B5EF4-FFF2-40B4-BE49-F238E27FC236}">
                  <a16:creationId xmlns:a16="http://schemas.microsoft.com/office/drawing/2014/main" id="{B266BC1B-424E-E5E2-C00B-C85CCB7C6F6F}"/>
                </a:ext>
              </a:extLst>
            </p:cNvPr>
            <p:cNvGrpSpPr/>
            <p:nvPr/>
          </p:nvGrpSpPr>
          <p:grpSpPr>
            <a:xfrm>
              <a:off x="304800" y="1105360"/>
              <a:ext cx="8458200" cy="3813486"/>
              <a:chOff x="304800" y="1105360"/>
              <a:chExt cx="8458200" cy="381348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BF91B6D-86A1-4EC3-86B7-31180718A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4800" y="2020164"/>
                <a:ext cx="8458200" cy="2792908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7C76E13-1940-4A02-9752-8E2F6CD8EA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0792" y="2562548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Flowchart: Multidocument 13">
                <a:extLst>
                  <a:ext uri="{FF2B5EF4-FFF2-40B4-BE49-F238E27FC236}">
                    <a16:creationId xmlns:a16="http://schemas.microsoft.com/office/drawing/2014/main" id="{587D664C-62DD-B249-E25E-723233B2179A}"/>
                  </a:ext>
                </a:extLst>
              </p:cNvPr>
              <p:cNvSpPr/>
              <p:nvPr/>
            </p:nvSpPr>
            <p:spPr>
              <a:xfrm>
                <a:off x="2929292" y="3039254"/>
                <a:ext cx="1143000" cy="610191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Prompts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7D32E6D-586F-B355-E331-F1089D35FE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6704" y="3649445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7" name="Flowchart: Multidocument 16">
                <a:extLst>
                  <a:ext uri="{FF2B5EF4-FFF2-40B4-BE49-F238E27FC236}">
                    <a16:creationId xmlns:a16="http://schemas.microsoft.com/office/drawing/2014/main" id="{D4139DBB-ACD7-C8DA-CB8D-D19E855EB49C}"/>
                  </a:ext>
                </a:extLst>
              </p:cNvPr>
              <p:cNvSpPr/>
              <p:nvPr/>
            </p:nvSpPr>
            <p:spPr>
              <a:xfrm>
                <a:off x="5861235" y="2857772"/>
                <a:ext cx="1143000" cy="903574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Text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7A8A1B-AF90-62D1-5F1B-1F50136C3B7C}"/>
                  </a:ext>
                </a:extLst>
              </p:cNvPr>
              <p:cNvSpPr txBox="1"/>
              <p:nvPr/>
            </p:nvSpPr>
            <p:spPr>
              <a:xfrm>
                <a:off x="4136197" y="2606150"/>
                <a:ext cx="1270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Generates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E970966-C578-FE62-E5B4-343595585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3696493"/>
                <a:ext cx="0" cy="3898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649024D-198D-0681-81BD-6BE64DAD75A7}"/>
                  </a:ext>
                </a:extLst>
              </p:cNvPr>
              <p:cNvGrpSpPr/>
              <p:nvPr/>
            </p:nvGrpSpPr>
            <p:grpSpPr>
              <a:xfrm>
                <a:off x="4136197" y="2400536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C19A48D-5C1C-807E-C6A8-7757A8BA99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6DBA013-DF20-0788-AE43-DE9F38386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Flowchart: Magnetic Disk 5">
                <a:extLst>
                  <a:ext uri="{FF2B5EF4-FFF2-40B4-BE49-F238E27FC236}">
                    <a16:creationId xmlns:a16="http://schemas.microsoft.com/office/drawing/2014/main" id="{3C351FF7-F61B-1563-9441-F70A4B3FD7C1}"/>
                  </a:ext>
                </a:extLst>
              </p:cNvPr>
              <p:cNvSpPr/>
              <p:nvPr/>
            </p:nvSpPr>
            <p:spPr>
              <a:xfrm>
                <a:off x="964414" y="2190097"/>
                <a:ext cx="757533" cy="533400"/>
              </a:xfrm>
              <a:prstGeom prst="flowChartMagneticDisk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KB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61D950E-E7EF-DC8A-C21E-B0E434EC17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2514600"/>
                <a:ext cx="10391" cy="2943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4CB2650-18BF-5E77-72FF-746A963C41EB}"/>
                  </a:ext>
                </a:extLst>
              </p:cNvPr>
              <p:cNvGrpSpPr/>
              <p:nvPr/>
            </p:nvGrpSpPr>
            <p:grpSpPr>
              <a:xfrm>
                <a:off x="4072292" y="4334377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DB55F67-8628-B3C2-DD28-003667B6C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B43803D-A81E-4123-00F0-7D67D1A0C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9567E1-1F33-CD80-A6FF-2B7E24C4BB52}"/>
                  </a:ext>
                </a:extLst>
              </p:cNvPr>
              <p:cNvSpPr txBox="1"/>
              <p:nvPr/>
            </p:nvSpPr>
            <p:spPr>
              <a:xfrm>
                <a:off x="4278703" y="4549514"/>
                <a:ext cx="991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Useful?</a:t>
                </a:r>
              </a:p>
            </p:txBody>
          </p:sp>
          <p:sp>
            <p:nvSpPr>
              <p:cNvPr id="32" name="Speech Bubble: Rectangle with Corners Rounded 31">
                <a:extLst>
                  <a:ext uri="{FF2B5EF4-FFF2-40B4-BE49-F238E27FC236}">
                    <a16:creationId xmlns:a16="http://schemas.microsoft.com/office/drawing/2014/main" id="{3B77A4D0-1B69-8099-AA4C-9EE2F0618A4C}"/>
                  </a:ext>
                </a:extLst>
              </p:cNvPr>
              <p:cNvSpPr/>
              <p:nvPr/>
            </p:nvSpPr>
            <p:spPr>
              <a:xfrm>
                <a:off x="762000" y="1105360"/>
                <a:ext cx="3810000" cy="936173"/>
              </a:xfrm>
              <a:prstGeom prst="wedgeRoundRectCallout">
                <a:avLst>
                  <a:gd name="adj1" fmla="val -36361"/>
                  <a:gd name="adj2" fmla="val 75333"/>
                  <a:gd name="adj3" fmla="val 16667"/>
                </a:avLst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Pretrained model knows words relationship, grammar, and facts stored as parameters in a network.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26C09F6-1C95-E0CD-22D8-7F75C715994B}"/>
                </a:ext>
              </a:extLst>
            </p:cNvPr>
            <p:cNvCxnSpPr>
              <a:cxnSpLocks/>
            </p:cNvCxnSpPr>
            <p:nvPr/>
          </p:nvCxnSpPr>
          <p:spPr>
            <a:xfrm>
              <a:off x="3969223" y="2286000"/>
              <a:ext cx="180418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3B9826D5-DE6B-1048-5906-6CE912E7E20E}"/>
              </a:ext>
            </a:extLst>
          </p:cNvPr>
          <p:cNvSpPr/>
          <p:nvPr/>
        </p:nvSpPr>
        <p:spPr>
          <a:xfrm>
            <a:off x="9341015" y="971980"/>
            <a:ext cx="2036634" cy="866027"/>
          </a:xfrm>
          <a:prstGeom prst="borderCallout1">
            <a:avLst>
              <a:gd name="adj1" fmla="val 18750"/>
              <a:gd name="adj2" fmla="val -8333"/>
              <a:gd name="adj3" fmla="val 173756"/>
              <a:gd name="adj4" fmla="val -290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Modified version of knowledge represented using logic.</a:t>
            </a:r>
          </a:p>
        </p:txBody>
      </p:sp>
    </p:spTree>
    <p:extLst>
      <p:ext uri="{BB962C8B-B14F-4D97-AF65-F5344CB8AC3E}">
        <p14:creationId xmlns:p14="http://schemas.microsoft.com/office/powerpoint/2010/main" val="314855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0B0C-8C88-A326-0005-27E45A05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030C7-EEBD-36D9-F88D-79F8CB22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5702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Large language models are </a:t>
            </a:r>
            <a:r>
              <a:rPr lang="en-US" b="1" dirty="0"/>
              <a:t>knowledge-based agents</a:t>
            </a:r>
            <a:r>
              <a:rPr lang="en-US" dirty="0"/>
              <a:t>.</a:t>
            </a:r>
          </a:p>
          <a:p>
            <a:r>
              <a:rPr lang="en-US" dirty="0"/>
              <a:t>The knowledge base is a large, deep artificial neural network using the </a:t>
            </a:r>
            <a:r>
              <a:rPr lang="en-US" b="1" dirty="0"/>
              <a:t>transformer architecture</a:t>
            </a:r>
            <a:r>
              <a:rPr lang="en-US" dirty="0"/>
              <a:t>.</a:t>
            </a:r>
          </a:p>
          <a:p>
            <a:r>
              <a:rPr lang="en-US" dirty="0"/>
              <a:t>The model is </a:t>
            </a:r>
            <a:r>
              <a:rPr lang="en-US" b="1" dirty="0"/>
              <a:t>pretrained</a:t>
            </a:r>
            <a:r>
              <a:rPr lang="en-US" dirty="0"/>
              <a:t> for the task of predicting the next word using self-supervised learning on a large text corpus.</a:t>
            </a:r>
          </a:p>
          <a:p>
            <a:r>
              <a:rPr lang="en-US" dirty="0"/>
              <a:t>The pretrained model is specialized for a specific task using </a:t>
            </a:r>
            <a:r>
              <a:rPr lang="en-US" b="1" dirty="0"/>
              <a:t>fine-tuning </a:t>
            </a:r>
            <a:r>
              <a:rPr lang="en-US" dirty="0"/>
              <a:t>on examples. For chatbots, this includes</a:t>
            </a:r>
          </a:p>
          <a:p>
            <a:pPr lvl="1"/>
            <a:r>
              <a:rPr lang="en-US" dirty="0"/>
              <a:t>supervised instruction training followed by </a:t>
            </a:r>
          </a:p>
          <a:p>
            <a:pPr lvl="1"/>
            <a:r>
              <a:rPr lang="en-US" dirty="0"/>
              <a:t>reinforcement learning from human feedback (RLHF).</a:t>
            </a:r>
          </a:p>
          <a:p>
            <a:r>
              <a:rPr lang="en-US" dirty="0"/>
              <a:t>The model can generate text following a “</a:t>
            </a:r>
            <a:r>
              <a:rPr lang="en-US" b="1" dirty="0"/>
              <a:t>prompt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5E9B1-B9E3-2281-2617-F9501FC4074B}"/>
              </a:ext>
            </a:extLst>
          </p:cNvPr>
          <p:cNvSpPr txBox="1"/>
          <p:nvPr/>
        </p:nvSpPr>
        <p:spPr>
          <a:xfrm>
            <a:off x="6707045" y="5665404"/>
            <a:ext cx="4570778" cy="5847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Pretrained models can be downloaded from </a:t>
            </a:r>
            <a:br>
              <a:rPr lang="en-US" sz="1600" dirty="0"/>
            </a:br>
            <a:r>
              <a:rPr lang="en-US" sz="1600" dirty="0"/>
              <a:t>Hugging Face: </a:t>
            </a:r>
            <a:r>
              <a:rPr lang="en-US" sz="1600" dirty="0">
                <a:hlinkClick r:id="rId2"/>
              </a:rPr>
              <a:t>https://huggingface.co/models</a:t>
            </a:r>
            <a:r>
              <a:rPr lang="en-US" sz="1600" dirty="0"/>
              <a:t>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5E9DC1-3194-820E-AFED-41E003397F77}"/>
              </a:ext>
            </a:extLst>
          </p:cNvPr>
          <p:cNvGrpSpPr/>
          <p:nvPr/>
        </p:nvGrpSpPr>
        <p:grpSpPr>
          <a:xfrm>
            <a:off x="6193393" y="1825625"/>
            <a:ext cx="5598083" cy="2792061"/>
            <a:chOff x="6184415" y="307127"/>
            <a:chExt cx="5598083" cy="279206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1E30F4-E7A2-2D6F-68AD-8FCC1355D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397232" y="389014"/>
              <a:ext cx="5310676" cy="2233067"/>
              <a:chOff x="721548" y="1293003"/>
              <a:chExt cx="9322045" cy="244079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7B166E-6650-5C7E-6475-982052BE6823}"/>
                  </a:ext>
                </a:extLst>
              </p:cNvPr>
              <p:cNvSpPr/>
              <p:nvPr/>
            </p:nvSpPr>
            <p:spPr bwMode="auto">
              <a:xfrm>
                <a:off x="838200" y="3200400"/>
                <a:ext cx="2667000" cy="5334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/>
                  <a:t>Text Generator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EB4A527-E206-ED61-B3CD-4DDE80C6039C}"/>
                  </a:ext>
                </a:extLst>
              </p:cNvPr>
              <p:cNvCxnSpPr/>
              <p:nvPr/>
            </p:nvCxnSpPr>
            <p:spPr bwMode="auto">
              <a:xfrm>
                <a:off x="3733800" y="3427412"/>
                <a:ext cx="1447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E9069E-79EE-024A-5D98-E6B639242A35}"/>
                  </a:ext>
                </a:extLst>
              </p:cNvPr>
              <p:cNvSpPr/>
              <p:nvPr/>
            </p:nvSpPr>
            <p:spPr>
              <a:xfrm>
                <a:off x="5098576" y="3296153"/>
                <a:ext cx="4037878" cy="2859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accent2"/>
                    </a:solidFill>
                  </a:rPr>
                  <a:t>Domain-independent algorithms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D29FEEFB-C953-971D-4C28-1FC450C13B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695701" y="2754478"/>
                <a:ext cx="979810" cy="433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C69019-DFE1-8C4D-BE7D-F157310CB670}"/>
                  </a:ext>
                </a:extLst>
              </p:cNvPr>
              <p:cNvSpPr/>
              <p:nvPr/>
            </p:nvSpPr>
            <p:spPr>
              <a:xfrm>
                <a:off x="5592146" y="2841273"/>
                <a:ext cx="4151686" cy="2775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50" b="0" dirty="0"/>
                  <a:t>Domain-specific content </a:t>
                </a:r>
                <a:r>
                  <a:rPr lang="en-US" sz="1050" dirty="0"/>
                  <a:t>(fine tuning)</a:t>
                </a:r>
              </a:p>
            </p:txBody>
          </p:sp>
          <p:sp>
            <p:nvSpPr>
              <p:cNvPr id="10" name="Cylinder 9">
                <a:extLst>
                  <a:ext uri="{FF2B5EF4-FFF2-40B4-BE49-F238E27FC236}">
                    <a16:creationId xmlns:a16="http://schemas.microsoft.com/office/drawing/2014/main" id="{82A32D59-CB64-0336-B845-565DFD77707B}"/>
                  </a:ext>
                </a:extLst>
              </p:cNvPr>
              <p:cNvSpPr/>
              <p:nvPr/>
            </p:nvSpPr>
            <p:spPr>
              <a:xfrm>
                <a:off x="1215794" y="2267103"/>
                <a:ext cx="1780185" cy="1014123"/>
              </a:xfrm>
              <a:prstGeom prst="can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dirty="0"/>
                  <a:t>Knowledge base</a:t>
                </a:r>
                <a:endParaRPr lang="en-US" sz="1200" b="1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2C718-0081-8C9B-EA31-A3FE5D924D7B}"/>
                  </a:ext>
                </a:extLst>
              </p:cNvPr>
              <p:cNvSpPr txBox="1"/>
              <p:nvPr/>
            </p:nvSpPr>
            <p:spPr>
              <a:xfrm>
                <a:off x="5098576" y="2463942"/>
                <a:ext cx="4945017" cy="27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solidFill>
                      <a:schemeClr val="accent2"/>
                    </a:solidFill>
                  </a:rPr>
                  <a:t>Domain-independent content </a:t>
                </a:r>
                <a:r>
                  <a:rPr lang="en-US" sz="1050" dirty="0"/>
                  <a:t>(pre-training)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7EAD63-2473-E433-9FDB-7ACB2C977FB9}"/>
                  </a:ext>
                </a:extLst>
              </p:cNvPr>
              <p:cNvSpPr txBox="1"/>
              <p:nvPr/>
            </p:nvSpPr>
            <p:spPr>
              <a:xfrm>
                <a:off x="6936744" y="2612234"/>
                <a:ext cx="521236" cy="370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+</a:t>
                </a:r>
              </a:p>
            </p:txBody>
          </p:sp>
          <p:sp>
            <p:nvSpPr>
              <p:cNvPr id="13" name="Speech Bubble: Rectangle with Corners Rounded 12">
                <a:extLst>
                  <a:ext uri="{FF2B5EF4-FFF2-40B4-BE49-F238E27FC236}">
                    <a16:creationId xmlns:a16="http://schemas.microsoft.com/office/drawing/2014/main" id="{7BB4B066-1E33-EB5C-EACF-172F43A7FE98}"/>
                  </a:ext>
                </a:extLst>
              </p:cNvPr>
              <p:cNvSpPr/>
              <p:nvPr/>
            </p:nvSpPr>
            <p:spPr>
              <a:xfrm>
                <a:off x="721548" y="1293003"/>
                <a:ext cx="5058154" cy="669640"/>
              </a:xfrm>
              <a:prstGeom prst="wedgeRoundRectCallout">
                <a:avLst>
                  <a:gd name="adj1" fmla="val -18704"/>
                  <a:gd name="adj2" fmla="val 114087"/>
                  <a:gd name="adj3" fmla="val 16667"/>
                </a:avLst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Learned word relationships, grammar, facts, and how to answer questions.</a:t>
                </a:r>
              </a:p>
            </p:txBody>
          </p:sp>
          <p:sp>
            <p:nvSpPr>
              <p:cNvPr id="14" name="Left Brace 13">
                <a:extLst>
                  <a:ext uri="{FF2B5EF4-FFF2-40B4-BE49-F238E27FC236}">
                    <a16:creationId xmlns:a16="http://schemas.microsoft.com/office/drawing/2014/main" id="{30BF9769-02A9-A9B4-5F1D-0FA3403D9665}"/>
                  </a:ext>
                </a:extLst>
              </p:cNvPr>
              <p:cNvSpPr/>
              <p:nvPr/>
            </p:nvSpPr>
            <p:spPr>
              <a:xfrm>
                <a:off x="4912276" y="2398637"/>
                <a:ext cx="108171" cy="711685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4078DD-28E2-B8AF-CA37-A203043042A2}"/>
                </a:ext>
              </a:extLst>
            </p:cNvPr>
            <p:cNvSpPr txBox="1"/>
            <p:nvPr/>
          </p:nvSpPr>
          <p:spPr>
            <a:xfrm>
              <a:off x="7612709" y="2709578"/>
              <a:ext cx="27418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LLM as a knowledge-based agent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1610E8B-7B14-5BBE-9586-6B148F7AD098}"/>
                </a:ext>
              </a:extLst>
            </p:cNvPr>
            <p:cNvSpPr/>
            <p:nvPr/>
          </p:nvSpPr>
          <p:spPr>
            <a:xfrm>
              <a:off x="6184415" y="307127"/>
              <a:ext cx="5598083" cy="279206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84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FA10-D4CE-3C52-F4BD-BE3E7398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LLMs Understand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9801-C8CF-5519-CF41-BEDB62A10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46626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LLMs can only compute with numbers!</a:t>
            </a:r>
          </a:p>
          <a:p>
            <a:endParaRPr lang="en-US" dirty="0"/>
          </a:p>
          <a:p>
            <a:r>
              <a:rPr lang="en-US" dirty="0"/>
              <a:t>Prompts are converted into numbers: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Tokenization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Text is converted into a sequence of tokens (ids). </a:t>
            </a:r>
          </a:p>
          <a:p>
            <a:pPr lvl="2"/>
            <a:r>
              <a:rPr lang="en-US" dirty="0"/>
              <a:t>Tokens represent words, parts of words, parts of numbers,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Embedding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Tokes are converted to large vectors indicating a position in a high-dimensional space called the embedding space. </a:t>
            </a:r>
          </a:p>
          <a:p>
            <a:pPr lvl="2"/>
            <a:r>
              <a:rPr lang="en-US" dirty="0"/>
              <a:t>Positions in this space have meaning.</a:t>
            </a:r>
          </a:p>
          <a:p>
            <a:endParaRPr lang="en-US" dirty="0"/>
          </a:p>
          <a:p>
            <a:r>
              <a:rPr lang="en-US" dirty="0"/>
              <a:t>Computation is done by calculations (moving around) in the embedding space.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New words are generated from resulting vectors by learning a function that maps vectors back to tokens.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879D49-1DC0-9973-934B-90D098D317D3}"/>
              </a:ext>
            </a:extLst>
          </p:cNvPr>
          <p:cNvGrpSpPr/>
          <p:nvPr/>
        </p:nvGrpSpPr>
        <p:grpSpPr>
          <a:xfrm>
            <a:off x="8067207" y="2590123"/>
            <a:ext cx="3877456" cy="3166139"/>
            <a:chOff x="8112177" y="1825625"/>
            <a:chExt cx="3877456" cy="3166139"/>
          </a:xfrm>
        </p:grpSpPr>
        <p:pic>
          <p:nvPicPr>
            <p:cNvPr id="5122" name="Picture 2" descr="From Words to Vectors: Understanding Word2Vec in NLP">
              <a:extLst>
                <a:ext uri="{FF2B5EF4-FFF2-40B4-BE49-F238E27FC236}">
                  <a16:creationId xmlns:a16="http://schemas.microsoft.com/office/drawing/2014/main" id="{0639C443-65B5-49F3-F42E-9C7253516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2177" y="1825625"/>
              <a:ext cx="3877456" cy="2908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933749-B8D1-DAE5-13EB-B07CB562E8F6}"/>
                </a:ext>
              </a:extLst>
            </p:cNvPr>
            <p:cNvSpPr txBox="1"/>
            <p:nvPr/>
          </p:nvSpPr>
          <p:spPr>
            <a:xfrm>
              <a:off x="8385287" y="4745543"/>
              <a:ext cx="333123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Source: https://zilliz.com/glossary/word2vec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B3ABC39-3DB7-3F72-2BE3-A931C82B666E}"/>
              </a:ext>
            </a:extLst>
          </p:cNvPr>
          <p:cNvSpPr txBox="1"/>
          <p:nvPr/>
        </p:nvSpPr>
        <p:spPr>
          <a:xfrm>
            <a:off x="8094162" y="2128947"/>
            <a:ext cx="387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Natural Language Processing (NLP)</a:t>
            </a:r>
          </a:p>
        </p:txBody>
      </p:sp>
    </p:spTree>
    <p:extLst>
      <p:ext uri="{BB962C8B-B14F-4D97-AF65-F5344CB8AC3E}">
        <p14:creationId xmlns:p14="http://schemas.microsoft.com/office/powerpoint/2010/main" val="3438995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14E1-7CB1-4F78-40CA-04C37EEF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Prompts and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4C67-94D4-7FEF-9DF3-14051AE05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19395"/>
            <a:ext cx="5181600" cy="455756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LLMs can only perform </a:t>
            </a:r>
            <a:r>
              <a:rPr lang="en-US" b="1" dirty="0"/>
              <a:t>next-token prediction</a:t>
            </a:r>
            <a:r>
              <a:rPr lang="en-US" dirty="0"/>
              <a:t>.</a:t>
            </a:r>
          </a:p>
          <a:p>
            <a:r>
              <a:rPr lang="en-US" dirty="0"/>
              <a:t>The most likely next word is predicted based on the </a:t>
            </a:r>
            <a:r>
              <a:rPr lang="en-US" b="1" dirty="0"/>
              <a:t>context</a:t>
            </a:r>
            <a:r>
              <a:rPr lang="en-US" dirty="0"/>
              <a:t>, which is the input window (percept) for the LLM.</a:t>
            </a:r>
          </a:p>
          <a:p>
            <a:r>
              <a:rPr lang="en-US" dirty="0"/>
              <a:t>The context is typically a combination of the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/>
              <a:t>system prompt </a:t>
            </a:r>
            <a:r>
              <a:rPr lang="en-US" dirty="0"/>
              <a:t>(general instructions you often don’t see)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more </a:t>
            </a:r>
            <a:r>
              <a:rPr lang="en-US" b="1" dirty="0"/>
              <a:t>context information </a:t>
            </a:r>
            <a:r>
              <a:rPr lang="en-US" dirty="0"/>
              <a:t>(documents, additional information)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 </a:t>
            </a:r>
            <a:r>
              <a:rPr lang="en-US" b="1" dirty="0"/>
              <a:t>user prompt</a:t>
            </a:r>
          </a:p>
          <a:p>
            <a:endParaRPr lang="en-US" dirty="0"/>
          </a:p>
          <a:p>
            <a:r>
              <a:rPr lang="en-US" dirty="0"/>
              <a:t>The context window size is limited by the model, and the model “forgets” everything that drops out of the window.</a:t>
            </a:r>
          </a:p>
          <a:p>
            <a:r>
              <a:rPr lang="en-US" dirty="0"/>
              <a:t>The complete response is created </a:t>
            </a:r>
            <a:r>
              <a:rPr lang="en-US" b="1" dirty="0"/>
              <a:t>token-by-token</a:t>
            </a:r>
            <a:r>
              <a:rPr lang="en-US" dirty="0"/>
              <a:t> (</a:t>
            </a:r>
            <a:r>
              <a:rPr lang="en-US" dirty="0" err="1"/>
              <a:t>autoregessive</a:t>
            </a:r>
            <a:r>
              <a:rPr lang="en-US" dirty="0"/>
              <a:t> generation). LLMs may hallucinate by creating low-probability tokens, and autoregression will amplify this issue.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F222D-0786-09E4-2592-89B81D51D8A8}"/>
              </a:ext>
            </a:extLst>
          </p:cNvPr>
          <p:cNvSpPr txBox="1"/>
          <p:nvPr/>
        </p:nvSpPr>
        <p:spPr>
          <a:xfrm>
            <a:off x="6172200" y="1456293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Context: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BB4FBC-73A9-EDC7-CF06-B5836CF88D63}"/>
              </a:ext>
            </a:extLst>
          </p:cNvPr>
          <p:cNvGrpSpPr/>
          <p:nvPr/>
        </p:nvGrpSpPr>
        <p:grpSpPr>
          <a:xfrm>
            <a:off x="6270504" y="963261"/>
            <a:ext cx="5695223" cy="4931478"/>
            <a:chOff x="6270504" y="963261"/>
            <a:chExt cx="5695223" cy="4931478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F421B963-3380-8002-7FFB-D5C589360877}"/>
                </a:ext>
              </a:extLst>
            </p:cNvPr>
            <p:cNvSpPr txBox="1">
              <a:spLocks/>
            </p:cNvSpPr>
            <p:nvPr/>
          </p:nvSpPr>
          <p:spPr>
            <a:xfrm>
              <a:off x="6270504" y="1846511"/>
              <a:ext cx="5181600" cy="23479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n-US">
                <a:highlight>
                  <a:srgbClr val="FFFF00"/>
                </a:highlight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FF00"/>
                  </a:highlight>
                </a:rPr>
                <a:t>You are a helpful assistant who answers user questions based on the following information.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This week’s schedule: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Monday 10 AM – AI class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Wednesday 12 AM – Data Mining class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00FFFF"/>
                  </a:highlight>
                </a:rPr>
                <a:t>When do I need to go to the AI class?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dirty="0"/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ED4B900C-784B-A7F3-F374-63A4D4611B28}"/>
                </a:ext>
              </a:extLst>
            </p:cNvPr>
            <p:cNvSpPr/>
            <p:nvPr/>
          </p:nvSpPr>
          <p:spPr>
            <a:xfrm>
              <a:off x="8941576" y="963261"/>
              <a:ext cx="1472812" cy="551432"/>
            </a:xfrm>
            <a:prstGeom prst="wedgeRoundRectCallout">
              <a:avLst>
                <a:gd name="adj1" fmla="val -59222"/>
                <a:gd name="adj2" fmla="val 170095"/>
                <a:gd name="adj3" fmla="val 16667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System Prompt</a:t>
              </a:r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2F2E38FD-08A6-B675-A002-4DFD43FF9CE4}"/>
                </a:ext>
              </a:extLst>
            </p:cNvPr>
            <p:cNvSpPr/>
            <p:nvPr/>
          </p:nvSpPr>
          <p:spPr>
            <a:xfrm>
              <a:off x="7586263" y="5343307"/>
              <a:ext cx="1472812" cy="551432"/>
            </a:xfrm>
            <a:prstGeom prst="wedgeRoundRectCallout">
              <a:avLst>
                <a:gd name="adj1" fmla="val -77705"/>
                <a:gd name="adj2" fmla="val -302057"/>
                <a:gd name="adj3" fmla="val 16667"/>
              </a:avLst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Prompt</a:t>
              </a:r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DE403AD-8974-A2FB-A1D3-26F2593C3CA4}"/>
                </a:ext>
              </a:extLst>
            </p:cNvPr>
            <p:cNvSpPr/>
            <p:nvPr/>
          </p:nvSpPr>
          <p:spPr>
            <a:xfrm>
              <a:off x="10107262" y="4496885"/>
              <a:ext cx="1858465" cy="1289662"/>
            </a:xfrm>
            <a:prstGeom prst="wedgeRoundRectCallout">
              <a:avLst>
                <a:gd name="adj1" fmla="val -31033"/>
                <a:gd name="adj2" fmla="val -121280"/>
                <a:gd name="adj3" fmla="val 16667"/>
              </a:avLst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Additional context (e.g., from a database)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68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2B1B-94AA-843A-397B-76C5C842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7563"/>
          </a:xfrm>
        </p:spPr>
        <p:txBody>
          <a:bodyPr>
            <a:normAutofit fontScale="90000"/>
          </a:bodyPr>
          <a:lstStyle/>
          <a:p>
            <a:r>
              <a:rPr lang="en-US" dirty="0"/>
              <a:t>How LLMs Predict the Next Word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966A8E-9F7B-AA53-4EBB-45CD72CD9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0553"/>
                <a:ext cx="10515600" cy="461265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b="1" dirty="0"/>
                  <a:t>Example: </a:t>
                </a:r>
                <a:r>
                  <a:rPr lang="en-US" sz="2000" dirty="0"/>
                  <a:t>“Tomorrow is a good”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Model</a:t>
                </a:r>
                <a:r>
                  <a:rPr lang="en-US" sz="2000" dirty="0"/>
                  <a:t>: The optimal MAP decision for the next word using the Bayes rule is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000" b="1" dirty="0"/>
              </a:p>
              <a:p>
                <a:r>
                  <a:rPr lang="en-US" sz="2000" b="1" dirty="0"/>
                  <a:t>Learning/Estimation: </a:t>
                </a:r>
                <a:r>
                  <a:rPr lang="en-US" sz="2000" dirty="0"/>
                  <a:t>From a large amount of data “Tomorrow is a good [day].”</a:t>
                </a:r>
                <a:br>
                  <a:rPr lang="en-US" sz="2000" b="1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br>
                  <a:rPr lang="en-US" sz="2000" dirty="0"/>
                </a:br>
                <a:endParaRPr lang="en-US" sz="2000" b="1" dirty="0"/>
              </a:p>
              <a:p>
                <a:r>
                  <a:rPr lang="en-US" sz="2000" b="1" dirty="0"/>
                  <a:t>Model size: </a:t>
                </a:r>
                <a:r>
                  <a:rPr lang="en-US" sz="2000" dirty="0"/>
                  <a:t>vocabulary size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, context length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r>
                  <a:rPr lang="en-US" sz="2000" b="1" dirty="0"/>
                  <a:t>Example GPT 3</a:t>
                </a:r>
                <a:r>
                  <a:rPr lang="en-US" sz="2000" dirty="0"/>
                  <a:t> uses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50,000,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2000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1600" dirty="0"/>
                  <a:t>Bayesian classifier 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50000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2000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9400</m:t>
                            </m:r>
                          </m:sup>
                        </m:sSup>
                      </m:e>
                    </m:d>
                  </m:oMath>
                </a14:m>
                <a:endParaRPr lang="en-US" sz="16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1600" dirty="0"/>
                  <a:t>GPT 3 models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with only 175 billion parameters 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966A8E-9F7B-AA53-4EBB-45CD72CD9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0553"/>
                <a:ext cx="10515600" cy="4612657"/>
              </a:xfrm>
              <a:blipFill>
                <a:blip r:embed="rId2"/>
                <a:stretch>
                  <a:fillRect l="-522" t="-1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F574AC9-A49B-35AF-9112-3C7B14B4AE5E}"/>
              </a:ext>
            </a:extLst>
          </p:cNvPr>
          <p:cNvGrpSpPr/>
          <p:nvPr/>
        </p:nvGrpSpPr>
        <p:grpSpPr>
          <a:xfrm>
            <a:off x="2745825" y="1499353"/>
            <a:ext cx="2487685" cy="467297"/>
            <a:chOff x="2745825" y="1499353"/>
            <a:chExt cx="2487685" cy="4672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96E73E-377C-A8E4-64B9-721845C8B64B}"/>
                    </a:ext>
                  </a:extLst>
                </p:cNvPr>
                <p:cNvSpPr txBox="1"/>
                <p:nvPr/>
              </p:nvSpPr>
              <p:spPr>
                <a:xfrm>
                  <a:off x="4431313" y="1576297"/>
                  <a:ext cx="8021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96E73E-377C-A8E4-64B9-721845C8B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313" y="1576297"/>
                  <a:ext cx="802197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DA3101-7F74-A837-16F8-69EEE1741915}"/>
                    </a:ext>
                  </a:extLst>
                </p:cNvPr>
                <p:cNvSpPr txBox="1"/>
                <p:nvPr/>
              </p:nvSpPr>
              <p:spPr>
                <a:xfrm>
                  <a:off x="4002075" y="1548394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DA3101-7F74-A837-16F8-69EEE1741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075" y="1548394"/>
                  <a:ext cx="498621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85B512-1C3B-1944-0D53-C9EA10988A89}"/>
                    </a:ext>
                  </a:extLst>
                </p:cNvPr>
                <p:cNvSpPr txBox="1"/>
                <p:nvPr/>
              </p:nvSpPr>
              <p:spPr>
                <a:xfrm>
                  <a:off x="3602027" y="1658873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85B512-1C3B-1944-0D53-C9EA10988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2027" y="1658873"/>
                  <a:ext cx="49862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EB7D6C-3C41-D22E-72FD-273F33C6D036}"/>
                    </a:ext>
                  </a:extLst>
                </p:cNvPr>
                <p:cNvSpPr txBox="1"/>
                <p:nvPr/>
              </p:nvSpPr>
              <p:spPr>
                <a:xfrm>
                  <a:off x="3385487" y="1499353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EB7D6C-3C41-D22E-72FD-273F33C6D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5487" y="1499353"/>
                  <a:ext cx="49862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DAA862-D6CA-6869-38E5-3A8AA8C3DDB8}"/>
                </a:ext>
              </a:extLst>
            </p:cNvPr>
            <p:cNvCxnSpPr>
              <a:cxnSpLocks/>
              <a:endCxn id="13" idx="3"/>
            </p:cNvCxnSpPr>
            <p:nvPr/>
          </p:nvCxnSpPr>
          <p:spPr>
            <a:xfrm flipV="1">
              <a:off x="3884108" y="1653242"/>
              <a:ext cx="0" cy="153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DB5113-6FAB-EFFD-FF45-DDF0913A9096}"/>
                    </a:ext>
                  </a:extLst>
                </p:cNvPr>
                <p:cNvSpPr txBox="1"/>
                <p:nvPr/>
              </p:nvSpPr>
              <p:spPr>
                <a:xfrm>
                  <a:off x="2745825" y="1499968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DB5113-6FAB-EFFD-FF45-DDF0913A9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5825" y="1499968"/>
                  <a:ext cx="49862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603B62-893F-6775-6645-1F065AF34BCE}"/>
                  </a:ext>
                </a:extLst>
              </p:cNvPr>
              <p:cNvSpPr txBox="1"/>
              <p:nvPr/>
            </p:nvSpPr>
            <p:spPr>
              <a:xfrm>
                <a:off x="7401885" y="1127264"/>
                <a:ext cx="239645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is a random variable representing a word/token at position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603B62-893F-6775-6645-1F065AF34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885" y="1127264"/>
                <a:ext cx="2396456" cy="738664"/>
              </a:xfrm>
              <a:prstGeom prst="rect">
                <a:avLst/>
              </a:prstGeom>
              <a:blipFill>
                <a:blip r:embed="rId8"/>
                <a:stretch>
                  <a:fillRect l="-763" t="-1653" r="-1272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2F347387-73ED-D6EF-47CD-CE49827FC4AD}"/>
              </a:ext>
            </a:extLst>
          </p:cNvPr>
          <p:cNvSpPr/>
          <p:nvPr/>
        </p:nvSpPr>
        <p:spPr>
          <a:xfrm>
            <a:off x="7128284" y="4703536"/>
            <a:ext cx="1696177" cy="663114"/>
          </a:xfrm>
          <a:prstGeom prst="wedgeRoundRectCallout">
            <a:avLst>
              <a:gd name="adj1" fmla="val -130485"/>
              <a:gd name="adj2" fmla="val 31388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does not fit in memory and we cannot estimate that many numbers!</a:t>
            </a:r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EE7284CD-EA04-D082-748B-6D4ECF11AC11}"/>
              </a:ext>
            </a:extLst>
          </p:cNvPr>
          <p:cNvSpPr/>
          <p:nvPr/>
        </p:nvSpPr>
        <p:spPr>
          <a:xfrm>
            <a:off x="6593746" y="5902139"/>
            <a:ext cx="1616277" cy="419456"/>
          </a:xfrm>
          <a:prstGeom prst="wedgeRoundRectCallout">
            <a:avLst>
              <a:gd name="adj1" fmla="val -53414"/>
              <a:gd name="adj2" fmla="val -10684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With 16-bit floats, this needs &gt; 350 GB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35074A9-6B68-D76A-F1BB-22D30ADC7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8416708"/>
                  </p:ext>
                </p:extLst>
              </p:nvPr>
            </p:nvGraphicFramePr>
            <p:xfrm>
              <a:off x="8934596" y="4293931"/>
              <a:ext cx="3146472" cy="119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4107">
                      <a:extLst>
                        <a:ext uri="{9D8B030D-6E8A-4147-A177-3AD203B41FA5}">
                          <a16:colId xmlns:a16="http://schemas.microsoft.com/office/drawing/2014/main" val="2886527042"/>
                        </a:ext>
                      </a:extLst>
                    </a:gridCol>
                    <a:gridCol w="230345">
                      <a:extLst>
                        <a:ext uri="{9D8B030D-6E8A-4147-A177-3AD203B41FA5}">
                          <a16:colId xmlns:a16="http://schemas.microsoft.com/office/drawing/2014/main" val="2843465921"/>
                        </a:ext>
                      </a:extLst>
                    </a:gridCol>
                    <a:gridCol w="474650">
                      <a:extLst>
                        <a:ext uri="{9D8B030D-6E8A-4147-A177-3AD203B41FA5}">
                          <a16:colId xmlns:a16="http://schemas.microsoft.com/office/drawing/2014/main" val="3869960157"/>
                        </a:ext>
                      </a:extLst>
                    </a:gridCol>
                    <a:gridCol w="390889">
                      <a:extLst>
                        <a:ext uri="{9D8B030D-6E8A-4147-A177-3AD203B41FA5}">
                          <a16:colId xmlns:a16="http://schemas.microsoft.com/office/drawing/2014/main" val="2082622642"/>
                        </a:ext>
                      </a:extLst>
                    </a:gridCol>
                    <a:gridCol w="516531">
                      <a:extLst>
                        <a:ext uri="{9D8B030D-6E8A-4147-A177-3AD203B41FA5}">
                          <a16:colId xmlns:a16="http://schemas.microsoft.com/office/drawing/2014/main" val="2201784429"/>
                        </a:ext>
                      </a:extLst>
                    </a:gridCol>
                    <a:gridCol w="649154">
                      <a:extLst>
                        <a:ext uri="{9D8B030D-6E8A-4147-A177-3AD203B41FA5}">
                          <a16:colId xmlns:a16="http://schemas.microsoft.com/office/drawing/2014/main" val="2101555180"/>
                        </a:ext>
                      </a:extLst>
                    </a:gridCol>
                    <a:gridCol w="570796">
                      <a:extLst>
                        <a:ext uri="{9D8B030D-6E8A-4147-A177-3AD203B41FA5}">
                          <a16:colId xmlns:a16="http://schemas.microsoft.com/office/drawing/2014/main" val="3151341098"/>
                        </a:ext>
                      </a:extLst>
                    </a:gridCol>
                  </a:tblGrid>
                  <a:tr h="2997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1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0266598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5126471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reason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1e-12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562409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965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35074A9-6B68-D76A-F1BB-22D30ADC7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8416708"/>
                  </p:ext>
                </p:extLst>
              </p:nvPr>
            </p:nvGraphicFramePr>
            <p:xfrm>
              <a:off x="8934596" y="4293931"/>
              <a:ext cx="3146472" cy="119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4107">
                      <a:extLst>
                        <a:ext uri="{9D8B030D-6E8A-4147-A177-3AD203B41FA5}">
                          <a16:colId xmlns:a16="http://schemas.microsoft.com/office/drawing/2014/main" val="2886527042"/>
                        </a:ext>
                      </a:extLst>
                    </a:gridCol>
                    <a:gridCol w="230345">
                      <a:extLst>
                        <a:ext uri="{9D8B030D-6E8A-4147-A177-3AD203B41FA5}">
                          <a16:colId xmlns:a16="http://schemas.microsoft.com/office/drawing/2014/main" val="2843465921"/>
                        </a:ext>
                      </a:extLst>
                    </a:gridCol>
                    <a:gridCol w="474650">
                      <a:extLst>
                        <a:ext uri="{9D8B030D-6E8A-4147-A177-3AD203B41FA5}">
                          <a16:colId xmlns:a16="http://schemas.microsoft.com/office/drawing/2014/main" val="3869960157"/>
                        </a:ext>
                      </a:extLst>
                    </a:gridCol>
                    <a:gridCol w="390889">
                      <a:extLst>
                        <a:ext uri="{9D8B030D-6E8A-4147-A177-3AD203B41FA5}">
                          <a16:colId xmlns:a16="http://schemas.microsoft.com/office/drawing/2014/main" val="2082622642"/>
                        </a:ext>
                      </a:extLst>
                    </a:gridCol>
                    <a:gridCol w="516531">
                      <a:extLst>
                        <a:ext uri="{9D8B030D-6E8A-4147-A177-3AD203B41FA5}">
                          <a16:colId xmlns:a16="http://schemas.microsoft.com/office/drawing/2014/main" val="2201784429"/>
                        </a:ext>
                      </a:extLst>
                    </a:gridCol>
                    <a:gridCol w="649154">
                      <a:extLst>
                        <a:ext uri="{9D8B030D-6E8A-4147-A177-3AD203B41FA5}">
                          <a16:colId xmlns:a16="http://schemas.microsoft.com/office/drawing/2014/main" val="2101555180"/>
                        </a:ext>
                      </a:extLst>
                    </a:gridCol>
                    <a:gridCol w="570796">
                      <a:extLst>
                        <a:ext uri="{9D8B030D-6E8A-4147-A177-3AD203B41FA5}">
                          <a16:colId xmlns:a16="http://schemas.microsoft.com/office/drawing/2014/main" val="3151341098"/>
                        </a:ext>
                      </a:extLst>
                    </a:gridCol>
                  </a:tblGrid>
                  <a:tr h="299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923" t="-2000" r="-90192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5385" t="-2000" r="-45384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58462" t="-2000" r="-44461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4118" t="-2000" r="-24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300000" t="-2000" r="-9245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51064" t="-2000" r="-425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266598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5126471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reason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1e-12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562409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9655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ECD25E6-F099-1936-79B7-A5259CC32167}"/>
                  </a:ext>
                </a:extLst>
              </p:cNvPr>
              <p:cNvSpPr txBox="1"/>
              <p:nvPr/>
            </p:nvSpPr>
            <p:spPr>
              <a:xfrm>
                <a:off x="9619828" y="3571008"/>
                <a:ext cx="19263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Joint Probability as a table has all the information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ECD25E6-F099-1936-79B7-A5259CC32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828" y="3571008"/>
                <a:ext cx="1926321" cy="646331"/>
              </a:xfrm>
              <a:prstGeom prst="rect">
                <a:avLst/>
              </a:prstGeom>
              <a:blipFill>
                <a:blip r:embed="rId10"/>
                <a:stretch>
                  <a:fillRect t="-943" r="-949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36439E-7C86-9899-8AC7-FC834C84E4E8}"/>
                  </a:ext>
                </a:extLst>
              </p:cNvPr>
              <p:cNvSpPr txBox="1"/>
              <p:nvPr/>
            </p:nvSpPr>
            <p:spPr>
              <a:xfrm>
                <a:off x="9957961" y="5286504"/>
                <a:ext cx="1367919" cy="37427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rows!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36439E-7C86-9899-8AC7-FC834C84E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961" y="5286504"/>
                <a:ext cx="1367919" cy="374270"/>
              </a:xfrm>
              <a:prstGeom prst="rect">
                <a:avLst/>
              </a:prstGeom>
              <a:blipFill>
                <a:blip r:embed="rId11"/>
                <a:stretch>
                  <a:fillRect t="-1515" r="-1316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Speech Bubble: Rectangle with Corners Rounded 43">
            <a:extLst>
              <a:ext uri="{FF2B5EF4-FFF2-40B4-BE49-F238E27FC236}">
                <a16:creationId xmlns:a16="http://schemas.microsoft.com/office/drawing/2014/main" id="{4AEB7823-4402-50D9-9AE4-1CAAD9CDE37C}"/>
              </a:ext>
            </a:extLst>
          </p:cNvPr>
          <p:cNvSpPr/>
          <p:nvPr/>
        </p:nvSpPr>
        <p:spPr>
          <a:xfrm>
            <a:off x="9537613" y="2678871"/>
            <a:ext cx="1926322" cy="359259"/>
          </a:xfrm>
          <a:prstGeom prst="wedgeRoundRectCallout">
            <a:avLst>
              <a:gd name="adj1" fmla="val -51992"/>
              <a:gd name="adj2" fmla="val 7881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Mask the next word = self-supervised learning</a:t>
            </a:r>
          </a:p>
        </p:txBody>
      </p:sp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E2A488A5-5E46-BDCE-62AF-98144137C21F}"/>
              </a:ext>
            </a:extLst>
          </p:cNvPr>
          <p:cNvSpPr/>
          <p:nvPr/>
        </p:nvSpPr>
        <p:spPr>
          <a:xfrm>
            <a:off x="2694331" y="5843960"/>
            <a:ext cx="3114107" cy="457752"/>
          </a:xfrm>
          <a:prstGeom prst="wedgeRoundRectCallout">
            <a:avLst>
              <a:gd name="adj1" fmla="val 51457"/>
              <a:gd name="adj2" fmla="val -98668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Tricks for compression in transformers are positional encoding and the attention mechanism.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35F1FB-2B93-4D0F-9D29-DAFC51BD5908}"/>
              </a:ext>
            </a:extLst>
          </p:cNvPr>
          <p:cNvGrpSpPr/>
          <p:nvPr/>
        </p:nvGrpSpPr>
        <p:grpSpPr>
          <a:xfrm>
            <a:off x="2321659" y="897676"/>
            <a:ext cx="3936527" cy="787927"/>
            <a:chOff x="2321659" y="897676"/>
            <a:chExt cx="3936527" cy="787927"/>
          </a:xfrm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27FDE617-2598-92CF-901D-FF592CF53DD5}"/>
                </a:ext>
              </a:extLst>
            </p:cNvPr>
            <p:cNvSpPr/>
            <p:nvPr/>
          </p:nvSpPr>
          <p:spPr>
            <a:xfrm>
              <a:off x="3217876" y="897676"/>
              <a:ext cx="1267091" cy="261508"/>
            </a:xfrm>
            <a:prstGeom prst="wedgeRoundRectCallout">
              <a:avLst>
                <a:gd name="adj1" fmla="val -32457"/>
                <a:gd name="adj2" fmla="val 95407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Context window</a:t>
              </a:r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B8501F6F-4D89-16CF-30AF-EDD67120261C}"/>
                </a:ext>
              </a:extLst>
            </p:cNvPr>
            <p:cNvSpPr/>
            <p:nvPr/>
          </p:nvSpPr>
          <p:spPr>
            <a:xfrm>
              <a:off x="4773335" y="978822"/>
              <a:ext cx="1484851" cy="270543"/>
            </a:xfrm>
            <a:prstGeom prst="wedgeRoundRectCallout">
              <a:avLst>
                <a:gd name="adj1" fmla="val -42043"/>
                <a:gd name="adj2" fmla="val 91496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Predict the next word</a:t>
              </a:r>
            </a:p>
          </p:txBody>
        </p:sp>
        <p:sp>
          <p:nvSpPr>
            <p:cNvPr id="8" name="Right Bracket 7">
              <a:extLst>
                <a:ext uri="{FF2B5EF4-FFF2-40B4-BE49-F238E27FC236}">
                  <a16:creationId xmlns:a16="http://schemas.microsoft.com/office/drawing/2014/main" id="{2D6ED7B0-2707-DB4F-32BB-6110C2C9DF81}"/>
                </a:ext>
              </a:extLst>
            </p:cNvPr>
            <p:cNvSpPr/>
            <p:nvPr/>
          </p:nvSpPr>
          <p:spPr>
            <a:xfrm rot="16200000">
              <a:off x="3351573" y="239748"/>
              <a:ext cx="119212" cy="2179039"/>
            </a:xfrm>
            <a:prstGeom prst="rightBracket">
              <a:avLst>
                <a:gd name="adj" fmla="val 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243C20-405C-FF96-C9FF-384EFD928147}"/>
                </a:ext>
              </a:extLst>
            </p:cNvPr>
            <p:cNvSpPr/>
            <p:nvPr/>
          </p:nvSpPr>
          <p:spPr>
            <a:xfrm>
              <a:off x="4632387" y="1368926"/>
              <a:ext cx="400048" cy="31667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36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 animBg="1"/>
      <p:bldP spid="33" grpId="0" animBg="1"/>
      <p:bldP spid="42" grpId="0"/>
      <p:bldP spid="43" grpId="0" animBg="1"/>
      <p:bldP spid="44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241C-EBF7-6515-B681-99C9650C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GPT-type LLM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B17EA3-EC65-DBEF-A15C-DE7518DD94D2}"/>
              </a:ext>
            </a:extLst>
          </p:cNvPr>
          <p:cNvGrpSpPr/>
          <p:nvPr/>
        </p:nvGrpSpPr>
        <p:grpSpPr>
          <a:xfrm>
            <a:off x="272436" y="1801052"/>
            <a:ext cx="6875892" cy="4333958"/>
            <a:chOff x="243919" y="2158917"/>
            <a:chExt cx="6875892" cy="433395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1E60410-B47F-F095-D2F7-496B90E1B1F5}"/>
                </a:ext>
              </a:extLst>
            </p:cNvPr>
            <p:cNvSpPr txBox="1"/>
            <p:nvPr/>
          </p:nvSpPr>
          <p:spPr>
            <a:xfrm>
              <a:off x="243919" y="6185097"/>
              <a:ext cx="6875892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Structure of a GPT-type LLM using a decoder only transformer architecture 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92505A4-00EB-EBEA-ABFF-3D5C2AD766C2}"/>
                </a:ext>
              </a:extLst>
            </p:cNvPr>
            <p:cNvGrpSpPr/>
            <p:nvPr/>
          </p:nvGrpSpPr>
          <p:grpSpPr>
            <a:xfrm>
              <a:off x="1949284" y="2158917"/>
              <a:ext cx="4685291" cy="3827050"/>
              <a:chOff x="1949284" y="2158917"/>
              <a:chExt cx="4685291" cy="382705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58AEDBE-D719-A588-F2C0-9E30A27A6410}"/>
                  </a:ext>
                </a:extLst>
              </p:cNvPr>
              <p:cNvSpPr txBox="1"/>
              <p:nvPr/>
            </p:nvSpPr>
            <p:spPr>
              <a:xfrm rot="5400000">
                <a:off x="3173629" y="4364439"/>
                <a:ext cx="411700" cy="2831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Prompt (words)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B5EDAB0-3777-6B94-2901-D84D890F3991}"/>
                  </a:ext>
                </a:extLst>
              </p:cNvPr>
              <p:cNvSpPr txBox="1"/>
              <p:nvPr/>
            </p:nvSpPr>
            <p:spPr>
              <a:xfrm rot="5400000">
                <a:off x="3173629" y="3510605"/>
                <a:ext cx="411700" cy="283135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Token sequence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D7DEA-4976-D2E9-257A-17EFE90E8508}"/>
                  </a:ext>
                </a:extLst>
              </p:cNvPr>
              <p:cNvSpPr txBox="1"/>
              <p:nvPr/>
            </p:nvSpPr>
            <p:spPr>
              <a:xfrm rot="5400000">
                <a:off x="3173629" y="2651116"/>
                <a:ext cx="411700" cy="28426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Vectors (embedding as tensor)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2CA9B6-32DA-3AF4-E9E9-757C12F49D83}"/>
                  </a:ext>
                </a:extLst>
              </p:cNvPr>
              <p:cNvSpPr txBox="1"/>
              <p:nvPr/>
            </p:nvSpPr>
            <p:spPr>
              <a:xfrm rot="5400000">
                <a:off x="3173629" y="1797277"/>
                <a:ext cx="411700" cy="284265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Vector (state)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02DECE-D478-2EBA-D6E0-FC82A5596AC9}"/>
                  </a:ext>
                </a:extLst>
              </p:cNvPr>
              <p:cNvSpPr txBox="1"/>
              <p:nvPr/>
            </p:nvSpPr>
            <p:spPr>
              <a:xfrm rot="5400000">
                <a:off x="3173629" y="934572"/>
                <a:ext cx="411700" cy="28603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Predicted probabilities for next token</a:t>
                </a:r>
              </a:p>
            </p:txBody>
          </p:sp>
          <p:sp>
            <p:nvSpPr>
              <p:cNvPr id="52" name="Arrow: Right 51">
                <a:extLst>
                  <a:ext uri="{FF2B5EF4-FFF2-40B4-BE49-F238E27FC236}">
                    <a16:creationId xmlns:a16="http://schemas.microsoft.com/office/drawing/2014/main" id="{A5CB2F7A-32B9-6CDA-201E-2DFFA043211E}"/>
                  </a:ext>
                </a:extLst>
              </p:cNvPr>
              <p:cNvSpPr/>
              <p:nvPr/>
            </p:nvSpPr>
            <p:spPr>
              <a:xfrm rot="16200000" flipV="1">
                <a:off x="3211393" y="5163389"/>
                <a:ext cx="336174" cy="37962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3" name="Arrow: Right 52">
                <a:extLst>
                  <a:ext uri="{FF2B5EF4-FFF2-40B4-BE49-F238E27FC236}">
                    <a16:creationId xmlns:a16="http://schemas.microsoft.com/office/drawing/2014/main" id="{559A64E7-EB68-F3EC-51D0-AC6D38701EA7}"/>
                  </a:ext>
                </a:extLst>
              </p:cNvPr>
              <p:cNvSpPr/>
              <p:nvPr/>
            </p:nvSpPr>
            <p:spPr>
              <a:xfrm rot="16200000" flipV="1">
                <a:off x="3211393" y="4309550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4" name="Arrow: Right 53">
                <a:extLst>
                  <a:ext uri="{FF2B5EF4-FFF2-40B4-BE49-F238E27FC236}">
                    <a16:creationId xmlns:a16="http://schemas.microsoft.com/office/drawing/2014/main" id="{22BBF2B9-0FCF-A4D0-FE28-34B1629F855B}"/>
                  </a:ext>
                </a:extLst>
              </p:cNvPr>
              <p:cNvSpPr/>
              <p:nvPr/>
            </p:nvSpPr>
            <p:spPr>
              <a:xfrm rot="16200000" flipV="1">
                <a:off x="3211393" y="2601872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96D84A2-EC6D-2421-305C-9BD8D0DE7C6B}"/>
                  </a:ext>
                </a:extLst>
              </p:cNvPr>
              <p:cNvSpPr txBox="1"/>
              <p:nvPr/>
            </p:nvSpPr>
            <p:spPr>
              <a:xfrm>
                <a:off x="3633642" y="5208635"/>
                <a:ext cx="1068359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Tokenizing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7B3F2F7-EBE0-BC4D-92D1-25A2C9D01429}"/>
                  </a:ext>
                </a:extLst>
              </p:cNvPr>
              <p:cNvSpPr txBox="1"/>
              <p:nvPr/>
            </p:nvSpPr>
            <p:spPr>
              <a:xfrm>
                <a:off x="3589513" y="4375830"/>
                <a:ext cx="15809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Positional embedding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BA34F5E-3E9E-8343-3FF2-E98803459047}"/>
                      </a:ext>
                    </a:extLst>
                  </p:cNvPr>
                  <p:cNvSpPr txBox="1"/>
                  <p:nvPr/>
                </p:nvSpPr>
                <p:spPr>
                  <a:xfrm>
                    <a:off x="3583617" y="3418462"/>
                    <a:ext cx="158090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1100" dirty="0"/>
                      <a:t> transformer blocks</a:t>
                    </a:r>
                    <a:br>
                      <a:rPr lang="en-US" sz="1100" dirty="0"/>
                    </a:br>
                    <a:r>
                      <a:rPr lang="en-US" sz="1100" dirty="0"/>
                      <a:t>   with self-attention</a:t>
                    </a: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BA34F5E-3E9E-8343-3FF2-E98803459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3617" y="3418462"/>
                    <a:ext cx="1580907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408" b="-84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F3298B2-C999-6590-0FD0-EA2156882510}"/>
                  </a:ext>
                </a:extLst>
              </p:cNvPr>
              <p:cNvSpPr txBox="1"/>
              <p:nvPr/>
            </p:nvSpPr>
            <p:spPr>
              <a:xfrm>
                <a:off x="3569293" y="2645875"/>
                <a:ext cx="974377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classifier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7D4C078-74BC-E43E-3AFF-13C40369FC1B}"/>
                  </a:ext>
                </a:extLst>
              </p:cNvPr>
              <p:cNvGrpSpPr/>
              <p:nvPr/>
            </p:nvGrpSpPr>
            <p:grpSpPr>
              <a:xfrm>
                <a:off x="5262871" y="2183540"/>
                <a:ext cx="1371704" cy="769441"/>
                <a:chOff x="5262871" y="2183540"/>
                <a:chExt cx="1371704" cy="769441"/>
              </a:xfrm>
            </p:grpSpPr>
            <p:sp>
              <p:nvSpPr>
                <p:cNvPr id="64" name="Arrow: Right 63">
                  <a:extLst>
                    <a:ext uri="{FF2B5EF4-FFF2-40B4-BE49-F238E27FC236}">
                      <a16:creationId xmlns:a16="http://schemas.microsoft.com/office/drawing/2014/main" id="{CC036597-18A1-D454-5A3C-950AAC9A958B}"/>
                    </a:ext>
                  </a:extLst>
                </p:cNvPr>
                <p:cNvSpPr/>
                <p:nvPr/>
              </p:nvSpPr>
              <p:spPr>
                <a:xfrm rot="16200000" flipV="1">
                  <a:off x="5284598" y="216181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5" name="Arrow: Right 64">
                  <a:extLst>
                    <a:ext uri="{FF2B5EF4-FFF2-40B4-BE49-F238E27FC236}">
                      <a16:creationId xmlns:a16="http://schemas.microsoft.com/office/drawing/2014/main" id="{68A3ACB3-AD43-83F5-8F5D-96109E05ABAF}"/>
                    </a:ext>
                  </a:extLst>
                </p:cNvPr>
                <p:cNvSpPr/>
                <p:nvPr/>
              </p:nvSpPr>
              <p:spPr>
                <a:xfrm rot="16200000" flipV="1">
                  <a:off x="5301513" y="2573268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80B21E-1E07-6DE1-D0E2-D9D2EEFEB202}"/>
                    </a:ext>
                  </a:extLst>
                </p:cNvPr>
                <p:cNvSpPr txBox="1"/>
                <p:nvPr/>
              </p:nvSpPr>
              <p:spPr>
                <a:xfrm>
                  <a:off x="5660198" y="2183540"/>
                  <a:ext cx="974377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Trainable artificial neural networks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9738BD0-7079-744B-8A4E-CB0A8F3A4FCC}"/>
                  </a:ext>
                </a:extLst>
              </p:cNvPr>
              <p:cNvGrpSpPr/>
              <p:nvPr/>
            </p:nvGrpSpPr>
            <p:grpSpPr>
              <a:xfrm>
                <a:off x="3175804" y="3414619"/>
                <a:ext cx="428389" cy="468315"/>
                <a:chOff x="3175804" y="3414619"/>
                <a:chExt cx="428389" cy="468315"/>
              </a:xfrm>
            </p:grpSpPr>
            <p:sp>
              <p:nvSpPr>
                <p:cNvPr id="61" name="Arrow: Right 60">
                  <a:extLst>
                    <a:ext uri="{FF2B5EF4-FFF2-40B4-BE49-F238E27FC236}">
                      <a16:creationId xmlns:a16="http://schemas.microsoft.com/office/drawing/2014/main" id="{514ACEBD-9807-2057-0F2B-0666CC2C9ED6}"/>
                    </a:ext>
                  </a:extLst>
                </p:cNvPr>
                <p:cNvSpPr/>
                <p:nvPr/>
              </p:nvSpPr>
              <p:spPr>
                <a:xfrm rot="16200000" flipV="1">
                  <a:off x="3246292" y="3392892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2" name="Arrow: Right 61">
                  <a:extLst>
                    <a:ext uri="{FF2B5EF4-FFF2-40B4-BE49-F238E27FC236}">
                      <a16:creationId xmlns:a16="http://schemas.microsoft.com/office/drawing/2014/main" id="{20AAD393-41D3-F056-32FE-EABF8239A063}"/>
                    </a:ext>
                  </a:extLst>
                </p:cNvPr>
                <p:cNvSpPr/>
                <p:nvPr/>
              </p:nvSpPr>
              <p:spPr>
                <a:xfrm rot="16200000" flipV="1">
                  <a:off x="3225716" y="3461617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3" name="Arrow: Right 62">
                  <a:extLst>
                    <a:ext uri="{FF2B5EF4-FFF2-40B4-BE49-F238E27FC236}">
                      <a16:creationId xmlns:a16="http://schemas.microsoft.com/office/drawing/2014/main" id="{9C1990CA-F963-5A1D-8E49-E49054FB1B03}"/>
                    </a:ext>
                  </a:extLst>
                </p:cNvPr>
                <p:cNvSpPr/>
                <p:nvPr/>
              </p:nvSpPr>
              <p:spPr>
                <a:xfrm rot="16200000" flipV="1">
                  <a:off x="3197531" y="352503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</p:grp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34C4E1-7D9E-CF3C-F195-A70D81E4E564}"/>
              </a:ext>
            </a:extLst>
          </p:cNvPr>
          <p:cNvGrpSpPr/>
          <p:nvPr/>
        </p:nvGrpSpPr>
        <p:grpSpPr>
          <a:xfrm>
            <a:off x="7733403" y="2270639"/>
            <a:ext cx="3808199" cy="3821622"/>
            <a:chOff x="7343660" y="2207818"/>
            <a:chExt cx="3808199" cy="382162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E89313-A594-97AD-CA85-9FDE2B2683A1}"/>
                </a:ext>
              </a:extLst>
            </p:cNvPr>
            <p:cNvSpPr txBox="1"/>
            <p:nvPr/>
          </p:nvSpPr>
          <p:spPr>
            <a:xfrm>
              <a:off x="7957101" y="5660108"/>
              <a:ext cx="1683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Today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FF00FF"/>
                  </a:highlight>
                </a:rPr>
                <a:t>is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00FFFF"/>
                  </a:highlight>
                </a:rPr>
                <a:t>a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00FF00"/>
                  </a:highlight>
                </a:rPr>
                <a:t>good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92AACC-9652-AFB9-744C-69D290D1E0F9}"/>
                </a:ext>
              </a:extLst>
            </p:cNvPr>
            <p:cNvSpPr txBox="1"/>
            <p:nvPr/>
          </p:nvSpPr>
          <p:spPr>
            <a:xfrm>
              <a:off x="7403641" y="4887076"/>
              <a:ext cx="26332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[18449, 382, 261, 1899]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58C7B1-4B33-24C8-C617-6670C765752A}"/>
                    </a:ext>
                  </a:extLst>
                </p:cNvPr>
                <p:cNvSpPr txBox="1"/>
                <p:nvPr/>
              </p:nvSpPr>
              <p:spPr>
                <a:xfrm>
                  <a:off x="7466214" y="3874952"/>
                  <a:ext cx="2388157" cy="6621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3.12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12.01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67.34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676.32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58C7B1-4B33-24C8-C617-6670C7657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6214" y="3874952"/>
                  <a:ext cx="2388157" cy="6621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B0D185-A720-453A-AB56-178C7B9BA777}"/>
                    </a:ext>
                  </a:extLst>
                </p:cNvPr>
                <p:cNvSpPr txBox="1"/>
                <p:nvPr/>
              </p:nvSpPr>
              <p:spPr>
                <a:xfrm>
                  <a:off x="7343660" y="2207818"/>
                  <a:ext cx="26332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(0, …,.63,…,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B0D185-A720-453A-AB56-178C7B9BA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660" y="2207818"/>
                  <a:ext cx="263326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A2ABF14-9C4C-E077-4C91-389CB23867CD}"/>
                    </a:ext>
                  </a:extLst>
                </p:cNvPr>
                <p:cNvSpPr txBox="1"/>
                <p:nvPr/>
              </p:nvSpPr>
              <p:spPr>
                <a:xfrm>
                  <a:off x="7379439" y="3037866"/>
                  <a:ext cx="26332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(32432.23, 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899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.12)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A2ABF14-9C4C-E077-4C91-389CB23867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9439" y="3037866"/>
                  <a:ext cx="2633263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57D7563-126B-BE3A-CACB-2CA8E582B3F6}"/>
                </a:ext>
              </a:extLst>
            </p:cNvPr>
            <p:cNvGrpSpPr/>
            <p:nvPr/>
          </p:nvGrpSpPr>
          <p:grpSpPr>
            <a:xfrm>
              <a:off x="8486505" y="2645875"/>
              <a:ext cx="2665354" cy="2897691"/>
              <a:chOff x="8626628" y="2775999"/>
              <a:chExt cx="2665354" cy="2897691"/>
            </a:xfrm>
          </p:grpSpPr>
          <p:sp>
            <p:nvSpPr>
              <p:cNvPr id="68" name="Arrow: Right 67">
                <a:extLst>
                  <a:ext uri="{FF2B5EF4-FFF2-40B4-BE49-F238E27FC236}">
                    <a16:creationId xmlns:a16="http://schemas.microsoft.com/office/drawing/2014/main" id="{D7830F1B-4BD7-133F-A713-AF641056CD72}"/>
                  </a:ext>
                </a:extLst>
              </p:cNvPr>
              <p:cNvSpPr/>
              <p:nvPr/>
            </p:nvSpPr>
            <p:spPr>
              <a:xfrm rot="16200000" flipV="1">
                <a:off x="8662217" y="5315789"/>
                <a:ext cx="336174" cy="37962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69" name="Arrow: Right 68">
                <a:extLst>
                  <a:ext uri="{FF2B5EF4-FFF2-40B4-BE49-F238E27FC236}">
                    <a16:creationId xmlns:a16="http://schemas.microsoft.com/office/drawing/2014/main" id="{A2E4670B-814A-6488-2E90-E62C7D51B60E}"/>
                  </a:ext>
                </a:extLst>
              </p:cNvPr>
              <p:cNvSpPr/>
              <p:nvPr/>
            </p:nvSpPr>
            <p:spPr>
              <a:xfrm rot="16200000" flipV="1">
                <a:off x="8648355" y="4653224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0" name="Arrow: Right 69">
                <a:extLst>
                  <a:ext uri="{FF2B5EF4-FFF2-40B4-BE49-F238E27FC236}">
                    <a16:creationId xmlns:a16="http://schemas.microsoft.com/office/drawing/2014/main" id="{F1346027-19BF-2ADB-282E-455F9079F8AF}"/>
                  </a:ext>
                </a:extLst>
              </p:cNvPr>
              <p:cNvSpPr/>
              <p:nvPr/>
            </p:nvSpPr>
            <p:spPr>
              <a:xfrm rot="16200000" flipV="1">
                <a:off x="8662217" y="2754272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7654251-5B0D-A851-5BFE-5000316AEC4F}"/>
                  </a:ext>
                </a:extLst>
              </p:cNvPr>
              <p:cNvSpPr txBox="1"/>
              <p:nvPr/>
            </p:nvSpPr>
            <p:spPr>
              <a:xfrm>
                <a:off x="9084466" y="5361035"/>
                <a:ext cx="1068359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Tokenizing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77990ED-C1F5-BEFD-54CC-9A327C28C74D}"/>
                  </a:ext>
                </a:extLst>
              </p:cNvPr>
              <p:cNvSpPr txBox="1"/>
              <p:nvPr/>
            </p:nvSpPr>
            <p:spPr>
              <a:xfrm>
                <a:off x="9020117" y="4667180"/>
                <a:ext cx="22718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Positional embedding </a:t>
                </a:r>
                <a:br>
                  <a:rPr lang="en-US" sz="1100" dirty="0"/>
                </a:br>
                <a:r>
                  <a:rPr lang="en-US" sz="1100" dirty="0"/>
                  <a:t>(a single connected layer)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26CC13D-EEF6-2091-5017-5E7C9394F2FA}"/>
                      </a:ext>
                    </a:extLst>
                  </p:cNvPr>
                  <p:cNvSpPr txBox="1"/>
                  <p:nvPr/>
                </p:nvSpPr>
                <p:spPr>
                  <a:xfrm>
                    <a:off x="9034441" y="3570862"/>
                    <a:ext cx="158090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1100" dirty="0"/>
                      <a:t> transformer blocks</a:t>
                    </a:r>
                    <a:br>
                      <a:rPr lang="en-US" sz="1100" dirty="0"/>
                    </a:br>
                    <a:r>
                      <a:rPr lang="en-US" sz="1100" dirty="0"/>
                      <a:t>   with self-attention</a:t>
                    </a:r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26CC13D-EEF6-2091-5017-5E7C9394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4441" y="3570862"/>
                    <a:ext cx="1580907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429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0CAE62C-AB78-731C-6D86-DD4492286520}"/>
                  </a:ext>
                </a:extLst>
              </p:cNvPr>
              <p:cNvSpPr txBox="1"/>
              <p:nvPr/>
            </p:nvSpPr>
            <p:spPr>
              <a:xfrm>
                <a:off x="9020117" y="2798275"/>
                <a:ext cx="19913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Classifier (a soft-max layer)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CC71A0A-EA8D-CF7D-BBB1-6210FE08A318}"/>
                  </a:ext>
                </a:extLst>
              </p:cNvPr>
              <p:cNvGrpSpPr/>
              <p:nvPr/>
            </p:nvGrpSpPr>
            <p:grpSpPr>
              <a:xfrm>
                <a:off x="8626628" y="3567019"/>
                <a:ext cx="428389" cy="468315"/>
                <a:chOff x="3175804" y="3414619"/>
                <a:chExt cx="428389" cy="468315"/>
              </a:xfrm>
            </p:grpSpPr>
            <p:sp>
              <p:nvSpPr>
                <p:cNvPr id="76" name="Arrow: Right 75">
                  <a:extLst>
                    <a:ext uri="{FF2B5EF4-FFF2-40B4-BE49-F238E27FC236}">
                      <a16:creationId xmlns:a16="http://schemas.microsoft.com/office/drawing/2014/main" id="{F8E14A8C-7BB2-0723-A9FD-6B6EF2FD3E6E}"/>
                    </a:ext>
                  </a:extLst>
                </p:cNvPr>
                <p:cNvSpPr/>
                <p:nvPr/>
              </p:nvSpPr>
              <p:spPr>
                <a:xfrm rot="16200000" flipV="1">
                  <a:off x="3246292" y="3392892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77" name="Arrow: Right 76">
                  <a:extLst>
                    <a:ext uri="{FF2B5EF4-FFF2-40B4-BE49-F238E27FC236}">
                      <a16:creationId xmlns:a16="http://schemas.microsoft.com/office/drawing/2014/main" id="{70BA4503-4EFB-C45F-936C-2B6E68D0B90C}"/>
                    </a:ext>
                  </a:extLst>
                </p:cNvPr>
                <p:cNvSpPr/>
                <p:nvPr/>
              </p:nvSpPr>
              <p:spPr>
                <a:xfrm rot="16200000" flipV="1">
                  <a:off x="3225716" y="3461617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78" name="Arrow: Right 77">
                  <a:extLst>
                    <a:ext uri="{FF2B5EF4-FFF2-40B4-BE49-F238E27FC236}">
                      <a16:creationId xmlns:a16="http://schemas.microsoft.com/office/drawing/2014/main" id="{440C038B-E006-8A2C-6E1D-CCAA43D6FDC7}"/>
                    </a:ext>
                  </a:extLst>
                </p:cNvPr>
                <p:cNvSpPr/>
                <p:nvPr/>
              </p:nvSpPr>
              <p:spPr>
                <a:xfrm rot="16200000" flipV="1">
                  <a:off x="3197531" y="352503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0240959E-3CBA-B6A0-FFA1-F24614135DD6}"/>
              </a:ext>
            </a:extLst>
          </p:cNvPr>
          <p:cNvSpPr txBox="1"/>
          <p:nvPr/>
        </p:nvSpPr>
        <p:spPr>
          <a:xfrm>
            <a:off x="8247966" y="1487764"/>
            <a:ext cx="1724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Example</a:t>
            </a:r>
          </a:p>
        </p:txBody>
      </p:sp>
      <p:sp>
        <p:nvSpPr>
          <p:cNvPr id="81" name="Speech Bubble: Rectangle with Corners Rounded 80">
            <a:extLst>
              <a:ext uri="{FF2B5EF4-FFF2-40B4-BE49-F238E27FC236}">
                <a16:creationId xmlns:a16="http://schemas.microsoft.com/office/drawing/2014/main" id="{EB442860-41B0-500C-4D57-097233E54322}"/>
              </a:ext>
            </a:extLst>
          </p:cNvPr>
          <p:cNvSpPr/>
          <p:nvPr/>
        </p:nvSpPr>
        <p:spPr>
          <a:xfrm>
            <a:off x="9941973" y="1746505"/>
            <a:ext cx="2094046" cy="320284"/>
          </a:xfrm>
          <a:prstGeom prst="wedgeRoundRectCallout">
            <a:avLst>
              <a:gd name="adj1" fmla="val -85812"/>
              <a:gd name="adj2" fmla="val 139144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Probability for token “day”</a:t>
            </a:r>
          </a:p>
        </p:txBody>
      </p:sp>
      <p:sp>
        <p:nvSpPr>
          <p:cNvPr id="82" name="Speech Bubble: Rectangle with Corners Rounded 81">
            <a:extLst>
              <a:ext uri="{FF2B5EF4-FFF2-40B4-BE49-F238E27FC236}">
                <a16:creationId xmlns:a16="http://schemas.microsoft.com/office/drawing/2014/main" id="{803EE8E4-C4CD-F5F0-1AE9-A66CDFEAC13B}"/>
              </a:ext>
            </a:extLst>
          </p:cNvPr>
          <p:cNvSpPr/>
          <p:nvPr/>
        </p:nvSpPr>
        <p:spPr>
          <a:xfrm>
            <a:off x="10233849" y="4026716"/>
            <a:ext cx="1580905" cy="320284"/>
          </a:xfrm>
          <a:prstGeom prst="wedgeRoundRectCallout">
            <a:avLst>
              <a:gd name="adj1" fmla="val -81227"/>
              <a:gd name="adj2" fmla="val 25817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Token by embedding size matrix</a:t>
            </a:r>
          </a:p>
        </p:txBody>
      </p:sp>
      <p:sp>
        <p:nvSpPr>
          <p:cNvPr id="83" name="Speech Bubble: Rectangle with Corners Rounded 82">
            <a:extLst>
              <a:ext uri="{FF2B5EF4-FFF2-40B4-BE49-F238E27FC236}">
                <a16:creationId xmlns:a16="http://schemas.microsoft.com/office/drawing/2014/main" id="{30D819F0-0671-6362-2260-BCEE111B1158}"/>
              </a:ext>
            </a:extLst>
          </p:cNvPr>
          <p:cNvSpPr/>
          <p:nvPr/>
        </p:nvSpPr>
        <p:spPr>
          <a:xfrm>
            <a:off x="10402445" y="2991257"/>
            <a:ext cx="1580905" cy="320284"/>
          </a:xfrm>
          <a:prstGeom prst="wedgeRoundRectCallout">
            <a:avLst>
              <a:gd name="adj1" fmla="val -81227"/>
              <a:gd name="adj2" fmla="val 25817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 embedding size vector.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F74E6EE-20A0-9D70-DE59-BB3007B561E7}"/>
              </a:ext>
            </a:extLst>
          </p:cNvPr>
          <p:cNvCxnSpPr/>
          <p:nvPr/>
        </p:nvCxnSpPr>
        <p:spPr>
          <a:xfrm>
            <a:off x="7315200" y="1493756"/>
            <a:ext cx="0" cy="48442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9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385A-D658-061C-3FF8-9E8697E8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/ Context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CA82F-7E87-F33C-678A-4F3E6B9D2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70313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Design effective natural language instructions (prompts) to guide generative AI models toward desired outputs, such as text, images, or code.</a:t>
            </a:r>
          </a:p>
          <a:p>
            <a:pPr lvl="1"/>
            <a:r>
              <a:rPr lang="en-US" b="1" dirty="0"/>
              <a:t>Zero-shot prompt: </a:t>
            </a:r>
            <a:r>
              <a:rPr lang="en-US" dirty="0"/>
              <a:t>directly instructs the model to perform a task without any additional examples.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Few-Shot Prompting: </a:t>
            </a:r>
            <a:r>
              <a:rPr lang="en-US" dirty="0"/>
              <a:t>Provide demonstrations in the prompt to steer the model to better performance. This is also called “in-context learning”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Chain-of-thought</a:t>
            </a:r>
            <a:r>
              <a:rPr lang="en-US" dirty="0"/>
              <a:t>: solve a problem as a series of intermediate steps before giving a final answer. </a:t>
            </a:r>
            <a:br>
              <a:rPr lang="en-US" dirty="0"/>
            </a:br>
            <a:r>
              <a:rPr lang="en-US" i="1" dirty="0"/>
              <a:t>Note: </a:t>
            </a:r>
            <a:r>
              <a:rPr lang="en-US" dirty="0"/>
              <a:t>Many modern chatbots include chain-of-thought into the system prompt and call this </a:t>
            </a:r>
            <a:r>
              <a:rPr lang="en-US" b="1" dirty="0"/>
              <a:t>reasoning models</a:t>
            </a:r>
            <a:r>
              <a:rPr lang="en-US" dirty="0"/>
              <a:t>!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77830A-561A-B934-3E00-539C021C23B2}"/>
              </a:ext>
            </a:extLst>
          </p:cNvPr>
          <p:cNvGrpSpPr/>
          <p:nvPr/>
        </p:nvGrpSpPr>
        <p:grpSpPr>
          <a:xfrm>
            <a:off x="8025423" y="2555396"/>
            <a:ext cx="3750089" cy="2959168"/>
            <a:chOff x="8025423" y="2555396"/>
            <a:chExt cx="3750089" cy="295916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06427E-FA4C-2E1F-5B08-A69F783CB207}"/>
                </a:ext>
              </a:extLst>
            </p:cNvPr>
            <p:cNvSpPr txBox="1"/>
            <p:nvPr/>
          </p:nvSpPr>
          <p:spPr>
            <a:xfrm>
              <a:off x="8025424" y="3848090"/>
              <a:ext cx="3750087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Review: Loved it! Output: Positive</a:t>
              </a:r>
            </a:p>
            <a:p>
              <a:r>
                <a:rPr lang="en-US" sz="1400" dirty="0"/>
                <a:t>Review: Hated it. Output: Negative</a:t>
              </a:r>
            </a:p>
            <a:p>
              <a:r>
                <a:rPr lang="en-US" sz="1400" dirty="0"/>
                <a:t>Review: It was good. Output: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A5546D-5CD6-4509-AB15-DD534CF900AC}"/>
                </a:ext>
              </a:extLst>
            </p:cNvPr>
            <p:cNvSpPr txBox="1"/>
            <p:nvPr/>
          </p:nvSpPr>
          <p:spPr>
            <a:xfrm>
              <a:off x="8025424" y="3044937"/>
              <a:ext cx="3750087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6 times 15 minus 3 is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4D6113-2342-DBC8-C22F-F88114463945}"/>
                </a:ext>
              </a:extLst>
            </p:cNvPr>
            <p:cNvSpPr txBox="1"/>
            <p:nvPr/>
          </p:nvSpPr>
          <p:spPr>
            <a:xfrm>
              <a:off x="8025423" y="4991344"/>
              <a:ext cx="3750087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How much is 6 times 15 minus 3? </a:t>
              </a:r>
              <a:r>
                <a:rPr lang="en-US" sz="1400" i="1" dirty="0"/>
                <a:t>Let's think step-by-step.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CFADBC-5696-A6E2-9E51-ECFA641D0A16}"/>
                </a:ext>
              </a:extLst>
            </p:cNvPr>
            <p:cNvSpPr txBox="1"/>
            <p:nvPr/>
          </p:nvSpPr>
          <p:spPr>
            <a:xfrm>
              <a:off x="8025425" y="2555396"/>
              <a:ext cx="3750087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Examples: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93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0DB1-D016-962B-05B5-14E467C8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(RAG)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F2F3-19BA-9759-7B24-F24A7719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5864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RAG combines an information retrieval component with a text generator model.</a:t>
            </a:r>
          </a:p>
          <a:p>
            <a:r>
              <a:rPr lang="en-US" dirty="0"/>
              <a:t>Approach: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RAG takes an input and retrieves a set of relevant/supporting documents given a source (e.g., Wikipedia).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documents are concatenated as context with the original input prompt and fed to the text generator LLM.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LLM produces the final output.</a:t>
            </a:r>
          </a:p>
          <a:p>
            <a:endParaRPr lang="en-US" dirty="0"/>
          </a:p>
          <a:p>
            <a:r>
              <a:rPr lang="en-US" dirty="0"/>
              <a:t>This approach can reduce issues with hallucination and introduce information that was not in the training data.</a:t>
            </a:r>
          </a:p>
          <a:p>
            <a:r>
              <a:rPr lang="en-US" dirty="0"/>
              <a:t>Tools: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LambdaIndex</a:t>
            </a:r>
            <a:r>
              <a:rPr lang="en-US" dirty="0"/>
              <a:t>, </a:t>
            </a:r>
            <a:r>
              <a:rPr lang="en-US" dirty="0" err="1"/>
              <a:t>Flowise</a:t>
            </a:r>
            <a:r>
              <a:rPr lang="en-US" dirty="0"/>
              <a:t>,…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EF5B99-7F95-309B-1CF2-9CA200AF629D}"/>
              </a:ext>
            </a:extLst>
          </p:cNvPr>
          <p:cNvGrpSpPr/>
          <p:nvPr/>
        </p:nvGrpSpPr>
        <p:grpSpPr>
          <a:xfrm>
            <a:off x="5312845" y="1825625"/>
            <a:ext cx="6281189" cy="3563053"/>
            <a:chOff x="5312845" y="1825625"/>
            <a:chExt cx="6281189" cy="356305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3B5F4B-997E-0996-C305-70B36523ADA0}"/>
                </a:ext>
              </a:extLst>
            </p:cNvPr>
            <p:cNvGrpSpPr/>
            <p:nvPr/>
          </p:nvGrpSpPr>
          <p:grpSpPr>
            <a:xfrm>
              <a:off x="5312845" y="1965379"/>
              <a:ext cx="6156960" cy="3243731"/>
              <a:chOff x="5312845" y="1965379"/>
              <a:chExt cx="6156960" cy="3243731"/>
            </a:xfrm>
          </p:grpSpPr>
          <p:pic>
            <p:nvPicPr>
              <p:cNvPr id="1026" name="Picture 2" descr="llamaindex_rag_overview">
                <a:extLst>
                  <a:ext uri="{FF2B5EF4-FFF2-40B4-BE49-F238E27FC236}">
                    <a16:creationId xmlns:a16="http://schemas.microsoft.com/office/drawing/2014/main" id="{732BDF57-20DA-B85C-D52B-C3DF4DFC7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12845" y="1965379"/>
                <a:ext cx="6156960" cy="29975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8E5CA6-37FB-00E5-8826-C2474404AB5E}"/>
                  </a:ext>
                </a:extLst>
              </p:cNvPr>
              <p:cNvSpPr txBox="1"/>
              <p:nvPr/>
            </p:nvSpPr>
            <p:spPr>
              <a:xfrm>
                <a:off x="5598082" y="4962889"/>
                <a:ext cx="575571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Source: </a:t>
                </a:r>
                <a:r>
                  <a:rPr lang="en-US" sz="1000" dirty="0">
                    <a:hlinkClick r:id="rId3"/>
                  </a:rPr>
                  <a:t>https://codingscape.com/blog/rag-101-what-is-rag-and-why-does-it-matter</a:t>
                </a:r>
                <a:r>
                  <a:rPr lang="en-US" sz="1000" dirty="0"/>
                  <a:t> 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C3515D-D1E4-C2A4-BFE8-9B360FD83283}"/>
                </a:ext>
              </a:extLst>
            </p:cNvPr>
            <p:cNvSpPr/>
            <p:nvPr/>
          </p:nvSpPr>
          <p:spPr>
            <a:xfrm>
              <a:off x="5312845" y="1825625"/>
              <a:ext cx="6281189" cy="3563053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2212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1EE8-BE9A-D917-529C-02C6E1693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that use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74EC8-27CC-1E0D-8F02-2C32D1B09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7964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Enables LLMs to use tools like browsing the web, a calculator, or executing code.</a:t>
            </a:r>
          </a:p>
          <a:p>
            <a:endParaRPr lang="en-US" dirty="0"/>
          </a:p>
          <a:p>
            <a:r>
              <a:rPr lang="en-US" b="1" dirty="0"/>
              <a:t>Training</a:t>
            </a:r>
            <a:r>
              <a:rPr lang="en-US" dirty="0"/>
              <a:t>: LLMs are finetuned using demonstrations of how the tool is correctly used.</a:t>
            </a:r>
          </a:p>
          <a:p>
            <a:endParaRPr lang="en-US" b="1" dirty="0"/>
          </a:p>
          <a:p>
            <a:r>
              <a:rPr lang="en-US" b="1" dirty="0"/>
              <a:t>Execution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LLM generates a structured output that signals a tool call. E.g.: “browser(http://…”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tool call is intercepted by the surrounding program, and the tool is executed.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tool’s result is returned to the LLM to create the final output.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Frameworks</a:t>
            </a:r>
            <a:r>
              <a:rPr lang="en-US" dirty="0"/>
              <a:t>: </a:t>
            </a:r>
            <a:r>
              <a:rPr lang="en-US" dirty="0" err="1"/>
              <a:t>LangChain</a:t>
            </a:r>
            <a:r>
              <a:rPr lang="en-US" dirty="0"/>
              <a:t>, LangGraph, OpenAI Agents SDK, 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70A259-7857-4CAE-2196-6F0AE7EEDEEA}"/>
              </a:ext>
            </a:extLst>
          </p:cNvPr>
          <p:cNvGrpSpPr/>
          <p:nvPr/>
        </p:nvGrpSpPr>
        <p:grpSpPr>
          <a:xfrm>
            <a:off x="5726243" y="944380"/>
            <a:ext cx="6688923" cy="3774203"/>
            <a:chOff x="5726243" y="944380"/>
            <a:chExt cx="6688923" cy="377420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49AB2E-5AB0-D019-D397-E5FDF8E5D0CA}"/>
                </a:ext>
              </a:extLst>
            </p:cNvPr>
            <p:cNvGrpSpPr/>
            <p:nvPr/>
          </p:nvGrpSpPr>
          <p:grpSpPr>
            <a:xfrm>
              <a:off x="5726243" y="944380"/>
              <a:ext cx="6688923" cy="3593554"/>
              <a:chOff x="5726243" y="944380"/>
              <a:chExt cx="6688923" cy="3593554"/>
            </a:xfrm>
          </p:grpSpPr>
          <p:pic>
            <p:nvPicPr>
              <p:cNvPr id="2050" name="Picture 2" descr="Comprehensive Guide to Integrating Tools and APIs with Language Models">
                <a:extLst>
                  <a:ext uri="{FF2B5EF4-FFF2-40B4-BE49-F238E27FC236}">
                    <a16:creationId xmlns:a16="http://schemas.microsoft.com/office/drawing/2014/main" id="{2E347DCA-C0D2-CEFE-5B81-EC991D65CA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26243" y="944380"/>
                <a:ext cx="6688923" cy="3593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975DA3-83A5-50B9-CB16-0DED99189862}"/>
                  </a:ext>
                </a:extLst>
              </p:cNvPr>
              <p:cNvSpPr txBox="1"/>
              <p:nvPr/>
            </p:nvSpPr>
            <p:spPr>
              <a:xfrm>
                <a:off x="6180859" y="4291713"/>
                <a:ext cx="58996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Source: </a:t>
                </a:r>
                <a:r>
                  <a:rPr lang="en-US" sz="1000" dirty="0">
                    <a:hlinkClick r:id="rId3"/>
                  </a:rPr>
                  <a:t>https://www.mercity.ai/blog-post/guide-to-integrating-tools-and-apis-with-language-models</a:t>
                </a:r>
                <a:r>
                  <a:rPr lang="en-US" sz="1000" dirty="0"/>
                  <a:t> 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CC561C-9FFA-CE93-AA50-9C86ADC7B693}"/>
                </a:ext>
              </a:extLst>
            </p:cNvPr>
            <p:cNvSpPr/>
            <p:nvPr/>
          </p:nvSpPr>
          <p:spPr>
            <a:xfrm>
              <a:off x="6096000" y="944380"/>
              <a:ext cx="5984471" cy="3774203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864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6A47-FBB2-0EAE-3680-654EAE7E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and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50B36-D45A-D14A-30C9-32F7AD51D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Image interpretation: </a:t>
            </a:r>
            <a:r>
              <a:rPr lang="en-US" dirty="0"/>
              <a:t>image as the input</a:t>
            </a:r>
          </a:p>
          <a:p>
            <a:pPr lvl="1"/>
            <a:r>
              <a:rPr lang="en-US" dirty="0"/>
              <a:t>LLMs </a:t>
            </a:r>
            <a:r>
              <a:rPr lang="en-US" b="1" dirty="0"/>
              <a:t>convert visual data into locations in the embedding space </a:t>
            </a:r>
            <a:r>
              <a:rPr lang="en-US" dirty="0"/>
              <a:t>(using image encoders and multimodal alignment). </a:t>
            </a:r>
          </a:p>
          <a:p>
            <a:pPr lvl="1"/>
            <a:r>
              <a:rPr lang="en-US" dirty="0"/>
              <a:t>The location in the embedding space connects the image to tokens. This connection enables LLMs to describe the image.</a:t>
            </a:r>
          </a:p>
          <a:p>
            <a:pPr lvl="1"/>
            <a:r>
              <a:rPr lang="en-US" b="1" dirty="0"/>
              <a:t>Training</a:t>
            </a:r>
            <a:r>
              <a:rPr lang="en-US" dirty="0"/>
              <a:t>: LLMs that process images are usually trained with multimodal datasets and tasks like image-text matching, predicting missing parts of an image, etc.</a:t>
            </a:r>
          </a:p>
          <a:p>
            <a:pPr lvl="1"/>
            <a:endParaRPr lang="en-US" dirty="0"/>
          </a:p>
          <a:p>
            <a:r>
              <a:rPr lang="en-US" b="1" dirty="0"/>
              <a:t>Image generation: </a:t>
            </a:r>
            <a:r>
              <a:rPr lang="en-US" dirty="0"/>
              <a:t>Image as the output</a:t>
            </a:r>
          </a:p>
          <a:p>
            <a:pPr lvl="1"/>
            <a:r>
              <a:rPr lang="en-US" dirty="0"/>
              <a:t>LLMs do not directly generate images.</a:t>
            </a:r>
          </a:p>
          <a:p>
            <a:pPr lvl="1"/>
            <a:r>
              <a:rPr lang="en-US" dirty="0"/>
              <a:t>The LLM is trained to generate a textual description of the desired image and then uses an </a:t>
            </a:r>
            <a:r>
              <a:rPr lang="en-US" b="1" dirty="0"/>
              <a:t>external tool </a:t>
            </a:r>
            <a:r>
              <a:rPr lang="en-US" dirty="0"/>
              <a:t>like a diffusion model (DALL-E, Stable Diffusion, Imagen).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92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BB8B-8EE2-CE69-286C-A67838D0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0ACC-CCBF-FBC5-807D-0DE2D285D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AI solution that uses a set of specially prompted LLM calls. </a:t>
            </a:r>
          </a:p>
          <a:p>
            <a:pPr marL="0" indent="0">
              <a:buNone/>
            </a:pPr>
            <a:r>
              <a:rPr lang="en-US" dirty="0"/>
              <a:t>The solution involves any or all of these:</a:t>
            </a:r>
          </a:p>
          <a:p>
            <a:pPr lvl="1"/>
            <a:r>
              <a:rPr lang="en-US" b="1" dirty="0"/>
              <a:t>Multiple LLM calls</a:t>
            </a:r>
          </a:p>
          <a:p>
            <a:pPr lvl="1"/>
            <a:r>
              <a:rPr lang="en-US" dirty="0"/>
              <a:t>LLMs can use </a:t>
            </a:r>
            <a:r>
              <a:rPr lang="en-US" b="1" dirty="0"/>
              <a:t>tools</a:t>
            </a:r>
            <a:r>
              <a:rPr lang="en-US" dirty="0"/>
              <a:t> (browse the web, access files, etc.) to interact with an environment.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planner</a:t>
            </a:r>
            <a:r>
              <a:rPr lang="en-US" dirty="0"/>
              <a:t> coordinates the activities of the agents: Can be a developer-defined workflow or use an LLM to plan its own.</a:t>
            </a:r>
          </a:p>
          <a:p>
            <a:endParaRPr lang="en-US" dirty="0"/>
          </a:p>
          <a:p>
            <a:r>
              <a:rPr lang="en-US" b="1" dirty="0"/>
              <a:t>Tools</a:t>
            </a:r>
            <a:r>
              <a:rPr lang="en-US" dirty="0"/>
              <a:t>: </a:t>
            </a:r>
            <a:r>
              <a:rPr lang="en-US" dirty="0" err="1"/>
              <a:t>LangChain</a:t>
            </a:r>
            <a:r>
              <a:rPr lang="en-US" dirty="0"/>
              <a:t>, LangGraph, </a:t>
            </a:r>
            <a:r>
              <a:rPr lang="en-US" dirty="0" err="1"/>
              <a:t>CrewAI</a:t>
            </a:r>
            <a:r>
              <a:rPr lang="en-US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802124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881E-5F00-BA85-6E67-444C24BE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Argentic AI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C6D2B-6F2F-0E0D-BEBD-E8FBCAAF3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0728" cy="435133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Prompt chaining</a:t>
            </a:r>
            <a:r>
              <a:rPr lang="en-US" dirty="0"/>
              <a:t>: each step has a focused job, making each LLM query simpler and more accurate.</a:t>
            </a:r>
          </a:p>
          <a:p>
            <a:r>
              <a:rPr lang="en-US" b="1" dirty="0"/>
              <a:t>Routing</a:t>
            </a:r>
            <a:r>
              <a:rPr lang="en-US" dirty="0"/>
              <a:t> is about smartly directing inputs to the right handler (e.g., LLMs trained differently).</a:t>
            </a:r>
          </a:p>
          <a:p>
            <a:r>
              <a:rPr lang="en-US" b="1" dirty="0"/>
              <a:t>Parallelization</a:t>
            </a:r>
            <a:r>
              <a:rPr lang="en-US" dirty="0"/>
              <a:t> lets the agent do multiple things at the same time.</a:t>
            </a:r>
          </a:p>
          <a:p>
            <a:r>
              <a:rPr lang="en-US" b="1" dirty="0"/>
              <a:t>Orchestration</a:t>
            </a:r>
            <a:r>
              <a:rPr lang="en-US" dirty="0"/>
              <a:t>: An agent takes the input, breaks it into sub-tasks on the fly, and then dispatches each subtask to separate “worker” agents.</a:t>
            </a:r>
          </a:p>
          <a:p>
            <a:r>
              <a:rPr lang="en-US" b="1" dirty="0"/>
              <a:t>Evaluator–optimizer </a:t>
            </a:r>
            <a:r>
              <a:rPr lang="en-US" dirty="0"/>
              <a:t>is a feedback loop. One agent generates a solution, and another evaluates it and suggests improvements.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A999C-CE15-E62E-07BA-C08D46D63F51}"/>
              </a:ext>
            </a:extLst>
          </p:cNvPr>
          <p:cNvGrpSpPr/>
          <p:nvPr/>
        </p:nvGrpSpPr>
        <p:grpSpPr>
          <a:xfrm>
            <a:off x="5093185" y="1690688"/>
            <a:ext cx="7308220" cy="4609385"/>
            <a:chOff x="5093185" y="1369322"/>
            <a:chExt cx="7308220" cy="4609385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BB5CA5D9-27D7-EC75-EED5-9679B80EE5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5114" y="1369322"/>
              <a:ext cx="6894573" cy="4340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11E0D61-F0EE-6CA7-629D-3EB295A4A9CA}"/>
                </a:ext>
              </a:extLst>
            </p:cNvPr>
            <p:cNvSpPr txBox="1"/>
            <p:nvPr/>
          </p:nvSpPr>
          <p:spPr>
            <a:xfrm>
              <a:off x="5093185" y="5732486"/>
              <a:ext cx="73082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Source: </a:t>
              </a:r>
              <a:r>
                <a:rPr lang="en-US" sz="1000" dirty="0">
                  <a:hlinkClick r:id="rId4"/>
                </a:rPr>
                <a:t>https://pub.towardsai.net/5-design-patterns-in-agentic-ai-workflow-c972c83f77e4</a:t>
              </a:r>
              <a:r>
                <a:rPr lang="en-US" sz="10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096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C9A44-A717-439B-1981-66C6265B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858D-C9E0-B5BE-F2EA-BB136826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433"/>
            <a:ext cx="5540115" cy="4866442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LLMs are </a:t>
            </a:r>
            <a:r>
              <a:rPr lang="en-US" sz="1400" b="1" dirty="0"/>
              <a:t>knowledge-based agents</a:t>
            </a:r>
            <a:r>
              <a:rPr lang="en-US" sz="1400" dirty="0"/>
              <a:t> trained for the next-word prediction task.</a:t>
            </a:r>
          </a:p>
          <a:p>
            <a:r>
              <a:rPr lang="en-US" sz="1400" dirty="0"/>
              <a:t>LLMs can be fine-tuned for specific purposes (e.g., a chatbot), to </a:t>
            </a:r>
            <a:r>
              <a:rPr lang="en-US" sz="1400" b="1" dirty="0"/>
              <a:t>understand images</a:t>
            </a:r>
            <a:r>
              <a:rPr lang="en-US" sz="1400" dirty="0"/>
              <a:t>, and to </a:t>
            </a:r>
            <a:r>
              <a:rPr lang="en-US" sz="1400" b="1" dirty="0"/>
              <a:t>use tools</a:t>
            </a:r>
            <a:r>
              <a:rPr lang="en-US" sz="1400" dirty="0"/>
              <a:t>.</a:t>
            </a:r>
          </a:p>
          <a:p>
            <a:r>
              <a:rPr lang="en-US" sz="1400" b="1" dirty="0"/>
              <a:t>Prompt engineering </a:t>
            </a:r>
            <a:r>
              <a:rPr lang="en-US" sz="1400" dirty="0"/>
              <a:t>(context engineering) is important to produce better responses from the LLM.</a:t>
            </a:r>
          </a:p>
          <a:p>
            <a:r>
              <a:rPr lang="en-US" sz="1400" b="1" dirty="0"/>
              <a:t>Retrieval Augmented Generation </a:t>
            </a:r>
            <a:r>
              <a:rPr lang="en-US" sz="1400" dirty="0"/>
              <a:t>(RAG) can be used to include information that was not in the training data.</a:t>
            </a:r>
          </a:p>
          <a:p>
            <a:r>
              <a:rPr lang="en-US" sz="1400" b="1" dirty="0"/>
              <a:t>Agentic AI </a:t>
            </a:r>
            <a:r>
              <a:rPr lang="en-US" sz="1400" dirty="0"/>
              <a:t>uses multiple LLM calls to deal with more complicated problems.</a:t>
            </a:r>
          </a:p>
          <a:p>
            <a:endParaRPr lang="en-US" sz="1400" dirty="0"/>
          </a:p>
          <a:p>
            <a:r>
              <a:rPr lang="en-US" sz="1400" dirty="0"/>
              <a:t>Some issues: </a:t>
            </a:r>
          </a:p>
          <a:p>
            <a:pPr lvl="1"/>
            <a:r>
              <a:rPr lang="en-US" sz="1400" b="1" dirty="0"/>
              <a:t>Hallucinations</a:t>
            </a:r>
            <a:r>
              <a:rPr lang="en-US" sz="1400" dirty="0"/>
              <a:t>; the LLM does not say when it is not sure. RAG can help.</a:t>
            </a:r>
          </a:p>
          <a:p>
            <a:pPr lvl="1"/>
            <a:r>
              <a:rPr lang="en-US" sz="1400" b="1" dirty="0"/>
              <a:t>Privacy and data security </a:t>
            </a:r>
            <a:r>
              <a:rPr lang="en-US" sz="1400" dirty="0"/>
              <a:t>when a third party hosts the LLM. Training data can be poisoned.</a:t>
            </a:r>
          </a:p>
          <a:p>
            <a:pPr lvl="1"/>
            <a:r>
              <a:rPr lang="en-US" sz="1400" b="1" dirty="0"/>
              <a:t>Safety</a:t>
            </a:r>
            <a:r>
              <a:rPr lang="en-US" sz="1400" dirty="0"/>
              <a:t>: It is easy to avoid guardrails (i.e., jailbreak) leading to unsafe responses.</a:t>
            </a:r>
          </a:p>
          <a:p>
            <a:pPr lvl="1"/>
            <a:r>
              <a:rPr lang="en-US" sz="1400" dirty="0"/>
              <a:t>LLMs currently have no (or very little</a:t>
            </a:r>
            <a:r>
              <a:rPr lang="en-US" sz="1400" b="1" dirty="0"/>
              <a:t>) common sense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LLMs’ performance is influenced by small prompt changes. The results are not very </a:t>
            </a:r>
            <a:r>
              <a:rPr lang="en-US" sz="1400" b="1" dirty="0"/>
              <a:t>dependable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Reasoning</a:t>
            </a:r>
            <a:r>
              <a:rPr lang="en-US" sz="1400" dirty="0"/>
              <a:t> capabilities are very limited. Agentic AI tries to mitigate this issue by focusing on smaller tasks. </a:t>
            </a:r>
          </a:p>
          <a:p>
            <a:endParaRPr lang="en-US" sz="1400" dirty="0"/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5159A795-6BA6-5020-532B-19E3C5505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r="8638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02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eab711-90d1-4c0f-9775-bfb7f5e5a79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2C0C88D39C234FAEC96AAE0F671565" ma:contentTypeVersion="14" ma:contentTypeDescription="Create a new document." ma:contentTypeScope="" ma:versionID="aacf67911b4e5100e6e89812ee2bd0a3">
  <xsd:schema xmlns:xsd="http://www.w3.org/2001/XMLSchema" xmlns:xs="http://www.w3.org/2001/XMLSchema" xmlns:p="http://schemas.microsoft.com/office/2006/metadata/properties" xmlns:ns3="49eab711-90d1-4c0f-9775-bfb7f5e5a799" xmlns:ns4="609867d6-2629-4535-86dd-ac3b97a3ffd8" targetNamespace="http://schemas.microsoft.com/office/2006/metadata/properties" ma:root="true" ma:fieldsID="8f1a028f5fcafea802f1bbbd0ccd48f9" ns3:_="" ns4:_="">
    <xsd:import namespace="49eab711-90d1-4c0f-9775-bfb7f5e5a799"/>
    <xsd:import namespace="609867d6-2629-4535-86dd-ac3b97a3ff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ab711-90d1-4c0f-9775-bfb7f5e5a7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9867d6-2629-4535-86dd-ac3b97a3ffd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AB5880-6DEB-490E-8068-CD3C9FC7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B526AB-E763-48A9-8676-6358C5544126}">
  <ds:schemaRefs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609867d6-2629-4535-86dd-ac3b97a3ffd8"/>
    <ds:schemaRef ds:uri="49eab711-90d1-4c0f-9775-bfb7f5e5a799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9830ED9-A146-440C-B934-C557D3AC18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eab711-90d1-4c0f-9775-bfb7f5e5a799"/>
    <ds:schemaRef ds:uri="609867d6-2629-4535-86dd-ac3b97a3ff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1820</Words>
  <Application>Microsoft Office PowerPoint</Application>
  <PresentationFormat>Widescreen</PresentationFormat>
  <Paragraphs>215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Large Language Models in AI  A Quick Overview</vt:lpstr>
      <vt:lpstr>Example Conversation With a  Large Language Model (LLM)</vt:lpstr>
      <vt:lpstr>Using Natural Language for Knowledge Representation</vt:lpstr>
      <vt:lpstr>What are LLMs</vt:lpstr>
      <vt:lpstr>How LLMs Understand Text</vt:lpstr>
      <vt:lpstr>Prompts and Generation</vt:lpstr>
      <vt:lpstr>How LLMs Predict the Next Word</vt:lpstr>
      <vt:lpstr>Structure of a GPT-type LLM</vt:lpstr>
      <vt:lpstr>Prompt Engineering / Context Engineering</vt:lpstr>
      <vt:lpstr>Retrieval Augmented Generation (RAG)</vt:lpstr>
      <vt:lpstr>LLMs that use Tools</vt:lpstr>
      <vt:lpstr>LLMs and Images</vt:lpstr>
      <vt:lpstr>Argentic AI</vt:lpstr>
      <vt:lpstr>Argentic AI Strategies</vt:lpstr>
      <vt:lpstr>Conclusion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23</cp:revision>
  <dcterms:created xsi:type="dcterms:W3CDTF">2025-08-31T19:58:19Z</dcterms:created>
  <dcterms:modified xsi:type="dcterms:W3CDTF">2025-11-10T17:49:29Z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0x010100E62C0C88D39C234FAEC96AAE0F671565</vt:lpwstr>
  </property>
</Properties>
</file>