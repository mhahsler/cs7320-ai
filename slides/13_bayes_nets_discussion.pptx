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94" r:id="rId2"/>
    <p:sldId id="263" r:id="rId3"/>
    <p:sldId id="282" r:id="rId4"/>
    <p:sldId id="407" r:id="rId5"/>
    <p:sldId id="305" r:id="rId6"/>
    <p:sldId id="306" r:id="rId7"/>
    <p:sldId id="307" r:id="rId8"/>
    <p:sldId id="297" r:id="rId9"/>
    <p:sldId id="298" r:id="rId10"/>
    <p:sldId id="299" r:id="rId11"/>
    <p:sldId id="317" r:id="rId12"/>
    <p:sldId id="320" r:id="rId13"/>
    <p:sldId id="322" r:id="rId1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0414DC9-0645-4083-969A-0E91DFB27E53}">
          <p14:sldIdLst>
            <p14:sldId id="294"/>
          </p14:sldIdLst>
        </p14:section>
        <p14:section name="Bayesian Networks" id="{71F8DEDF-787B-487C-B69A-23E849119B89}">
          <p14:sldIdLst>
            <p14:sldId id="263"/>
          </p14:sldIdLst>
        </p14:section>
        <p14:section name="Constructing Bayesian Networks" id="{4DEA269B-4784-48B7-98AA-BF12D67ACD5F}">
          <p14:sldIdLst/>
        </p14:section>
        <p14:section name="Exact Inference in Bayesian Networks" id="{E28E4138-660E-46D9-AE6C-11AAE04FC7DF}">
          <p14:sldIdLst>
            <p14:sldId id="282"/>
          </p14:sldIdLst>
        </p14:section>
        <p14:section name="Approximate Inference in Bayes Networks" id="{7D7CE26B-4811-4FD5-91F3-0227F93FAC1B}">
          <p14:sldIdLst>
            <p14:sldId id="407"/>
            <p14:sldId id="305"/>
            <p14:sldId id="306"/>
            <p14:sldId id="307"/>
            <p14:sldId id="297"/>
            <p14:sldId id="298"/>
            <p14:sldId id="299"/>
            <p14:sldId id="317"/>
          </p14:sldIdLst>
        </p14:section>
        <p14:section name="MCMC" id="{340D9B00-FBA5-4A1A-AB41-1A373AFC1CC5}">
          <p14:sldIdLst>
            <p14:sldId id="320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7E5"/>
    <a:srgbClr val="000000"/>
    <a:srgbClr val="B2B2B2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1" autoAdjust="0"/>
    <p:restoredTop sz="86427" autoAdjust="0"/>
  </p:normalViewPr>
  <p:slideViewPr>
    <p:cSldViewPr>
      <p:cViewPr varScale="1">
        <p:scale>
          <a:sx n="83" d="100"/>
          <a:sy n="83" d="100"/>
        </p:scale>
        <p:origin x="137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6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1CA99E0-E95C-4F1B-B0F2-4565A2B4014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6A2EA70-8A4C-40BF-A25E-4BD4BBF0DDA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10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783A-41E2-4A27-89B6-F5B49810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F4558-A515-46EC-89C2-2C634D5B4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AE1E-39AD-4CEA-8BC7-BAA2D8C7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A101-A780-4CF7-919C-E33D9327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95CD-6A1A-45A1-BE64-5E34BDEC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02A0-2A22-4053-87DB-A49A1760D2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2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130-2C46-4407-B205-171143A8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8D98-A748-4289-A391-B8E352E8C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BF89-81CF-49BA-987A-921F83D3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283E-4234-432A-AA13-CAB61132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4D602-2AF5-400F-9A51-7AB06289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D7D2A-1BAE-400D-B4B6-AE94372DC0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29D1-68BD-43E4-B4CB-3AECEDCB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A9B28-55F8-4B46-A216-3129684A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A3C1-5190-4611-A8CE-48AEFABB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4F474-A969-491C-891A-434A3BAA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98B7-9F98-405A-83D2-1A79BF4D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1415-B1A8-492C-B7C6-94B7FBFAE2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ED0F-D33B-45D0-A944-1FC6796B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17D5-835C-46D4-A5D1-A679D3895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A736B-BD60-4857-89E0-3BFC4B318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B511C-5622-46BB-B4AC-F8D98368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8415-351C-450F-B6E3-A7D772BB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436CF-29C5-4EF6-95F5-90215C10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F07F-76C4-454F-B8DD-1935FAB6C5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53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2D39-EE71-4683-B5FA-0CB93AF5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064D6-A973-4017-8D39-9FABC96C9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A08A6-B8C4-4881-B449-B1A3F40CA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2E0F0-D98E-4BC9-91D6-A1BC50D03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5F636-C54A-4D14-9B9B-03897AE2C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987F8-F4A7-4652-9DBF-5377C0E2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89D24-8D97-4827-A451-4B79A789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90917-1CC6-4F1A-8E65-9E86A02D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FC8E3-4FC0-4047-B5D6-F758D3251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7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A5A-5CF6-4552-9728-2F69BB44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E5080-7B35-4F59-8D72-77FB9223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59D7F-A05D-45A8-9CCE-EED38BB9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CD74A-A7B8-48C2-9FAE-99CC77BA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26D4-932C-478F-A230-EF4C62E6E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9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A779C-789A-40D7-9C6E-04F53A20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ABFA3-7645-4E79-A762-0A974AB0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5495-F4BE-4BA1-8B08-50B7FFDC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9634-C294-488D-8DB4-6764EAD2AD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3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C06D-3B49-4775-9B2D-983727B9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5A4F-DB2B-438B-BA34-3A59E45B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E09D1-9974-4F0A-A7A6-ED8931BDB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13D51-C3DF-4FCE-A48D-33128FEE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A1094-B5BA-4A8C-8B8C-D4B6D7E7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2D8C8-07F7-4780-86C6-F5EEB27B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CCE15-091A-4D6A-B3E0-FCFCC42F8F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5ABA-EAB7-45A5-9D44-1B01325F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A535E-43B9-482B-B046-B415405C1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9DFC3-D3A9-4D32-8EB5-516EEF8B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0BD4E-A3E6-42B0-AC69-16FCE867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74BAB-AEE6-4C57-BD49-F5CF5D3D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2253A-2F02-4D8C-967B-8768BDCB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54DA-5701-411B-AE15-165F911C3A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2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989E-1478-44FB-93B8-87229612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93EC2-3C6A-459C-9B56-AD9D4B185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734D-B576-447A-B806-54226059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6FEF3-9BC7-4F0D-97DF-BB65C5C9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B31A-6B58-4628-8192-3AA7F82C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ECFB2-8AE7-463F-BA78-3395A84F79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1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6A904-CAA6-4024-9432-7FF71B2B0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5A153-F4E8-445A-A98E-C463FC79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D128-0E01-46E7-B772-14168573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34B1-B2B9-4E2C-B38B-98025FD6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5F098-3E69-4E73-8B10-70C721A5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AD993-E1A1-4830-9832-91AF7F474A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7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0655B7-F306-4791-AAFB-5CCF488C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D7771-A291-483A-A91F-AB686291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F619-EF5F-4455-BCAA-CCA1F8371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D9D6-6950-408D-8D0C-D79DFC986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5CF8-529D-47EB-9FAB-0B53D912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99897-58A2-4F66-9561-F3C3577365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7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354" name="Picture 2" descr="Image for post">
            <a:extLst>
              <a:ext uri="{FF2B5EF4-FFF2-40B4-BE49-F238E27FC236}">
                <a16:creationId xmlns:a16="http://schemas.microsoft.com/office/drawing/2014/main" id="{F9544095-63FC-4977-87C8-5362889640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88" t="9091" r="37469" b="-2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491BE8-DB8F-4D10-BCCC-2EAB23682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2689515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5/7320 </a:t>
            </a: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</a:t>
            </a: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Probabilistic Reasoning:</a:t>
            </a: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Networks</a:t>
            </a: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AIMA Chapter 13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900AEE-2C3D-40EA-9248-E0DA5CD8C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4817359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400" dirty="0"/>
              <a:t>Slides by Michael Hahsler </a:t>
            </a:r>
            <a:br>
              <a:rPr lang="en-US" sz="1400" dirty="0"/>
            </a:br>
            <a:r>
              <a:rPr lang="en-US" sz="1400" dirty="0"/>
              <a:t>based on slides by Svetlana </a:t>
            </a:r>
            <a:r>
              <a:rPr lang="en-US" sz="1400" dirty="0" err="1"/>
              <a:t>Lazepnik</a:t>
            </a:r>
            <a:br>
              <a:rPr lang="en-US" sz="1400" dirty="0"/>
            </a:br>
            <a:r>
              <a:rPr lang="en-US" sz="1400" dirty="0"/>
              <a:t>with figures from the AIMA textbook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960775-322E-B1C5-35F2-BE4302613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64885" y="5243763"/>
            <a:ext cx="1209652" cy="1440289"/>
            <a:chOff x="7162800" y="4191000"/>
            <a:chExt cx="1676400" cy="198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58DF24-1B8F-236D-4337-CE4FD2D6855B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E84CD5F9-7D45-0889-8318-ABE979896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2" y="4213372"/>
              <a:ext cx="1632631" cy="163263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05FCE1-498C-AD98-B141-42B4C52DAE96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EEF24E-9828-5E81-3760-DC74E5F3C199}"/>
              </a:ext>
            </a:extLst>
          </p:cNvPr>
          <p:cNvGrpSpPr/>
          <p:nvPr/>
        </p:nvGrpSpPr>
        <p:grpSpPr>
          <a:xfrm>
            <a:off x="324195" y="5935948"/>
            <a:ext cx="3017521" cy="757438"/>
            <a:chOff x="324195" y="5935948"/>
            <a:chExt cx="3017521" cy="7574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B5547D-E073-93F7-BB05-CC9CF861D4A8}"/>
                </a:ext>
              </a:extLst>
            </p:cNvPr>
            <p:cNvSpPr txBox="1"/>
            <p:nvPr/>
          </p:nvSpPr>
          <p:spPr>
            <a:xfrm>
              <a:off x="324195" y="6293276"/>
              <a:ext cx="301752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0" i="0" dirty="0">
                  <a:solidFill>
                    <a:schemeClr val="tx1">
                      <a:lumMod val="50000"/>
                    </a:schemeClr>
                  </a:solidFill>
                  <a:effectLst/>
                </a:rPr>
                <a:t>This work is licensed under a </a:t>
              </a:r>
              <a:r>
                <a:rPr lang="en-US" sz="10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000" b="0" i="0" strike="noStrike" dirty="0" err="1">
                  <a:solidFill>
                    <a:schemeClr val="tx1">
                      <a:lumMod val="50000"/>
                    </a:schemeClr>
                  </a:solidFill>
                  <a:effectLst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0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000" b="0" i="0" dirty="0">
                  <a:solidFill>
                    <a:schemeClr val="tx1">
                      <a:lumMod val="50000"/>
                    </a:schemeClr>
                  </a:solidFill>
                  <a:effectLst/>
                </a:rPr>
                <a:t>.</a:t>
              </a:r>
              <a:endParaRPr lang="en-US" sz="10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BA7D81B-634E-6EF7-8A4A-B6806F0639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076" y="5935948"/>
              <a:ext cx="894434" cy="31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D52504-A75A-EBF4-5781-5692791FD7F8}"/>
              </a:ext>
            </a:extLst>
          </p:cNvPr>
          <p:cNvSpPr txBox="1"/>
          <p:nvPr/>
        </p:nvSpPr>
        <p:spPr>
          <a:xfrm rot="2099715">
            <a:off x="1208326" y="632636"/>
            <a:ext cx="18288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latin typeface="+mj-lt"/>
                <a:ea typeface="+mj-ea"/>
                <a:cs typeface="+mj-cs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921184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2788" y="1295400"/>
                <a:ext cx="5016012" cy="5105400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For a network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boolean variables, the full joint distribution requires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6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probabilities.</a:t>
                </a:r>
                <a:br>
                  <a:rPr lang="en-US" sz="1600" dirty="0"/>
                </a:br>
                <a:r>
                  <a:rPr lang="en-US" sz="1600" b="1" dirty="0"/>
                  <a:t>Example</a:t>
                </a:r>
                <a:r>
                  <a:rPr lang="en-US" sz="1600" dirty="0"/>
                  <a:t>: Burglary network</a:t>
                </a:r>
                <a:br>
                  <a:rPr lang="en-US" sz="1600" dirty="0"/>
                </a:br>
                <a:r>
                  <a:rPr lang="en-US" sz="1600" dirty="0"/>
                  <a:t>                    Joint probability: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 baseline="30000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𝟑𝟏</m:t>
                    </m:r>
                  </m:oMath>
                </a14:m>
                <a:r>
                  <a:rPr lang="en-US" sz="1600" b="1" dirty="0"/>
                  <a:t> </a:t>
                </a:r>
                <a:r>
                  <a:rPr lang="en-US" sz="1600" dirty="0"/>
                  <a:t>entries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sz="1600" dirty="0"/>
                  <a:t>If each variable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 has at most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boolean parents, then each conditional probability table (CPT) has at most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 baseline="30000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0066FF"/>
                    </a:solidFill>
                  </a:rPr>
                  <a:t> </a:t>
                </a:r>
                <a:r>
                  <a:rPr lang="en-US" sz="1600" dirty="0"/>
                  <a:t>rows. The CPTs for all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nodes contain then at most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6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baseline="30000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6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probabilities.</a:t>
                </a:r>
                <a:br>
                  <a:rPr lang="en-US" sz="1600" dirty="0"/>
                </a:br>
                <a:r>
                  <a:rPr lang="en-US" sz="1600" b="1" dirty="0"/>
                  <a:t>Example</a:t>
                </a:r>
                <a:r>
                  <a:rPr lang="en-US" sz="1600" dirty="0"/>
                  <a:t>: Burglary network </a:t>
                </a:r>
                <a:br>
                  <a:rPr lang="en-US" sz="1600" dirty="0"/>
                </a:br>
                <a:r>
                  <a:rPr lang="en-US" sz="1600" dirty="0"/>
                  <a:t>		Using CPTs: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1+1+4+2+2=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US" sz="1600" dirty="0"/>
              </a:p>
              <a:p>
                <a:endParaRPr lang="en-US" sz="1600" b="1" dirty="0">
                  <a:solidFill>
                    <a:srgbClr val="FF0000"/>
                  </a:solidFill>
                </a:endParaRPr>
              </a:p>
              <a:p>
                <a:r>
                  <a:rPr lang="en-US" sz="1600" b="1" dirty="0">
                    <a:solidFill>
                      <a:srgbClr val="FF0000"/>
                    </a:solidFill>
                  </a:rPr>
                  <a:t>This reduces the space complexity from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b="1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1600" b="1" dirty="0">
                    <a:solidFill>
                      <a:srgbClr val="FF0000"/>
                    </a:solidFill>
                  </a:rPr>
                  <a:t> and lets us store large networks!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sz="1600" b="1" dirty="0"/>
                  <a:t>Note</a:t>
                </a:r>
                <a:r>
                  <a:rPr lang="en-US" sz="1600" dirty="0"/>
                  <a:t>: The Bayesian network stores all information needed for the complete joint probability. It let’s us make optimal Bayesian decisions!</a:t>
                </a:r>
              </a:p>
            </p:txBody>
          </p:sp>
        </mc:Choice>
        <mc:Fallback>
          <p:sp>
            <p:nvSpPr>
              <p:cNvPr id="92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88" y="1295400"/>
                <a:ext cx="5016012" cy="5105400"/>
              </a:xfrm>
              <a:blipFill>
                <a:blip r:embed="rId3"/>
                <a:stretch>
                  <a:fillRect l="-486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2646AD-0BAE-4D30-47B3-DC4AE3511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295400"/>
            <a:ext cx="3244856" cy="1958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Inference: </a:t>
            </a:r>
            <a:br>
              <a:rPr lang="en-US" dirty="0"/>
            </a:br>
            <a:r>
              <a:rPr lang="en-US" dirty="0"/>
              <a:t>Calculating Conditional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7886700" cy="396758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Goal</a:t>
                </a:r>
              </a:p>
              <a:p>
                <a:pPr lvl="1"/>
                <a:r>
                  <a:rPr lang="en-US" sz="2400" dirty="0"/>
                  <a:t>Query </a:t>
                </a:r>
                <a:r>
                  <a:rPr lang="en-US" sz="2400" i="1" dirty="0"/>
                  <a:t>variables: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dirty="0">
                  <a:solidFill>
                    <a:srgbClr val="0066FF"/>
                  </a:solidFill>
                </a:endParaRPr>
              </a:p>
              <a:p>
                <a:pPr lvl="1"/>
                <a:r>
                  <a:rPr lang="en-US" sz="2400" i="1" dirty="0"/>
                  <a:t>Evidence </a:t>
                </a:r>
                <a:r>
                  <a:rPr lang="en-US" sz="2400" dirty="0"/>
                  <a:t>(</a:t>
                </a:r>
                <a:r>
                  <a:rPr lang="en-US" sz="2400" i="1" dirty="0"/>
                  <a:t>observed</a:t>
                </a:r>
                <a:r>
                  <a:rPr lang="en-US" sz="2400" dirty="0"/>
                  <a:t>) event: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066FF"/>
                  </a:solidFill>
                </a:endParaRPr>
              </a:p>
              <a:p>
                <a:pPr lvl="1"/>
                <a:r>
                  <a:rPr lang="en-US" sz="2400" i="1" dirty="0"/>
                  <a:t>Set of unobserved </a:t>
                </a:r>
                <a:r>
                  <a:rPr lang="en-US" sz="2400" dirty="0"/>
                  <a:t>variables: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lvl="1"/>
                <a:r>
                  <a:rPr lang="en-US" sz="2400" dirty="0"/>
                  <a:t>Calculate the probability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we know the full joint distribution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sz="2400" dirty="0"/>
                  <a:t>we can infer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b="1" dirty="0">
                    <a:solidFill>
                      <a:srgbClr val="0066FF"/>
                    </a:solidFill>
                  </a:rPr>
                  <a:t> </a:t>
                </a:r>
                <a:r>
                  <a:rPr lang="en-US" sz="2400" dirty="0"/>
                  <a:t>by:</a:t>
                </a:r>
              </a:p>
              <a:p>
                <a:pPr lvl="1"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 lvl="1">
                  <a:buNone/>
                </a:pPr>
                <a:endParaRPr lang="en-US" sz="2400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r>
                                <a:rPr 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en-US" sz="2700" dirty="0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7886700" cy="3967586"/>
              </a:xfrm>
              <a:blipFill>
                <a:blip r:embed="rId3"/>
                <a:stretch>
                  <a:fillRect l="-1005" t="-3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1B9C2C12-1844-4E38-BACA-59E42FBE9848}"/>
              </a:ext>
            </a:extLst>
          </p:cNvPr>
          <p:cNvSpPr/>
          <p:nvPr/>
        </p:nvSpPr>
        <p:spPr>
          <a:xfrm>
            <a:off x="6102563" y="5604353"/>
            <a:ext cx="2514600" cy="914400"/>
          </a:xfrm>
          <a:prstGeom prst="wedgeRectCallout">
            <a:avLst>
              <a:gd name="adj1" fmla="val -38735"/>
              <a:gd name="adj2" fmla="val -7657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over values of unobservable variables = marginalizing them out.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8EB57-4EAA-0D3B-3642-80F70E9056BB}"/>
              </a:ext>
            </a:extLst>
          </p:cNvPr>
          <p:cNvSpPr txBox="1"/>
          <p:nvPr/>
        </p:nvSpPr>
        <p:spPr>
          <a:xfrm>
            <a:off x="6324600" y="372676"/>
            <a:ext cx="2438400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too much work for large networks!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FAB1-2C58-4E8D-AF69-8FADB928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Inference: </a:t>
            </a:r>
            <a:br>
              <a:rPr lang="en-US" dirty="0"/>
            </a:br>
            <a:r>
              <a:rPr lang="en-US" dirty="0"/>
              <a:t>Prior-Sample Algorithm </a:t>
            </a:r>
          </a:p>
        </p:txBody>
      </p:sp>
      <p:pic>
        <p:nvPicPr>
          <p:cNvPr id="5" name="Picture 4" descr="The Prior-Sample algorithm.">
            <a:extLst>
              <a:ext uri="{FF2B5EF4-FFF2-40B4-BE49-F238E27FC236}">
                <a16:creationId xmlns:a16="http://schemas.microsoft.com/office/drawing/2014/main" id="{A14537AF-BCDD-4290-8D6E-24D106CC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64" y="1905000"/>
            <a:ext cx="8083671" cy="19812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BBAB58-0821-49FF-BA4B-1A8124AA6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107" y="3922639"/>
            <a:ext cx="3041806" cy="279414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65C80E-4AFC-40BA-8C32-59DFC2D01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774796" y="3200400"/>
            <a:ext cx="267011" cy="9001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DCDB60C0-9B9B-4EC7-97CA-E56926BC0CE2}"/>
              </a:ext>
            </a:extLst>
          </p:cNvPr>
          <p:cNvSpPr/>
          <p:nvPr/>
        </p:nvSpPr>
        <p:spPr>
          <a:xfrm>
            <a:off x="1555596" y="4100511"/>
            <a:ext cx="2438400" cy="1219200"/>
          </a:xfrm>
          <a:prstGeom prst="wedgeRectCallout">
            <a:avLst>
              <a:gd name="adj1" fmla="val 142820"/>
              <a:gd name="adj2" fmla="val -2874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is important! We need to start with the random variables that have no parents.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386C3D0-FEC1-4B51-FF39-5C0997C28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3922" y="4267200"/>
            <a:ext cx="449078" cy="167640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Variable 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1D9E1-67BA-F0E5-9BA5-8EA28FC7AD68}"/>
              </a:ext>
            </a:extLst>
          </p:cNvPr>
          <p:cNvSpPr txBox="1"/>
          <p:nvPr/>
        </p:nvSpPr>
        <p:spPr>
          <a:xfrm>
            <a:off x="628650" y="5819783"/>
            <a:ext cx="2146146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This looks like playouts in games.</a:t>
            </a:r>
          </a:p>
        </p:txBody>
      </p:sp>
    </p:spTree>
    <p:extLst>
      <p:ext uri="{BB962C8B-B14F-4D97-AF65-F5344CB8AC3E}">
        <p14:creationId xmlns:p14="http://schemas.microsoft.com/office/powerpoint/2010/main" val="4043948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350235" y="388203"/>
            <a:ext cx="8565165" cy="830997"/>
          </a:xfrm>
          <a:prstGeom prst="rect">
            <a:avLst/>
          </a:prstGeom>
          <a:solidFill>
            <a:schemeClr val="bg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Sampling from a Bayesian Network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6802" name="Picture 2" descr="Sampling in Bayes networks starts with nodes that have no parents."/>
          <p:cNvPicPr>
            <a:picLocks noChangeAspect="1" noChangeArrowheads="1"/>
          </p:cNvPicPr>
          <p:nvPr/>
        </p:nvPicPr>
        <p:blipFill rotWithShape="1">
          <a:blip r:embed="rId3" cstate="print"/>
          <a:srcRect l="16406" t="16667" r="14844" b="11556"/>
          <a:stretch/>
        </p:blipFill>
        <p:spPr bwMode="auto">
          <a:xfrm>
            <a:off x="1295400" y="1219200"/>
            <a:ext cx="6705600" cy="525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16C0F048-650B-47D1-9800-4BB5DF8FA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219200"/>
            <a:ext cx="914400" cy="480060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Variable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350235" y="388203"/>
            <a:ext cx="8565165" cy="830997"/>
          </a:xfrm>
          <a:prstGeom prst="rect">
            <a:avLst/>
          </a:prstGeom>
          <a:solidFill>
            <a:schemeClr val="bg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Sampling from a Bayesian Network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7826" name="Picture 2" descr="Sampling starts with the variable cloudy."/>
          <p:cNvPicPr>
            <a:picLocks noChangeAspect="1" noChangeArrowheads="1"/>
          </p:cNvPicPr>
          <p:nvPr/>
        </p:nvPicPr>
        <p:blipFill rotWithShape="1">
          <a:blip r:embed="rId3" cstate="print"/>
          <a:srcRect l="10937" t="16667" r="8594" b="13542"/>
          <a:stretch/>
        </p:blipFill>
        <p:spPr bwMode="auto">
          <a:xfrm>
            <a:off x="762000" y="1219200"/>
            <a:ext cx="7848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585BD43D-88D0-4302-8B8F-C4CBB3C93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1359754"/>
            <a:ext cx="2514600" cy="696061"/>
          </a:xfrm>
          <a:prstGeom prst="wedgeRoundRectCallout">
            <a:avLst>
              <a:gd name="adj1" fmla="val 81070"/>
              <a:gd name="adj2" fmla="val 70138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 a random value </a:t>
            </a:r>
            <a:br>
              <a:rPr lang="en-US" dirty="0"/>
            </a:br>
            <a:r>
              <a:rPr lang="en-US" dirty="0"/>
              <a:t>using the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350235" y="388203"/>
            <a:ext cx="8565165" cy="830997"/>
          </a:xfrm>
          <a:prstGeom prst="rect">
            <a:avLst/>
          </a:prstGeom>
          <a:solidFill>
            <a:schemeClr val="bg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Sampling from a Bayesian Network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850" name="Picture 2" descr="Next we sample sprinkler and rain given that coudy is true."/>
          <p:cNvPicPr>
            <a:picLocks noChangeAspect="1" noChangeArrowheads="1"/>
          </p:cNvPicPr>
          <p:nvPr/>
        </p:nvPicPr>
        <p:blipFill rotWithShape="1">
          <a:blip r:embed="rId3" cstate="print"/>
          <a:srcRect l="14844" t="16666" r="12500" b="11458"/>
          <a:stretch/>
        </p:blipFill>
        <p:spPr bwMode="auto">
          <a:xfrm>
            <a:off x="1143000" y="1219200"/>
            <a:ext cx="7086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350235" y="388203"/>
            <a:ext cx="8565165" cy="830997"/>
          </a:xfrm>
          <a:prstGeom prst="rect">
            <a:avLst/>
          </a:prstGeom>
          <a:solidFill>
            <a:schemeClr val="bg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Sampling from a Bayesian Network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0898" name="Picture 2" descr="We randomly sample sprinkler is false and rain is true."/>
          <p:cNvPicPr>
            <a:picLocks noChangeAspect="1" noChangeArrowheads="1"/>
          </p:cNvPicPr>
          <p:nvPr/>
        </p:nvPicPr>
        <p:blipFill rotWithShape="1">
          <a:blip r:embed="rId3" cstate="print"/>
          <a:srcRect l="16406" t="16667" r="14844" b="11556"/>
          <a:stretch/>
        </p:blipFill>
        <p:spPr bwMode="auto">
          <a:xfrm>
            <a:off x="1295400" y="1219200"/>
            <a:ext cx="6705600" cy="525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350235" y="388203"/>
            <a:ext cx="8565165" cy="830997"/>
          </a:xfrm>
          <a:prstGeom prst="rect">
            <a:avLst/>
          </a:prstGeom>
          <a:solidFill>
            <a:schemeClr val="bg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Sampling from a Bayesian Network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22" name="Picture 2" descr="Finally we sample wet grass given that sprinkler is false and rain is true."/>
          <p:cNvPicPr>
            <a:picLocks noChangeAspect="1" noChangeArrowheads="1"/>
          </p:cNvPicPr>
          <p:nvPr/>
        </p:nvPicPr>
        <p:blipFill rotWithShape="1">
          <a:blip r:embed="rId3" cstate="print"/>
          <a:srcRect l="15625" t="16667" r="15625" b="13541"/>
          <a:stretch/>
        </p:blipFill>
        <p:spPr bwMode="auto">
          <a:xfrm>
            <a:off x="1219200" y="1219200"/>
            <a:ext cx="6705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350235" y="388203"/>
            <a:ext cx="8565165" cy="830997"/>
          </a:xfrm>
          <a:prstGeom prst="rect">
            <a:avLst/>
          </a:prstGeom>
          <a:solidFill>
            <a:schemeClr val="bg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Sampling from a Bayesian Network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2946" name="Picture 2" descr="The result is wet gras is ture."/>
          <p:cNvPicPr>
            <a:picLocks noChangeAspect="1" noChangeArrowheads="1"/>
          </p:cNvPicPr>
          <p:nvPr/>
        </p:nvPicPr>
        <p:blipFill rotWithShape="1">
          <a:blip r:embed="rId3" cstate="print"/>
          <a:srcRect l="16406" t="16667" r="14844" b="13542"/>
          <a:stretch/>
        </p:blipFill>
        <p:spPr bwMode="auto">
          <a:xfrm>
            <a:off x="1295400" y="1219200"/>
            <a:ext cx="6705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0CCFA3-53D0-422C-ACAB-E5CC09E1CCD3}"/>
              </a:ext>
            </a:extLst>
          </p:cNvPr>
          <p:cNvSpPr txBox="1"/>
          <p:nvPr/>
        </p:nvSpPr>
        <p:spPr>
          <a:xfrm>
            <a:off x="6019800" y="4900136"/>
            <a:ext cx="2590800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Prior Sample returns the event:</a:t>
            </a:r>
          </a:p>
          <a:p>
            <a:pPr algn="ctr"/>
            <a:endParaRPr lang="en-US" dirty="0"/>
          </a:p>
          <a:p>
            <a:pPr algn="ctr"/>
            <a:r>
              <a:rPr lang="en-US" i="1" dirty="0"/>
              <a:t>    [C = True, S = False, </a:t>
            </a:r>
            <a:br>
              <a:rPr lang="en-US" i="1" dirty="0"/>
            </a:br>
            <a:r>
              <a:rPr lang="en-US" i="1" dirty="0"/>
              <a:t>      R = True, W = True]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Joint and Marginal Probability Distributions from Individual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33600"/>
                <a:ext cx="7886700" cy="365760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Joint Probability Distribution</a:t>
                </a:r>
              </a:p>
              <a:p>
                <a:pPr marL="0" indent="0">
                  <a:buNone/>
                </a:pPr>
                <a:r>
                  <a:rPr lang="en-US" sz="2800" dirty="0"/>
                  <a:t>Sample </a:t>
                </a:r>
                <a:r>
                  <a:rPr lang="en-US" sz="2800" i="1" dirty="0"/>
                  <a:t>N</a:t>
                </a:r>
                <a:r>
                  <a:rPr lang="en-US" sz="2800" dirty="0"/>
                  <a:t> times and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𝑃𝑆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the count of how many times Prior-Sample produces event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𝑃𝑆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pPr marL="0" indent="0">
                  <a:buNone/>
                </a:pPr>
                <a:r>
                  <a:rPr lang="en-US" sz="2800" b="1" dirty="0"/>
                  <a:t>Marginal Probability Distributions</a:t>
                </a:r>
              </a:p>
              <a:p>
                <a:pPr marL="0" indent="0">
                  <a:buNone/>
                </a:pPr>
                <a:r>
                  <a:rPr lang="en-US" sz="2800" dirty="0"/>
                  <a:t>The marginal probability of a partially specified event (some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values are known) can also be calculated using the same samples. E.g.,</a:t>
                </a: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𝑃𝑆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33600"/>
                <a:ext cx="7886700" cy="3657600"/>
              </a:xfrm>
              <a:blipFill>
                <a:blip r:embed="rId3"/>
                <a:stretch>
                  <a:fillRect l="-618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35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BE89-415D-4978-8DBC-FE1AF7F5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Conditional Probabilities: </a:t>
            </a:r>
            <a:br>
              <a:rPr lang="en-US" dirty="0"/>
            </a:br>
            <a:r>
              <a:rPr lang="en-US" b="1" dirty="0"/>
              <a:t>Markov Chain Monte Carlo Sampling (MCMC)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C883-9A9E-485C-A74A-3B703F5AE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Idea</a:t>
            </a:r>
            <a:r>
              <a:rPr lang="en-US" dirty="0"/>
              <a:t>: Instead of creating each sample individually from scratch, </a:t>
            </a:r>
            <a:r>
              <a:rPr lang="en-US" b="1" dirty="0">
                <a:solidFill>
                  <a:srgbClr val="FF0000"/>
                </a:solidFill>
              </a:rPr>
              <a:t>generate a sequence of samples</a:t>
            </a:r>
            <a:r>
              <a:rPr lang="en-US" dirty="0"/>
              <a:t>.</a:t>
            </a:r>
          </a:p>
          <a:p>
            <a:r>
              <a:rPr lang="en-US" dirty="0"/>
              <a:t>The next sample in the sequence is created by making random changes to the current sample. Changes are controlled by a </a:t>
            </a:r>
            <a:r>
              <a:rPr lang="en-US" b="1" dirty="0"/>
              <a:t>Markov Chain</a:t>
            </a:r>
            <a:r>
              <a:rPr lang="en-US" dirty="0"/>
              <a:t> (MC) that is specifically created to have the desired probability distribution as its stationary distribution.</a:t>
            </a:r>
          </a:p>
          <a:p>
            <a:r>
              <a:rPr lang="en-US" dirty="0"/>
              <a:t>The stationary distribution of a MC can be estimated using </a:t>
            </a:r>
            <a:r>
              <a:rPr lang="en-US" b="1" dirty="0"/>
              <a:t>Monte Carlo </a:t>
            </a:r>
            <a:r>
              <a:rPr lang="en-US" dirty="0"/>
              <a:t>simulation by counting how often each state (=sample) is reached in a random walk through the MC.</a:t>
            </a:r>
          </a:p>
          <a:p>
            <a:r>
              <a:rPr lang="en-US" dirty="0"/>
              <a:t>Algorithms: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b="1" dirty="0"/>
              <a:t>Gibbs sampling </a:t>
            </a:r>
            <a:r>
              <a:rPr lang="en-US" dirty="0"/>
              <a:t>works well for BNs since it needs conditional probabilities and we have </a:t>
            </a:r>
            <a:r>
              <a:rPr lang="en-US" dirty="0" err="1"/>
              <a:t>CPTs.</a:t>
            </a: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b="1" dirty="0"/>
              <a:t>Metropolis-Hastings</a:t>
            </a:r>
            <a:r>
              <a:rPr lang="en-US" dirty="0"/>
              <a:t> sampling is more general.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dirty="0"/>
              <a:t>Notes: </a:t>
            </a:r>
          </a:p>
          <a:p>
            <a:pPr lvl="1"/>
            <a:r>
              <a:rPr lang="en-US" dirty="0"/>
              <a:t>MCMC with Gibbs sampling is the most popular inference method.</a:t>
            </a:r>
            <a:endParaRPr lang="en-US" i="1" dirty="0"/>
          </a:p>
          <a:p>
            <a:pPr lvl="1"/>
            <a:r>
              <a:rPr lang="en-US" dirty="0"/>
              <a:t>Simulated annealing local search is related to MCMC algorithms.</a:t>
            </a:r>
          </a:p>
        </p:txBody>
      </p:sp>
    </p:spTree>
    <p:extLst>
      <p:ext uri="{BB962C8B-B14F-4D97-AF65-F5344CB8AC3E}">
        <p14:creationId xmlns:p14="http://schemas.microsoft.com/office/powerpoint/2010/main" val="347342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9393-16FF-4347-B2FD-B101E366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F53C-77D6-428F-A1D2-8090896F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 fontScale="92500" lnSpcReduction="10000"/>
          </a:bodyPr>
          <a:lstStyle/>
          <a:p>
            <a:r>
              <a:rPr lang="en-US" sz="1700" dirty="0"/>
              <a:t>Bayesian networks provide an efficient way to </a:t>
            </a:r>
            <a:r>
              <a:rPr lang="en-US" sz="1700" b="1" dirty="0"/>
              <a:t>store a complete probabilistic model for an AI problem </a:t>
            </a:r>
            <a:r>
              <a:rPr lang="en-US" sz="1700" dirty="0"/>
              <a:t>by exploiting (conditional) independence between variables.</a:t>
            </a:r>
          </a:p>
          <a:p>
            <a:endParaRPr lang="en-US" sz="1700" dirty="0"/>
          </a:p>
          <a:p>
            <a:r>
              <a:rPr lang="en-US" sz="1700" b="1" dirty="0"/>
              <a:t>Inference</a:t>
            </a:r>
            <a:r>
              <a:rPr lang="en-US" sz="1700" dirty="0"/>
              <a:t> means querying the model for a conditional probability given some evidence.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Exact inference is difficult for all but tiny models.</a:t>
            </a:r>
          </a:p>
          <a:p>
            <a:endParaRPr lang="en-US" sz="1700" dirty="0"/>
          </a:p>
          <a:p>
            <a:r>
              <a:rPr lang="en-US" sz="1700" dirty="0"/>
              <a:t>The state-of-the-art is to use </a:t>
            </a:r>
            <a:r>
              <a:rPr lang="en-US" sz="1700" b="1" dirty="0"/>
              <a:t>approximate inference </a:t>
            </a:r>
            <a:r>
              <a:rPr lang="en-US" sz="1700" dirty="0"/>
              <a:t>by Markov Chain Monte Carlo sampling from the model.</a:t>
            </a:r>
            <a:br>
              <a:rPr lang="en-US" sz="1700" dirty="0"/>
            </a:br>
            <a:endParaRPr lang="en-US" sz="1700" dirty="0"/>
          </a:p>
          <a:p>
            <a:r>
              <a:rPr lang="en-US" sz="1700" dirty="0"/>
              <a:t>Any </a:t>
            </a:r>
            <a:r>
              <a:rPr lang="en-US" sz="1700" b="1" dirty="0"/>
              <a:t>software libraries </a:t>
            </a:r>
            <a:r>
              <a:rPr lang="en-US" sz="1700" dirty="0"/>
              <a:t>provide general inference engines.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86F49-3F30-4D77-A275-2EDB6F9A2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40" r="12282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rgbClr val="F5E8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69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B769F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9702</TotalTime>
  <Words>700</Words>
  <Application>Microsoft Office PowerPoint</Application>
  <PresentationFormat>On-screen Show (4:3)</PresentationFormat>
  <Paragraphs>80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CS 5/7320  Artificial Intelligence    Probabilistic Reasoning: Bayesian Networks  AIMA Chapter 13</vt:lpstr>
      <vt:lpstr>Bayesian Nets</vt:lpstr>
      <vt:lpstr>Exact Inference:  Calculating Conditional Distributions</vt:lpstr>
      <vt:lpstr>Approximate Inference:  Prior-Sample Algorithm </vt:lpstr>
      <vt:lpstr>Example: Sampling from a Bayesian Network </vt:lpstr>
      <vt:lpstr>Example: Sampling from a Bayesian Network </vt:lpstr>
      <vt:lpstr>Example: Sampling from a Bayesian Network </vt:lpstr>
      <vt:lpstr>Example: Sampling from a Bayesian Network </vt:lpstr>
      <vt:lpstr>Example: Sampling from a Bayesian Network </vt:lpstr>
      <vt:lpstr>Example: Sampling from a Bayesian Network </vt:lpstr>
      <vt:lpstr>Estimating the Joint and Marginal Probability Distributions from Individual Samples</vt:lpstr>
      <vt:lpstr>Estimating Conditional Probabilities:  Markov Chain Monte Carlo Sampling (MCMC)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 Bayesian networks </dc:title>
  <dc:creator>michael</dc:creator>
  <cp:lastModifiedBy>Hahsler, Michael</cp:lastModifiedBy>
  <cp:revision>86</cp:revision>
  <dcterms:created xsi:type="dcterms:W3CDTF">2020-11-07T15:07:06Z</dcterms:created>
  <dcterms:modified xsi:type="dcterms:W3CDTF">2025-11-13T22:06:10Z</dcterms:modified>
</cp:coreProperties>
</file>