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9" r:id="rId1"/>
  </p:sldMasterIdLst>
  <p:notesMasterIdLst>
    <p:notesMasterId r:id="rId24"/>
  </p:notesMasterIdLst>
  <p:handoutMasterIdLst>
    <p:handoutMasterId r:id="rId25"/>
  </p:handoutMasterIdLst>
  <p:sldIdLst>
    <p:sldId id="455" r:id="rId2"/>
    <p:sldId id="306" r:id="rId3"/>
    <p:sldId id="466" r:id="rId4"/>
    <p:sldId id="260" r:id="rId5"/>
    <p:sldId id="456" r:id="rId6"/>
    <p:sldId id="469" r:id="rId7"/>
    <p:sldId id="458" r:id="rId8"/>
    <p:sldId id="474" r:id="rId9"/>
    <p:sldId id="471" r:id="rId10"/>
    <p:sldId id="459" r:id="rId11"/>
    <p:sldId id="470" r:id="rId12"/>
    <p:sldId id="460" r:id="rId13"/>
    <p:sldId id="461" r:id="rId14"/>
    <p:sldId id="473" r:id="rId15"/>
    <p:sldId id="462" r:id="rId16"/>
    <p:sldId id="467" r:id="rId17"/>
    <p:sldId id="463" r:id="rId18"/>
    <p:sldId id="475" r:id="rId19"/>
    <p:sldId id="464" r:id="rId20"/>
    <p:sldId id="468" r:id="rId21"/>
    <p:sldId id="472" r:id="rId22"/>
    <p:sldId id="465" r:id="rId23"/>
  </p:sldIdLst>
  <p:sldSz cx="12192000" cy="6858000"/>
  <p:notesSz cx="7099300" cy="10234613"/>
  <p:custDataLst>
    <p:tags r:id="rId2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71BB79B-38E9-4662-8ED5-3F2F225203CE}">
          <p14:sldIdLst>
            <p14:sldId id="455"/>
            <p14:sldId id="306"/>
          </p14:sldIdLst>
        </p14:section>
        <p14:section name="Making Complex Decisions" id="{B8905887-AD13-488A-8C89-192AA0E28FC3}">
          <p14:sldIdLst>
            <p14:sldId id="466"/>
            <p14:sldId id="260"/>
            <p14:sldId id="456"/>
            <p14:sldId id="469"/>
            <p14:sldId id="458"/>
            <p14:sldId id="474"/>
            <p14:sldId id="471"/>
            <p14:sldId id="459"/>
            <p14:sldId id="470"/>
            <p14:sldId id="460"/>
            <p14:sldId id="461"/>
            <p14:sldId id="473"/>
            <p14:sldId id="462"/>
          </p14:sldIdLst>
        </p14:section>
        <p14:section name="Reinforcement Learning" id="{A6B38B18-52AD-4CDE-8997-59227FD21D46}">
          <p14:sldIdLst>
            <p14:sldId id="467"/>
            <p14:sldId id="463"/>
            <p14:sldId id="475"/>
            <p14:sldId id="464"/>
            <p14:sldId id="468"/>
            <p14:sldId id="472"/>
            <p14:sldId id="4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0AD47"/>
    <a:srgbClr val="FEC0BE"/>
    <a:srgbClr val="8EEA9D"/>
    <a:srgbClr val="BDE6B2"/>
    <a:srgbClr val="FFCCCC"/>
    <a:srgbClr val="FFCCFF"/>
    <a:srgbClr val="FFFF00"/>
    <a:srgbClr val="3333FF"/>
    <a:srgbClr val="FF3300"/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2631" autoAdjust="0"/>
    <p:restoredTop sz="88686" autoAdjust="0"/>
  </p:normalViewPr>
  <p:slideViewPr>
    <p:cSldViewPr>
      <p:cViewPr varScale="1">
        <p:scale>
          <a:sx n="85" d="100"/>
          <a:sy n="85" d="100"/>
        </p:scale>
        <p:origin x="144" y="5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20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gs" Target="tags/tag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3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defTabSz="966788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en-US" dirty="0">
              <a:latin typeface="Calibri" panose="020F0502020204030204" pitchFamily="34" charset="0"/>
            </a:endParaRPr>
          </a:p>
        </p:txBody>
      </p:sp>
      <p:sp>
        <p:nvSpPr>
          <p:cNvPr id="22937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en-US" dirty="0">
              <a:latin typeface="Calibri" panose="020F0502020204030204" pitchFamily="34" charset="0"/>
            </a:endParaRPr>
          </a:p>
        </p:txBody>
      </p:sp>
      <p:sp>
        <p:nvSpPr>
          <p:cNvPr id="22938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defTabSz="966788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en-US" dirty="0">
              <a:latin typeface="Calibri" panose="020F0502020204030204" pitchFamily="34" charset="0"/>
            </a:endParaRPr>
          </a:p>
        </p:txBody>
      </p:sp>
      <p:sp>
        <p:nvSpPr>
          <p:cNvPr id="22938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latin typeface="Arial" charset="0"/>
              </a:defRPr>
            </a:lvl1pPr>
          </a:lstStyle>
          <a:p>
            <a:pPr>
              <a:defRPr/>
            </a:pPr>
            <a:fld id="{0FF84380-B695-4AAA-BD6D-02A02864A80C}" type="slidenum">
              <a:rPr lang="en-US">
                <a:latin typeface="Calibri" panose="020F0502020204030204" pitchFamily="34" charset="0"/>
              </a:rPr>
              <a:pPr>
                <a:defRPr/>
              </a:pPr>
              <a:t>‹#›</a:t>
            </a:fld>
            <a:endParaRPr lang="en-US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94649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05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defTabSz="966788">
              <a:defRPr sz="13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7305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813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0600" y="768350"/>
            <a:ext cx="5118100" cy="38385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7306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2513"/>
            <a:ext cx="5680075" cy="4603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7306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defTabSz="966788">
              <a:defRPr sz="13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7306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29186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57977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754576A-F041-465B-B05C-90CC0BF4FA50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2595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1505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10874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Reward may be sparse. Need for credit assignment.</a:t>
            </a:r>
          </a:p>
          <a:p>
            <a:r>
              <a:rPr lang="en-US" dirty="0"/>
              <a:t>Reward shaping creates pseudo rewards that advance learning (e.g., ball possession or distance to the goal in soccer).</a:t>
            </a:r>
          </a:p>
          <a:p>
            <a:endParaRPr lang="en-US" dirty="0"/>
          </a:p>
          <a:p>
            <a:r>
              <a:rPr lang="en-US" dirty="0"/>
              <a:t>Hierarchical RL: Break the task into smaller sub-tasks so we can learn the succession of sub-task efficiently.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2372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09B3F-8AFF-B004-A489-26911962A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42D69C-F30F-3E06-31DF-8201CC8117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BB9FF8-72AA-66F5-44CA-6BF99D7FFB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Reward may be sparse. Need for credit assignment.</a:t>
            </a:r>
          </a:p>
          <a:p>
            <a:r>
              <a:rPr lang="en-US" dirty="0"/>
              <a:t>Reward shaping creates pseudo rewards that advance learning (e.g., ball possession or distance to the goal in soccer).</a:t>
            </a:r>
          </a:p>
          <a:p>
            <a:endParaRPr lang="en-US" dirty="0"/>
          </a:p>
          <a:p>
            <a:r>
              <a:rPr lang="en-US" dirty="0"/>
              <a:t>Hierarchical RL: Break the task into smaller sub-tasks so we can learn the succession of sub-task efficiently.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7D3C58-B168-9A13-3A58-1A6B748F64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41781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Deep RL is still somewhat unpredictable since the deep ANN has many parameters…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25402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19420-F18F-4DA7-BE65-4F4E64957D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D7B303-7E9F-411F-8966-C27D639B64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A2CF2C-7E1E-4ADA-AFE8-FC72FB457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4410D0-F7A8-4F9E-8917-9A1B577C5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85CEA1-D159-4444-B720-93C062854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272DA2-3CE2-4D8F-8D36-0B4268137578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146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6E076-2ED9-4AC4-8DA1-19909951A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9775-2053-4692-92A0-6FB034CDC5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B1543-34B0-4CAE-93C7-21EBBAEE5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14DC8-29F6-4FF7-AC63-6B2FF98D4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8F4AFE-E2D1-4C73-9381-F5093CE44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55F2DB-5E2F-43F9-868D-96E834BECC06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30665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E468A-AB3D-49F4-9DE2-6FC141956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CB78B9-5803-400E-AD78-1FDAA85A58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F1584-9ABC-4C6A-BF87-89D5AA87E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D98EF8-B1BF-4FED-A109-10A6C8E2B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BBE679-274A-4495-A115-ECCCB9B6E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D3B8590-D25A-427F-820A-B82C7A423285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5834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084E3-F46B-4511-8F45-402F4442A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632C99-93FA-4895-A139-A0FF4613FE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26D938-8C53-4FC0-A9DE-5354708E93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9CBC91-EB96-4955-BC73-9B80DCF9BF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F2DDE6-5890-456A-A65D-7A8344ED8D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086411-7FB3-4C92-A6B2-02296F467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D8C5193-1026-4794-8663-01E65A01DB78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27047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E6FA0-3416-4467-9A6B-064AD57C92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B0381-70E8-4616-B062-F81B7235E7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02849D-1775-4D8B-BE2F-AD4C508333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1B4668-5351-4ADC-8F6C-CE2BADAF9A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4A446C-B56C-4215-BA99-A5963E0678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127556-ABDC-44CB-BE8A-B9CB69EB6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06F301-5824-4660-8D1F-0308EEB5E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F1FC6C-5E03-4AA2-A3FA-E2127C1D2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1CC84FA-3003-4F13-B610-A564542E3678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69042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B49AF-1B56-410D-BD45-F623AD5EA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018A89-675B-4B8C-AF13-93F49FA2E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80AE80-8E6B-41CA-A8D1-B6A5A01DB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47E162-83CC-4FF1-98BD-65F7C87EF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C2268BA-431C-4D9E-849E-30926F99764C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86025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5F3FE3-0DA8-4EED-A371-D33228D87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F9E16C-7198-4BDB-9524-77B28B5B88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C365C7-FCDF-43F7-B9AB-1DC5A8922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F89A438-0B24-4EB8-B981-2260CC8E554D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15096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62170-A36B-4B88-A15D-622E12B9B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169D5E-3D30-47D5-8060-99ECF8361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26C4C9-3223-4437-A604-91C4168F32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D42238-2928-4B16-AEE3-4DF1153E9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BE7828-D4DD-4469-87CE-6A174FCD6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4F65B-672B-457E-B01E-147E9A143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9699CB0-FC20-4D9A-A29C-89F5F9414B98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95421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3CCF01-90BC-4732-BD4E-FE32624AF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552BBF-EF83-4A72-BFAF-1A672B8B17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C64472-3B6E-44E1-9506-2A46E9B010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F254D1-2714-4A42-938B-1756DE47A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7F32DA-55E9-4BD8-8BC3-997E3D8E19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141CE5-CC69-40D9-86F7-88C7096F2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6893E6A-B6F6-4BDF-AD15-C93DDC558204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176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140FD-BA60-428C-8EF4-6306ABA43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023CDF-705F-4ACD-A877-CF7F2E3FE9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8E331-6083-437D-B382-EA76EE349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02DA37-7775-4516-88D0-C10A22495E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056B8C-9ED4-4828-B22C-2F0B1E24B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9216CB4-232B-44FE-B9B7-35A4219F0FD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52884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58BFE99-4A96-4DE5-89AF-4EC45E1B0D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969DFD-5FC6-4050-B332-8BCD32E4BB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F394B4-48D3-4960-806C-F43156B9C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CC7B0F-2E46-4782-B203-41483BAAD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8497CA-A095-4609-9FDB-911FD5D7D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CE9712-67AD-4F8B-8E43-C0603CB0E680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07904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255F2DB-5E2F-43F9-868D-96E834BECC06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9CAF0D-655A-4426-8771-973204F83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ED05BD-C8DC-42E7-853A-48E628CF65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56A469-0259-4A8D-9AA6-6A78460251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8DD5EB-5F91-4CB7-9AC7-7FD7BE2DB5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96F92-7C89-4478-ABAA-E19E654E16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DBD443E1-4B43-4BA2-A59F-0DCD9251A842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3879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0" r:id="rId1"/>
    <p:sldLayoutId id="2147483771" r:id="rId2"/>
    <p:sldLayoutId id="2147483772" r:id="rId3"/>
    <p:sldLayoutId id="2147483773" r:id="rId4"/>
    <p:sldLayoutId id="2147483774" r:id="rId5"/>
    <p:sldLayoutId id="2147483775" r:id="rId6"/>
    <p:sldLayoutId id="2147483776" r:id="rId7"/>
    <p:sldLayoutId id="2147483777" r:id="rId8"/>
    <p:sldLayoutId id="2147483778" r:id="rId9"/>
    <p:sldLayoutId id="2147483779" r:id="rId10"/>
    <p:sldLayoutId id="2147483780" r:id="rId11"/>
    <p:sldLayoutId id="21474837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hyperlink" Target="http://creativecommons.org/licenses/by-sa/4.0/" TargetMode="Externa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13" Type="http://schemas.openxmlformats.org/officeDocument/2006/relationships/image" Target="../media/image10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26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svg"/><Relationship Id="rId11" Type="http://schemas.openxmlformats.org/officeDocument/2006/relationships/image" Target="../media/image411.png"/><Relationship Id="rId5" Type="http://schemas.openxmlformats.org/officeDocument/2006/relationships/image" Target="../media/image8.png"/><Relationship Id="rId10" Type="http://schemas.openxmlformats.org/officeDocument/2006/relationships/image" Target="../media/image310.png"/><Relationship Id="rId4" Type="http://schemas.openxmlformats.org/officeDocument/2006/relationships/image" Target="../media/image7.svg"/><Relationship Id="rId1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7.png"/><Relationship Id="rId18" Type="http://schemas.openxmlformats.org/officeDocument/2006/relationships/image" Target="../media/image16.png"/><Relationship Id="rId3" Type="http://schemas.openxmlformats.org/officeDocument/2006/relationships/image" Target="../media/image120.png"/><Relationship Id="rId21" Type="http://schemas.openxmlformats.org/officeDocument/2006/relationships/image" Target="../media/image22.png"/><Relationship Id="rId12" Type="http://schemas.openxmlformats.org/officeDocument/2006/relationships/image" Target="../media/image111.png"/><Relationship Id="rId17" Type="http://schemas.openxmlformats.org/officeDocument/2006/relationships/image" Target="../media/image160.png"/><Relationship Id="rId2" Type="http://schemas.openxmlformats.org/officeDocument/2006/relationships/image" Target="../media/image11.png"/><Relationship Id="rId16" Type="http://schemas.openxmlformats.org/officeDocument/2006/relationships/image" Target="../media/image151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100.png"/><Relationship Id="rId5" Type="http://schemas.openxmlformats.org/officeDocument/2006/relationships/image" Target="../media/image14.png"/><Relationship Id="rId15" Type="http://schemas.openxmlformats.org/officeDocument/2006/relationships/image" Target="../media/image19.png"/><Relationship Id="rId10" Type="http://schemas.openxmlformats.org/officeDocument/2006/relationships/image" Target="../media/image9.png"/><Relationship Id="rId19" Type="http://schemas.openxmlformats.org/officeDocument/2006/relationships/image" Target="../media/image20.png"/><Relationship Id="rId4" Type="http://schemas.openxmlformats.org/officeDocument/2006/relationships/image" Target="../media/image13.png"/><Relationship Id="rId9" Type="http://schemas.openxmlformats.org/officeDocument/2006/relationships/image" Target="../media/image80.png"/><Relationship Id="rId1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1.png"/><Relationship Id="rId3" Type="http://schemas.openxmlformats.org/officeDocument/2006/relationships/image" Target="../media/image23.png"/><Relationship Id="rId7" Type="http://schemas.openxmlformats.org/officeDocument/2006/relationships/image" Target="../media/image171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1.png"/><Relationship Id="rId11" Type="http://schemas.openxmlformats.org/officeDocument/2006/relationships/image" Target="../media/image210.png"/><Relationship Id="rId5" Type="http://schemas.openxmlformats.org/officeDocument/2006/relationships/image" Target="../media/image152.png"/><Relationship Id="rId10" Type="http://schemas.openxmlformats.org/officeDocument/2006/relationships/image" Target="../media/image200.png"/><Relationship Id="rId4" Type="http://schemas.openxmlformats.org/officeDocument/2006/relationships/image" Target="../media/image141.png"/><Relationship Id="rId9" Type="http://schemas.openxmlformats.org/officeDocument/2006/relationships/image" Target="../media/image19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7.pn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3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4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1.png"/><Relationship Id="rId13" Type="http://schemas.openxmlformats.org/officeDocument/2006/relationships/image" Target="../media/image52.png"/><Relationship Id="rId3" Type="http://schemas.openxmlformats.org/officeDocument/2006/relationships/image" Target="../media/image45.png"/><Relationship Id="rId12" Type="http://schemas.openxmlformats.org/officeDocument/2006/relationships/image" Target="../media/image51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7.png"/><Relationship Id="rId11" Type="http://schemas.openxmlformats.org/officeDocument/2006/relationships/image" Target="../media/image50.png"/><Relationship Id="rId5" Type="http://schemas.openxmlformats.org/officeDocument/2006/relationships/image" Target="../media/image46.png"/><Relationship Id="rId10" Type="http://schemas.openxmlformats.org/officeDocument/2006/relationships/image" Target="../media/image49.png"/><Relationship Id="rId4" Type="http://schemas.openxmlformats.org/officeDocument/2006/relationships/image" Target="../media/image290.png"/><Relationship Id="rId9" Type="http://schemas.openxmlformats.org/officeDocument/2006/relationships/image" Target="../media/image48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30.png"/><Relationship Id="rId7" Type="http://schemas.openxmlformats.org/officeDocument/2006/relationships/image" Target="../media/image550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40.png"/><Relationship Id="rId5" Type="http://schemas.openxmlformats.org/officeDocument/2006/relationships/image" Target="../media/image55.png"/><Relationship Id="rId10" Type="http://schemas.openxmlformats.org/officeDocument/2006/relationships/image" Target="../media/image58.png"/><Relationship Id="rId4" Type="http://schemas.openxmlformats.org/officeDocument/2006/relationships/image" Target="../media/image54.png"/><Relationship Id="rId9" Type="http://schemas.openxmlformats.org/officeDocument/2006/relationships/image" Target="../media/image5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351.png"/><Relationship Id="rId7" Type="http://schemas.openxmlformats.org/officeDocument/2006/relationships/image" Target="../media/image390.png"/><Relationship Id="rId2" Type="http://schemas.openxmlformats.org/officeDocument/2006/relationships/image" Target="../media/image6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67.png"/><Relationship Id="rId5" Type="http://schemas.openxmlformats.org/officeDocument/2006/relationships/image" Target="../media/image370.png"/><Relationship Id="rId10" Type="http://schemas.openxmlformats.org/officeDocument/2006/relationships/image" Target="../media/image66.png"/><Relationship Id="rId4" Type="http://schemas.openxmlformats.org/officeDocument/2006/relationships/image" Target="../media/image361.png"/><Relationship Id="rId9" Type="http://schemas.openxmlformats.org/officeDocument/2006/relationships/image" Target="../media/image6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jpe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2.png"/><Relationship Id="rId13" Type="http://schemas.openxmlformats.org/officeDocument/2006/relationships/image" Target="../media/image74.png"/><Relationship Id="rId18" Type="http://schemas.openxmlformats.org/officeDocument/2006/relationships/image" Target="../media/image79.png"/><Relationship Id="rId3" Type="http://schemas.openxmlformats.org/officeDocument/2006/relationships/image" Target="../media/image68.png"/><Relationship Id="rId7" Type="http://schemas.openxmlformats.org/officeDocument/2006/relationships/image" Target="../media/image141.png"/><Relationship Id="rId12" Type="http://schemas.openxmlformats.org/officeDocument/2006/relationships/image" Target="../media/image73.png"/><Relationship Id="rId17" Type="http://schemas.openxmlformats.org/officeDocument/2006/relationships/image" Target="../media/image78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72.png"/><Relationship Id="rId5" Type="http://schemas.openxmlformats.org/officeDocument/2006/relationships/image" Target="../media/image70.png"/><Relationship Id="rId15" Type="http://schemas.openxmlformats.org/officeDocument/2006/relationships/image" Target="../media/image76.png"/><Relationship Id="rId10" Type="http://schemas.openxmlformats.org/officeDocument/2006/relationships/image" Target="../media/image71.png"/><Relationship Id="rId4" Type="http://schemas.openxmlformats.org/officeDocument/2006/relationships/image" Target="../media/image69.png"/><Relationship Id="rId9" Type="http://schemas.openxmlformats.org/officeDocument/2006/relationships/image" Target="../media/image161.png"/><Relationship Id="rId14" Type="http://schemas.openxmlformats.org/officeDocument/2006/relationships/image" Target="../media/image7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9.png"/><Relationship Id="rId3" Type="http://schemas.openxmlformats.org/officeDocument/2006/relationships/image" Target="../media/image840.png"/><Relationship Id="rId7" Type="http://schemas.openxmlformats.org/officeDocument/2006/relationships/image" Target="../media/image87.png"/><Relationship Id="rId12" Type="http://schemas.openxmlformats.org/officeDocument/2006/relationships/image" Target="../media/image8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711.png"/><Relationship Id="rId5" Type="http://schemas.openxmlformats.org/officeDocument/2006/relationships/image" Target="../media/image86.png"/><Relationship Id="rId10" Type="http://schemas.openxmlformats.org/officeDocument/2006/relationships/image" Target="../media/image701.png"/><Relationship Id="rId4" Type="http://schemas.openxmlformats.org/officeDocument/2006/relationships/image" Target="../media/image85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0.png"/><Relationship Id="rId3" Type="http://schemas.openxmlformats.org/officeDocument/2006/relationships/image" Target="../media/image690.png"/><Relationship Id="rId7" Type="http://schemas.openxmlformats.org/officeDocument/2006/relationships/image" Target="../media/image730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hyperlink" Target="https://doi.org/10.48550/arXiv.1312.5602" TargetMode="External"/><Relationship Id="rId5" Type="http://schemas.openxmlformats.org/officeDocument/2006/relationships/image" Target="../media/image710.png"/><Relationship Id="rId10" Type="http://schemas.openxmlformats.org/officeDocument/2006/relationships/image" Target="../media/image90.png"/><Relationship Id="rId4" Type="http://schemas.openxmlformats.org/officeDocument/2006/relationships/image" Target="../media/image700.png"/><Relationship Id="rId9" Type="http://schemas.openxmlformats.org/officeDocument/2006/relationships/image" Target="../media/image75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29" name="Rectangle 5128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D157A36-0424-F212-4464-8A1D05BAC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/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31" name="Rectangle 513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133" name="Rectangle 513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135" name="Rectangle 513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24" name="Text Box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0" y="6248403"/>
            <a:ext cx="5867400" cy="3693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32" tIns="45718" rIns="91432" bIns="45718">
            <a:spAutoFit/>
          </a:bodyPr>
          <a:lstStyle/>
          <a:p>
            <a:pPr>
              <a:spcBef>
                <a:spcPct val="50000"/>
              </a:spcBef>
            </a:pPr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33EF57A-6332-923B-CACA-DE41471D8E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0822043" y="5177442"/>
            <a:ext cx="1209652" cy="1440289"/>
            <a:chOff x="7162800" y="4191000"/>
            <a:chExt cx="1676400" cy="19812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FE1C2EB-4D99-C80D-FF9E-B5FE2FB6D0CF}"/>
                </a:ext>
              </a:extLst>
            </p:cNvPr>
            <p:cNvSpPr/>
            <p:nvPr/>
          </p:nvSpPr>
          <p:spPr>
            <a:xfrm>
              <a:off x="7162800" y="4191000"/>
              <a:ext cx="1676400" cy="1981200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Picture 3" descr="A qr code with black dots&#10;&#10;Description automatically generated">
              <a:extLst>
                <a:ext uri="{FF2B5EF4-FFF2-40B4-BE49-F238E27FC236}">
                  <a16:creationId xmlns:a16="http://schemas.microsoft.com/office/drawing/2014/main" id="{6CDC46C3-B3FD-F592-BDED-7F35C91CF71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84684" y="4213372"/>
              <a:ext cx="1632631" cy="1632630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B530C91-DBA5-7C09-1A40-691C735D8127}"/>
                </a:ext>
              </a:extLst>
            </p:cNvPr>
            <p:cNvSpPr/>
            <p:nvPr/>
          </p:nvSpPr>
          <p:spPr>
            <a:xfrm>
              <a:off x="7162800" y="5812970"/>
              <a:ext cx="1664628" cy="359230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Online Material</a:t>
              </a:r>
            </a:p>
          </p:txBody>
        </p:sp>
      </p:grpSp>
      <p:sp>
        <p:nvSpPr>
          <p:cNvPr id="5122" name="Rectangle 5"/>
          <p:cNvSpPr>
            <a:spLocks noGrp="1" noChangeArrowheads="1"/>
          </p:cNvSpPr>
          <p:nvPr>
            <p:ph type="ctrTitle"/>
          </p:nvPr>
        </p:nvSpPr>
        <p:spPr>
          <a:xfrm>
            <a:off x="477980" y="1122363"/>
            <a:ext cx="4551220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CS 5/7320 </a:t>
            </a:r>
            <a:b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Artificial Intelligence</a:t>
            </a:r>
            <a:b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b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Reinforcement Learning</a:t>
            </a:r>
            <a:br>
              <a:rPr lang="en-U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sz="3200" dirty="0">
                <a:solidFill>
                  <a:schemeClr val="bg1"/>
                </a:solidFill>
              </a:rPr>
              <a:t>AIMA Chapter 17+22</a:t>
            </a:r>
            <a:endParaRPr lang="en-US" sz="36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123" name="Rectangle 6"/>
          <p:cNvSpPr>
            <a:spLocks noGrp="1" noChangeArrowheads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en-US" sz="1600" dirty="0">
                <a:solidFill>
                  <a:schemeClr val="bg1"/>
                </a:solidFill>
                <a:cs typeface="Calibri"/>
              </a:rPr>
              <a:t>Slides by Michael Hahsler  </a:t>
            </a:r>
            <a:br>
              <a:rPr lang="en-US" sz="1600" dirty="0">
                <a:solidFill>
                  <a:schemeClr val="bg1"/>
                </a:solidFill>
                <a:cs typeface="Calibri"/>
              </a:rPr>
            </a:br>
            <a:r>
              <a:rPr lang="en-US" sz="1600" dirty="0">
                <a:solidFill>
                  <a:schemeClr val="bg1"/>
                </a:solidFill>
                <a:cs typeface="Calibri"/>
              </a:rPr>
              <a:t>with figures from the AIMA textbook.</a:t>
            </a:r>
          </a:p>
          <a:p>
            <a:pPr algn="l"/>
            <a:endParaRPr lang="en-US" sz="1600" b="1" dirty="0">
              <a:solidFill>
                <a:schemeClr val="bg1"/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AF7C263-EC03-822E-F206-894069FB70F7}"/>
              </a:ext>
            </a:extLst>
          </p:cNvPr>
          <p:cNvGrpSpPr/>
          <p:nvPr/>
        </p:nvGrpSpPr>
        <p:grpSpPr>
          <a:xfrm>
            <a:off x="505967" y="5797517"/>
            <a:ext cx="3017521" cy="829971"/>
            <a:chOff x="1219200" y="5925516"/>
            <a:chExt cx="3017521" cy="82997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7307FB8-DA9D-2E54-A182-90AA1DE4A423}"/>
                </a:ext>
              </a:extLst>
            </p:cNvPr>
            <p:cNvSpPr txBox="1"/>
            <p:nvPr/>
          </p:nvSpPr>
          <p:spPr>
            <a:xfrm>
              <a:off x="1219200" y="6324600"/>
              <a:ext cx="3017521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b="0" i="0" dirty="0">
                  <a:solidFill>
                    <a:schemeClr val="bg2"/>
                  </a:solidFill>
                  <a:effectLst/>
                  <a:latin typeface="Calibri" panose="020F0502020204030204" pitchFamily="34" charset="0"/>
                </a:rPr>
                <a:t>This work is licensed under a </a:t>
              </a:r>
              <a:r>
                <a:rPr lang="en-US" sz="1100" b="0" i="0" strike="noStrike" dirty="0">
                  <a:solidFill>
                    <a:schemeClr val="bg2"/>
                  </a:solidFill>
                  <a:effectLst/>
                  <a:latin typeface="Calibri" panose="020F0502020204030204" pitchFamily="34" charset="0"/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Creative Commons Attribution-</a:t>
              </a:r>
              <a:r>
                <a:rPr lang="en-US" sz="1100" b="0" i="0" strike="noStrike" dirty="0" err="1">
                  <a:solidFill>
                    <a:schemeClr val="bg2"/>
                  </a:solidFill>
                  <a:effectLst/>
                  <a:latin typeface="Calibri" panose="020F0502020204030204" pitchFamily="34" charset="0"/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ShareAlike</a:t>
              </a:r>
              <a:r>
                <a:rPr lang="en-US" sz="1100" b="0" i="0" strike="noStrike" dirty="0">
                  <a:solidFill>
                    <a:schemeClr val="bg2"/>
                  </a:solidFill>
                  <a:effectLst/>
                  <a:latin typeface="Calibri" panose="020F0502020204030204" pitchFamily="34" charset="0"/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 4.0 International License</a:t>
              </a:r>
              <a:r>
                <a:rPr lang="en-US" sz="1100" b="0" i="0" dirty="0">
                  <a:solidFill>
                    <a:schemeClr val="bg2"/>
                  </a:solidFill>
                  <a:effectLst/>
                  <a:latin typeface="Calibri" panose="020F0502020204030204" pitchFamily="34" charset="0"/>
                </a:rPr>
                <a:t>.</a:t>
              </a:r>
              <a:endParaRPr lang="en-US" sz="1100" dirty="0">
                <a:solidFill>
                  <a:schemeClr val="bg2"/>
                </a:solidFill>
              </a:endParaRPr>
            </a:p>
          </p:txBody>
        </p:sp>
        <p:pic>
          <p:nvPicPr>
            <p:cNvPr id="8" name="Picture 2">
              <a:extLst>
                <a:ext uri="{FF2B5EF4-FFF2-40B4-BE49-F238E27FC236}">
                  <a16:creationId xmlns:a16="http://schemas.microsoft.com/office/drawing/2014/main" id="{6FDB9004-B474-40C2-7B4E-946EDF00804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77390" y="5925516"/>
              <a:ext cx="888838" cy="3110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/>
              <a:t>From Chapter 2</a:t>
            </a:r>
            <a:r>
              <a:rPr lang="en-US" sz="3600" dirty="0"/>
              <a:t>: </a:t>
            </a:r>
            <a:br>
              <a:rPr lang="en-US" sz="3600" dirty="0"/>
            </a:br>
            <a:r>
              <a:rPr lang="en-US" sz="3600" dirty="0"/>
              <a:t>Agents That Learn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E7C8A43F-86B0-6759-C593-B2BCBB7D4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795956"/>
            <a:ext cx="10515600" cy="53816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Positive feedback from the critic reinforces the performance element.</a:t>
            </a:r>
          </a:p>
        </p:txBody>
      </p:sp>
      <p:pic>
        <p:nvPicPr>
          <p:cNvPr id="5" name="Picture 4" descr="A diagram showing the design of a learning agent where the learning element changes the performance element to improve performance.">
            <a:extLst>
              <a:ext uri="{FF2B5EF4-FFF2-40B4-BE49-F238E27FC236}">
                <a16:creationId xmlns:a16="http://schemas.microsoft.com/office/drawing/2014/main" id="{3FAB11E6-8A7F-4883-91BB-E3D4CAF197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5315" y="2023973"/>
            <a:ext cx="4565885" cy="3149762"/>
          </a:xfrm>
          <a:prstGeom prst="rect">
            <a:avLst/>
          </a:prstGeom>
        </p:spPr>
      </p:pic>
      <p:sp>
        <p:nvSpPr>
          <p:cNvPr id="2" name="Callout: Line 1">
            <a:extLst>
              <a:ext uri="{FF2B5EF4-FFF2-40B4-BE49-F238E27FC236}">
                <a16:creationId xmlns:a16="http://schemas.microsoft.com/office/drawing/2014/main" id="{EC43F13B-70AE-4A79-BEC3-FD5269489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057400" y="1828800"/>
            <a:ext cx="2630150" cy="711362"/>
          </a:xfrm>
          <a:prstGeom prst="borderCallout1">
            <a:avLst>
              <a:gd name="adj1" fmla="val 50597"/>
              <a:gd name="adj2" fmla="val 102591"/>
              <a:gd name="adj3" fmla="val 114698"/>
              <a:gd name="adj4" fmla="val 145426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Critic: How is the agent currently performing?</a:t>
            </a:r>
          </a:p>
        </p:txBody>
      </p:sp>
      <p:sp>
        <p:nvSpPr>
          <p:cNvPr id="3" name="Callout: Line 2">
            <a:extLst>
              <a:ext uri="{FF2B5EF4-FFF2-40B4-BE49-F238E27FC236}">
                <a16:creationId xmlns:a16="http://schemas.microsoft.com/office/drawing/2014/main" id="{1DFCA2A8-129A-7DD8-4F14-4280C6829F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057400" y="2651197"/>
            <a:ext cx="2630150" cy="1676400"/>
          </a:xfrm>
          <a:prstGeom prst="borderCallout1">
            <a:avLst>
              <a:gd name="adj1" fmla="val 45008"/>
              <a:gd name="adj2" fmla="val 104907"/>
              <a:gd name="adj3" fmla="val 64209"/>
              <a:gd name="adj4" fmla="val 145539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Learning Element: Improve the performance element and changes how it selects actions.</a:t>
            </a:r>
          </a:p>
          <a:p>
            <a:pPr algn="ctr"/>
            <a:r>
              <a:rPr lang="en-US" dirty="0"/>
              <a:t>E.g., adding rules, changing weights</a:t>
            </a:r>
          </a:p>
        </p:txBody>
      </p:sp>
      <p:sp>
        <p:nvSpPr>
          <p:cNvPr id="8" name="Callout: Line 7">
            <a:extLst>
              <a:ext uri="{FF2B5EF4-FFF2-40B4-BE49-F238E27FC236}">
                <a16:creationId xmlns:a16="http://schemas.microsoft.com/office/drawing/2014/main" id="{4E3F4BEC-90AE-4251-9F62-1458F9DFAF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057399" y="4395171"/>
            <a:ext cx="2630150" cy="1094476"/>
          </a:xfrm>
          <a:prstGeom prst="borderCallout1">
            <a:avLst>
              <a:gd name="adj1" fmla="val 20790"/>
              <a:gd name="adj2" fmla="val 104328"/>
              <a:gd name="adj3" fmla="val 14209"/>
              <a:gd name="adj4" fmla="val 142608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Problem generators: Explore new actions.</a:t>
            </a:r>
          </a:p>
        </p:txBody>
      </p:sp>
    </p:spTree>
    <p:extLst>
      <p:ext uri="{BB962C8B-B14F-4D97-AF65-F5344CB8AC3E}">
        <p14:creationId xmlns:p14="http://schemas.microsoft.com/office/powerpoint/2010/main" val="1473659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AF9D9A-6DB0-4E64-3095-D21D06851C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250"/>
          <a:stretch/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69E11AC-342D-A253-84D0-81832D4C6C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b="1" dirty="0">
                <a:solidFill>
                  <a:srgbClr val="FFFFFF"/>
                </a:solidFill>
              </a:rPr>
              <a:t>Making Complex Decisions:</a:t>
            </a:r>
            <a:br>
              <a:rPr lang="en-US" sz="5200" b="1" dirty="0">
                <a:solidFill>
                  <a:srgbClr val="FFFFFF"/>
                </a:solidFill>
              </a:rPr>
            </a:br>
            <a:r>
              <a:rPr lang="en-US" sz="5200" b="1" dirty="0">
                <a:solidFill>
                  <a:srgbClr val="FFFFFF"/>
                </a:solidFill>
              </a:rPr>
              <a:t>Sequential Decision Making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900DF8-B817-630A-2E89-9BFEDFF873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b="1" dirty="0">
                <a:solidFill>
                  <a:srgbClr val="FFFFFF"/>
                </a:solidFill>
              </a:rPr>
              <a:t>AIMA Chapter 17</a:t>
            </a:r>
          </a:p>
        </p:txBody>
      </p:sp>
    </p:spTree>
    <p:extLst>
      <p:ext uri="{BB962C8B-B14F-4D97-AF65-F5344CB8AC3E}">
        <p14:creationId xmlns:p14="http://schemas.microsoft.com/office/powerpoint/2010/main" val="9063758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5CF40-403F-4D5C-83A9-FE59C8574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640080"/>
            <a:ext cx="7155195" cy="1036320"/>
          </a:xfrm>
        </p:spPr>
        <p:txBody>
          <a:bodyPr anchor="b">
            <a:noAutofit/>
          </a:bodyPr>
          <a:lstStyle/>
          <a:p>
            <a:r>
              <a:rPr lang="en-US" sz="3600" b="1" dirty="0"/>
              <a:t>Remember Chapter 16: </a:t>
            </a:r>
            <a:br>
              <a:rPr lang="en-US" sz="3600" b="1" dirty="0"/>
            </a:br>
            <a:r>
              <a:rPr lang="en-US" sz="3600" dirty="0"/>
              <a:t>Making Simple Decisions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968958-DEBE-42D6-9E7A-549D0E34B8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5695" y="2597040"/>
                <a:ext cx="6691083" cy="3687287"/>
              </a:xfrm>
            </p:spPr>
            <p:txBody>
              <a:bodyPr wrap="square" anchor="t"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sz="2000" dirty="0"/>
                  <a:t>For a decision that we make frequently and making it once does not affect the future decisions (</a:t>
                </a:r>
                <a:r>
                  <a:rPr lang="en-US" sz="2000" b="1" dirty="0">
                    <a:solidFill>
                      <a:schemeClr val="accent2"/>
                    </a:solidFill>
                  </a:rPr>
                  <a:t>episodic environment</a:t>
                </a:r>
                <a:r>
                  <a:rPr lang="en-US" sz="2000" dirty="0"/>
                  <a:t>), we can use the </a:t>
                </a:r>
                <a:r>
                  <a:rPr lang="en-US" sz="2000" b="1" dirty="0">
                    <a:solidFill>
                      <a:schemeClr val="accent2"/>
                    </a:solidFill>
                  </a:rPr>
                  <a:t>Principle of Maximum Expected Utility (MEU).</a:t>
                </a:r>
              </a:p>
              <a:p>
                <a:pPr marL="0" indent="0">
                  <a:buNone/>
                </a:pPr>
                <a:r>
                  <a:rPr lang="en-US" sz="2000" dirty="0"/>
                  <a:t>Given the expected utility of an action</a:t>
                </a:r>
                <a:br>
                  <a:rPr lang="en-US" sz="20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>
                          <a:latin typeface="Cambria Math" panose="02040503050406030204" pitchFamily="18" charset="0"/>
                        </a:rPr>
                        <m:t>𝐸𝑈</m:t>
                      </m:r>
                      <m:d>
                        <m:dPr>
                          <m:ctrlPr>
                            <a:rPr lang="en-US" sz="20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2000" b="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′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/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:r>
                  <a:rPr lang="en-US" sz="2000" dirty="0"/>
                  <a:t>choose action that maximizes the expected utility:</a:t>
                </a:r>
                <a:br>
                  <a:rPr lang="en-US" sz="2000" dirty="0"/>
                </a:br>
                <a:br>
                  <a:rPr lang="en-US" sz="20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US" sz="2000" b="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2000" b="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b="0" i="0">
                              <a:latin typeface="Cambria Math" panose="02040503050406030204" pitchFamily="18" charset="0"/>
                            </a:rPr>
                            <m:t>argmax</m:t>
                          </m:r>
                        </m:e>
                        <m:sub>
                          <m:r>
                            <a:rPr lang="en-US" sz="2000" b="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sz="2000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b="0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2000" b="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000" b="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000" dirty="0"/>
                  <a:t>Now we will talk about </a:t>
                </a:r>
                <a:r>
                  <a:rPr lang="en-US" sz="2000" b="1" dirty="0">
                    <a:solidFill>
                      <a:schemeClr val="accent2"/>
                    </a:solidFill>
                  </a:rPr>
                  <a:t>sequential decision making</a:t>
                </a:r>
                <a:r>
                  <a:rPr lang="en-US" sz="2000" dirty="0">
                    <a:solidFill>
                      <a:schemeClr val="accent2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968958-DEBE-42D6-9E7A-549D0E34B8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5695" y="2597040"/>
                <a:ext cx="6691083" cy="3687287"/>
              </a:xfrm>
              <a:blipFill>
                <a:blip r:embed="rId2"/>
                <a:stretch>
                  <a:fillRect l="-820" t="-2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D00D0827-C77C-4974-8BB2-38489C996F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6477000" y="533400"/>
            <a:ext cx="5458968" cy="5546980"/>
            <a:chOff x="6486528" y="593576"/>
            <a:chExt cx="5288334" cy="5373595"/>
          </a:xfrm>
        </p:grpSpPr>
        <p:pic>
          <p:nvPicPr>
            <p:cNvPr id="6" name="Graphic 5" descr="Thought outline">
              <a:extLst>
                <a:ext uri="{FF2B5EF4-FFF2-40B4-BE49-F238E27FC236}">
                  <a16:creationId xmlns:a16="http://schemas.microsoft.com/office/drawing/2014/main" id="{F15033A6-8632-4FEC-ABE3-2EDA9149328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486528" y="593576"/>
              <a:ext cx="5288334" cy="5373595"/>
            </a:xfrm>
            <a:prstGeom prst="rect">
              <a:avLst/>
            </a:prstGeom>
          </p:spPr>
        </p:pic>
        <p:pic>
          <p:nvPicPr>
            <p:cNvPr id="5" name="Graphic 4" descr="Treasure chest with solid fill">
              <a:extLst>
                <a:ext uri="{FF2B5EF4-FFF2-40B4-BE49-F238E27FC236}">
                  <a16:creationId xmlns:a16="http://schemas.microsoft.com/office/drawing/2014/main" id="{33AA684B-1079-4097-BB46-77B52F7E9A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041137" y="1854258"/>
              <a:ext cx="1169692" cy="1188550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8998DB1-58CE-491A-B978-AF6D6E21D2DE}"/>
                </a:ext>
              </a:extLst>
            </p:cNvPr>
            <p:cNvSpPr txBox="1"/>
            <p:nvPr/>
          </p:nvSpPr>
          <p:spPr>
            <a:xfrm>
              <a:off x="7824456" y="1869585"/>
              <a:ext cx="803425" cy="369332"/>
            </a:xfrm>
            <a:prstGeom prst="rect">
              <a:avLst/>
            </a:prstGeom>
            <a:noFill/>
          </p:spPr>
          <p:txBody>
            <a:bodyPr wrap="none" rtlCol="0">
              <a:normAutofit/>
            </a:bodyPr>
            <a:lstStyle/>
            <a:p>
              <a:pPr>
                <a:lnSpc>
                  <a:spcPct val="90000"/>
                </a:lnSpc>
                <a:spcAft>
                  <a:spcPts val="600"/>
                </a:spcAft>
              </a:pPr>
              <a:r>
                <a:rPr lang="en-US" sz="2000" b="1" dirty="0"/>
                <a:t>Action</a:t>
              </a:r>
            </a:p>
          </p:txBody>
        </p:sp>
        <p:pic>
          <p:nvPicPr>
            <p:cNvPr id="8" name="Graphic 7" descr="Treasure chest with solid fill">
              <a:extLst>
                <a:ext uri="{FF2B5EF4-FFF2-40B4-BE49-F238E27FC236}">
                  <a16:creationId xmlns:a16="http://schemas.microsoft.com/office/drawing/2014/main" id="{30666806-9588-4F26-B3E4-86A989189D2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920595" y="1424765"/>
              <a:ext cx="789000" cy="801720"/>
            </a:xfrm>
            <a:prstGeom prst="rect">
              <a:avLst/>
            </a:prstGeom>
          </p:spPr>
        </p:pic>
        <p:pic>
          <p:nvPicPr>
            <p:cNvPr id="9" name="Graphic 8" descr="Treasure chest with solid fill">
              <a:extLst>
                <a:ext uri="{FF2B5EF4-FFF2-40B4-BE49-F238E27FC236}">
                  <a16:creationId xmlns:a16="http://schemas.microsoft.com/office/drawing/2014/main" id="{D40CE17D-5C18-49CA-BA26-A4F8513C84E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974772" y="1289828"/>
              <a:ext cx="789000" cy="801720"/>
            </a:xfrm>
            <a:prstGeom prst="rect">
              <a:avLst/>
            </a:prstGeom>
          </p:spPr>
        </p:pic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A57B4DB8-0E58-4761-842B-1F42FE5DB6A8}"/>
                </a:ext>
              </a:extLst>
            </p:cNvPr>
            <p:cNvSpPr/>
            <p:nvPr/>
          </p:nvSpPr>
          <p:spPr>
            <a:xfrm rot="1539490">
              <a:off x="8648044" y="2014819"/>
              <a:ext cx="458441" cy="400860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71873C79-77DC-55E6-63D7-6CA71D6863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2314050" y="1834759"/>
            <a:ext cx="2748279" cy="527666"/>
            <a:chOff x="1847426" y="5059150"/>
            <a:chExt cx="2748279" cy="5276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15ACFE27-6B51-646D-109C-5103ADB56E34}"/>
                    </a:ext>
                  </a:extLst>
                </p:cNvPr>
                <p:cNvSpPr/>
                <p:nvPr/>
              </p:nvSpPr>
              <p:spPr>
                <a:xfrm>
                  <a:off x="1847426" y="5166339"/>
                  <a:ext cx="916093" cy="42047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b="1" dirty="0" err="1"/>
                    <a:t>Currentstate</a:t>
                  </a:r>
                  <a:r>
                    <a:rPr lang="en-US" sz="1050" b="1" dirty="0"/>
                    <a:t> </a:t>
                  </a:r>
                  <a14:m>
                    <m:oMath xmlns:m="http://schemas.openxmlformats.org/officeDocument/2006/math">
                      <m:r>
                        <a:rPr lang="en-US" sz="1050" b="1" i="1" dirty="0" smtClean="0">
                          <a:latin typeface="Cambria Math" panose="02040503050406030204" pitchFamily="18" charset="0"/>
                        </a:rPr>
                        <m:t>𝒔</m:t>
                      </m:r>
                    </m:oMath>
                  </a14:m>
                  <a:endParaRPr lang="en-US" sz="1050" b="1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BB1274D0-3B06-3480-5474-73FF4CE286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47426" y="5166339"/>
                  <a:ext cx="916093" cy="420477"/>
                </a:xfrm>
                <a:prstGeom prst="ellipse">
                  <a:avLst/>
                </a:prstGeom>
                <a:blipFill>
                  <a:blip r:embed="rId10"/>
                  <a:stretch>
                    <a:fillRect b="-869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68F57AE8-00C2-02E9-7F09-1B895CA6BBEA}"/>
                    </a:ext>
                  </a:extLst>
                </p:cNvPr>
                <p:cNvSpPr/>
                <p:nvPr/>
              </p:nvSpPr>
              <p:spPr>
                <a:xfrm>
                  <a:off x="3452706" y="5166340"/>
                  <a:ext cx="916093" cy="420476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b="1" dirty="0"/>
                    <a:t>Future state </a:t>
                  </a:r>
                  <a14:m>
                    <m:oMath xmlns:m="http://schemas.openxmlformats.org/officeDocument/2006/math">
                      <m:r>
                        <a:rPr lang="en-US" sz="1050" b="1" i="1" dirty="0" smtClean="0"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1050" b="1" i="1" dirty="0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a14:m>
                  <a:endParaRPr lang="en-US" sz="1050" b="1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F677F90-A644-6BF1-FCFE-AFE6A334A4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52706" y="5166340"/>
                  <a:ext cx="916093" cy="420476"/>
                </a:xfrm>
                <a:prstGeom prst="ellipse">
                  <a:avLst/>
                </a:prstGeom>
                <a:blipFill>
                  <a:blip r:embed="rId11"/>
                  <a:stretch>
                    <a:fillRect b="-869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732AB34-6DB1-AAC4-A5C8-CFFE827872C2}"/>
                </a:ext>
              </a:extLst>
            </p:cNvPr>
            <p:cNvCxnSpPr>
              <a:cxnSpLocks/>
              <a:stCxn id="12" idx="6"/>
              <a:endCxn id="13" idx="2"/>
            </p:cNvCxnSpPr>
            <p:nvPr/>
          </p:nvCxnSpPr>
          <p:spPr>
            <a:xfrm>
              <a:off x="2763519" y="5376578"/>
              <a:ext cx="689187" cy="0"/>
            </a:xfrm>
            <a:prstGeom prst="straightConnector1">
              <a:avLst/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9F906EE9-A1CB-B120-EC32-7A6737D521A1}"/>
                    </a:ext>
                  </a:extLst>
                </p:cNvPr>
                <p:cNvSpPr txBox="1"/>
                <p:nvPr/>
              </p:nvSpPr>
              <p:spPr>
                <a:xfrm>
                  <a:off x="2763519" y="5138593"/>
                  <a:ext cx="751840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00" dirty="0"/>
                    <a:t>Action </a:t>
                  </a:r>
                  <a14:m>
                    <m:oMath xmlns:m="http://schemas.openxmlformats.org/officeDocument/2006/math">
                      <m:r>
                        <a:rPr lang="en-US" sz="1000" i="1" dirty="0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B7EA328-46CE-97F7-4F4D-E0260C6732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63519" y="5138593"/>
                  <a:ext cx="751840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9915F352-AA59-8C8F-34A2-5A5E381B79FD}"/>
                    </a:ext>
                  </a:extLst>
                </p:cNvPr>
                <p:cNvSpPr txBox="1"/>
                <p:nvPr/>
              </p:nvSpPr>
              <p:spPr>
                <a:xfrm>
                  <a:off x="4165598" y="5059150"/>
                  <a:ext cx="430107" cy="26161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𝑼</m:t>
                        </m:r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’)</m:t>
                        </m:r>
                      </m:oMath>
                    </m:oMathPara>
                  </a14:m>
                  <a:endParaRPr lang="en-US" sz="1100" b="1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9915F352-AA59-8C8F-34A2-5A5E381B79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5598" y="5059150"/>
                  <a:ext cx="430107" cy="261610"/>
                </a:xfrm>
                <a:prstGeom prst="rect">
                  <a:avLst/>
                </a:prstGeom>
                <a:blipFill>
                  <a:blip r:embed="rId13"/>
                  <a:stretch>
                    <a:fillRect r="-12857" b="-4651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8FB558-F20F-A7EB-75E6-BB4C3B16A0EC}"/>
                  </a:ext>
                </a:extLst>
              </p:cNvPr>
              <p:cNvSpPr txBox="1"/>
              <p:nvPr/>
            </p:nvSpPr>
            <p:spPr>
              <a:xfrm>
                <a:off x="6480164" y="5982280"/>
                <a:ext cx="5535168" cy="73866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400" dirty="0"/>
                  <a:t> … Uncertainty about current state (= partial observability)</a:t>
                </a:r>
              </a:p>
              <a:p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1400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 … Stochastic transition function (= non deterministic actions).</a:t>
                </a:r>
              </a:p>
              <a:p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 … cardinal utility function.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8FB558-F20F-A7EB-75E6-BB4C3B16A0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0164" y="5982280"/>
                <a:ext cx="5535168" cy="738664"/>
              </a:xfrm>
              <a:prstGeom prst="rect">
                <a:avLst/>
              </a:prstGeom>
              <a:blipFill>
                <a:blip r:embed="rId14"/>
                <a:stretch>
                  <a:fillRect b="-6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96006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928D6-FE8F-D731-2ACA-D5CDE5A05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Decision 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9062B-457C-9D64-3FB5-07AB138847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25040"/>
            <a:ext cx="10515600" cy="876513"/>
          </a:xfrm>
        </p:spPr>
        <p:txBody>
          <a:bodyPr>
            <a:normAutofit fontScale="62500" lnSpcReduction="20000"/>
          </a:bodyPr>
          <a:lstStyle/>
          <a:p>
            <a:r>
              <a:rPr lang="en-US" b="1" dirty="0"/>
              <a:t>Utility-based agent</a:t>
            </a:r>
            <a:r>
              <a:rPr lang="en-US" dirty="0"/>
              <a:t>: The agent’s utility depends on a sequence of decisions that depend on each other. </a:t>
            </a:r>
          </a:p>
          <a:p>
            <a:r>
              <a:rPr lang="en-US" dirty="0"/>
              <a:t>Sequential decision problems incorporate utility (called immediate and long-term reward), uncertainty, and sensing.</a:t>
            </a:r>
          </a:p>
        </p:txBody>
      </p:sp>
      <p:grpSp>
        <p:nvGrpSpPr>
          <p:cNvPr id="30" name="Group 29" descr="A fifure showing that the agent chooses an action, the environment responds with changing state an provides the agent with a reward and the new state.">
            <a:extLst>
              <a:ext uri="{FF2B5EF4-FFF2-40B4-BE49-F238E27FC236}">
                <a16:creationId xmlns:a16="http://schemas.microsoft.com/office/drawing/2014/main" id="{CC0FE0EC-4123-5E44-D92D-2C48475436C1}"/>
              </a:ext>
            </a:extLst>
          </p:cNvPr>
          <p:cNvGrpSpPr/>
          <p:nvPr/>
        </p:nvGrpSpPr>
        <p:grpSpPr>
          <a:xfrm>
            <a:off x="676825" y="3248260"/>
            <a:ext cx="4955251" cy="2727767"/>
            <a:chOff x="133977" y="3338673"/>
            <a:chExt cx="5418545" cy="272776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674804DE-25E5-519D-514A-639F698E9054}"/>
                    </a:ext>
                  </a:extLst>
                </p:cNvPr>
                <p:cNvSpPr/>
                <p:nvPr/>
              </p:nvSpPr>
              <p:spPr>
                <a:xfrm>
                  <a:off x="3184163" y="4999640"/>
                  <a:ext cx="1600200" cy="1066800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b="1" dirty="0"/>
                    <a:t>Environment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→</m:t>
                        </m:r>
                        <m:sSub>
                          <m:sSubPr>
                            <m:ctrlP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674804DE-25E5-519D-514A-639F698E90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4163" y="4999640"/>
                  <a:ext cx="1600200" cy="106680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E375DAD-0547-86CB-BD58-815C5E4533B1}"/>
                </a:ext>
              </a:extLst>
            </p:cNvPr>
            <p:cNvSpPr/>
            <p:nvPr/>
          </p:nvSpPr>
          <p:spPr>
            <a:xfrm>
              <a:off x="3184163" y="3503612"/>
              <a:ext cx="1600200" cy="1066800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/>
                <a:t>Agent</a:t>
              </a:r>
            </a:p>
          </p:txBody>
        </p:sp>
        <p:cxnSp>
          <p:nvCxnSpPr>
            <p:cNvPr id="7" name="Connector: Curved 6">
              <a:extLst>
                <a:ext uri="{FF2B5EF4-FFF2-40B4-BE49-F238E27FC236}">
                  <a16:creationId xmlns:a16="http://schemas.microsoft.com/office/drawing/2014/main" id="{2234EE27-9179-830F-B123-BE2CA7A34D1D}"/>
                </a:ext>
              </a:extLst>
            </p:cNvPr>
            <p:cNvCxnSpPr>
              <a:cxnSpLocks/>
              <a:stCxn id="5" idx="3"/>
              <a:endCxn id="4" idx="3"/>
            </p:cNvCxnSpPr>
            <p:nvPr/>
          </p:nvCxnSpPr>
          <p:spPr>
            <a:xfrm>
              <a:off x="4784363" y="4037012"/>
              <a:ext cx="12700" cy="1496028"/>
            </a:xfrm>
            <a:prstGeom prst="curvedConnector3">
              <a:avLst>
                <a:gd name="adj1" fmla="val 8362031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: Curved 9">
              <a:extLst>
                <a:ext uri="{FF2B5EF4-FFF2-40B4-BE49-F238E27FC236}">
                  <a16:creationId xmlns:a16="http://schemas.microsoft.com/office/drawing/2014/main" id="{E0EACF24-DF45-7CDC-80B8-F2115B7245A9}"/>
                </a:ext>
              </a:extLst>
            </p:cNvPr>
            <p:cNvCxnSpPr>
              <a:cxnSpLocks/>
              <a:stCxn id="4" idx="1"/>
              <a:endCxn id="5" idx="1"/>
            </p:cNvCxnSpPr>
            <p:nvPr/>
          </p:nvCxnSpPr>
          <p:spPr>
            <a:xfrm rot="10800000">
              <a:off x="3184163" y="4037012"/>
              <a:ext cx="12700" cy="1496028"/>
            </a:xfrm>
            <a:prstGeom prst="curvedConnector3">
              <a:avLst>
                <a:gd name="adj1" fmla="val 13556969"/>
              </a:avLst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2" name="Connector: Curved 11">
              <a:extLst>
                <a:ext uri="{FF2B5EF4-FFF2-40B4-BE49-F238E27FC236}">
                  <a16:creationId xmlns:a16="http://schemas.microsoft.com/office/drawing/2014/main" id="{9043FD70-BD2B-EB21-0D6D-E3A2E03F827E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196863" y="4037012"/>
              <a:ext cx="12700" cy="1496028"/>
            </a:xfrm>
            <a:prstGeom prst="curvedConnector3">
              <a:avLst>
                <a:gd name="adj1" fmla="val 9364559"/>
              </a:avLst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80E8AE93-12E8-43F8-6C9B-F3491A19DFC0}"/>
                    </a:ext>
                  </a:extLst>
                </p:cNvPr>
                <p:cNvSpPr txBox="1"/>
                <p:nvPr/>
              </p:nvSpPr>
              <p:spPr>
                <a:xfrm>
                  <a:off x="4784363" y="3338673"/>
                  <a:ext cx="768159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/>
                    <a:t>Action </a:t>
                  </a:r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US" sz="1600" dirty="0"/>
                    <a:t> </a:t>
                  </a: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80E8AE93-12E8-43F8-6C9B-F3491A19DF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4363" y="3338673"/>
                  <a:ext cx="768159" cy="584775"/>
                </a:xfrm>
                <a:prstGeom prst="rect">
                  <a:avLst/>
                </a:prstGeom>
                <a:blipFill>
                  <a:blip r:embed="rId3"/>
                  <a:stretch>
                    <a:fillRect l="-5217" t="-3125" r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8EC3C9D-15F3-BCC3-85CA-7A4C2D1DF6DC}"/>
                    </a:ext>
                  </a:extLst>
                </p:cNvPr>
                <p:cNvSpPr txBox="1"/>
                <p:nvPr/>
              </p:nvSpPr>
              <p:spPr>
                <a:xfrm>
                  <a:off x="133977" y="4396790"/>
                  <a:ext cx="1418978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en-US" sz="1600" dirty="0"/>
                    <a:t>Observation </a:t>
                  </a:r>
                  <a:br>
                    <a:rPr lang="en-US" sz="1600" dirty="0"/>
                  </a:b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sz="1600" b="0" dirty="0"/>
                </a:p>
                <a:p>
                  <a:r>
                    <a:rPr lang="en-US" sz="1600" dirty="0"/>
                    <a:t> </a:t>
                  </a: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8EC3C9D-15F3-BCC3-85CA-7A4C2D1DF6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3977" y="4396790"/>
                  <a:ext cx="1418978" cy="830997"/>
                </a:xfrm>
                <a:prstGeom prst="rect">
                  <a:avLst/>
                </a:prstGeom>
                <a:blipFill>
                  <a:blip r:embed="rId4"/>
                  <a:stretch>
                    <a:fillRect t="-2190" r="-28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542BF7D-EAE2-A5AE-F97A-863DFD5FD2FF}"/>
                    </a:ext>
                  </a:extLst>
                </p:cNvPr>
                <p:cNvSpPr txBox="1"/>
                <p:nvPr/>
              </p:nvSpPr>
              <p:spPr>
                <a:xfrm>
                  <a:off x="2170493" y="4416087"/>
                  <a:ext cx="865878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600" dirty="0"/>
                    <a:t>Reward </a:t>
                  </a:r>
                  <a:br>
                    <a:rPr lang="en-US" sz="1600" dirty="0"/>
                  </a:b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sz="1600" b="0" dirty="0"/>
                </a:p>
                <a:p>
                  <a:r>
                    <a:rPr lang="en-US" sz="1600" dirty="0"/>
                    <a:t> </a:t>
                  </a: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542BF7D-EAE2-A5AE-F97A-863DFD5FD2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70493" y="4416087"/>
                  <a:ext cx="865878" cy="830997"/>
                </a:xfrm>
                <a:prstGeom prst="rect">
                  <a:avLst/>
                </a:prstGeom>
                <a:blipFill>
                  <a:blip r:embed="rId5"/>
                  <a:stretch>
                    <a:fillRect l="-8462" t="-2190" r="-76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332B935-32D5-BE1E-10A5-A2BE8B9BDB12}"/>
                  </a:ext>
                </a:extLst>
              </p:cNvPr>
              <p:cNvSpPr txBox="1"/>
              <p:nvPr/>
            </p:nvSpPr>
            <p:spPr>
              <a:xfrm>
                <a:off x="6616700" y="4089146"/>
                <a:ext cx="5086161" cy="2665473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Goal: </a:t>
                </a:r>
                <a:r>
                  <a:rPr lang="en-US" dirty="0"/>
                  <a:t>Observations and rewards depend on the state of the system, and the agent wants to maximize the expected discounted reward: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n-US" dirty="0"/>
              </a:p>
              <a:p>
                <a:pPr algn="r"/>
                <a:endParaRPr lang="en-US" sz="1400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400" dirty="0"/>
                  <a:t>… reward at time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400" dirty="0"/>
                  <a:t> as a random variable</a:t>
                </a:r>
                <a:endParaRPr lang="en-US" sz="1400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400" dirty="0"/>
                  <a:t> … discounting factor</a:t>
                </a:r>
                <a:br>
                  <a:rPr lang="en-US" sz="1400" dirty="0"/>
                </a:br>
                <a14:m>
                  <m:oMath xmlns:m="http://schemas.openxmlformats.org/officeDocument/2006/math">
                    <m:r>
                      <a:rPr lang="en-US" sz="1400" i="1" dirty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400" dirty="0"/>
                  <a:t> … time horizon may be infinity</a:t>
                </a: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332B935-32D5-BE1E-10A5-A2BE8B9BD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6700" y="4089146"/>
                <a:ext cx="5086161" cy="2665473"/>
              </a:xfrm>
              <a:prstGeom prst="rect">
                <a:avLst/>
              </a:prstGeom>
              <a:blipFill>
                <a:blip r:embed="rId6"/>
                <a:stretch>
                  <a:fillRect l="-835" t="-1136" b="-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F0C61611-7D98-A816-1E47-783EF14CA0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733800" y="1322986"/>
            <a:ext cx="3964939" cy="632399"/>
            <a:chOff x="6972571" y="4920035"/>
            <a:chExt cx="3964939" cy="6323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D4C5051F-1420-6022-5DE2-A8CB10250CA3}"/>
                    </a:ext>
                  </a:extLst>
                </p:cNvPr>
                <p:cNvSpPr/>
                <p:nvPr/>
              </p:nvSpPr>
              <p:spPr>
                <a:xfrm>
                  <a:off x="6972571" y="5105059"/>
                  <a:ext cx="916093" cy="42047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b="1" dirty="0"/>
                    <a:t>Currentstate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050" b="1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50" b="1" i="1" dirty="0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  <m:sub>
                          <m:r>
                            <a:rPr lang="en-US" sz="1050" b="1" i="1" dirty="0" smtClean="0"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a14:m>
                  <a:endParaRPr lang="en-US" sz="1050" b="1" dirty="0"/>
                </a:p>
              </p:txBody>
            </p:sp>
          </mc:Choice>
          <mc:Fallback xmlns=""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EC109ADD-3076-FE9B-0D2E-C88588DA3C0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72571" y="5105059"/>
                  <a:ext cx="916093" cy="420477"/>
                </a:xfrm>
                <a:prstGeom prst="ellipse">
                  <a:avLst/>
                </a:prstGeom>
                <a:blipFill>
                  <a:blip r:embed="rId8"/>
                  <a:stretch>
                    <a:fillRect b="-724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45198291-139E-A2CA-391F-E8DD9456E2B8}"/>
                    </a:ext>
                  </a:extLst>
                </p:cNvPr>
                <p:cNvSpPr/>
                <p:nvPr/>
              </p:nvSpPr>
              <p:spPr>
                <a:xfrm>
                  <a:off x="8143506" y="5105059"/>
                  <a:ext cx="469904" cy="420476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1050" b="1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7C42CB84-6575-D75A-520A-0BCB641277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3506" y="5105059"/>
                  <a:ext cx="469904" cy="420476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E0BF7060-BC67-3ABA-2D54-229D1F999704}"/>
                </a:ext>
              </a:extLst>
            </p:cNvPr>
            <p:cNvCxnSpPr>
              <a:cxnSpLocks/>
              <a:stCxn id="8" idx="6"/>
              <a:endCxn id="9" idx="2"/>
            </p:cNvCxnSpPr>
            <p:nvPr/>
          </p:nvCxnSpPr>
          <p:spPr>
            <a:xfrm flipV="1">
              <a:off x="7888664" y="5315297"/>
              <a:ext cx="254842" cy="1"/>
            </a:xfrm>
            <a:prstGeom prst="straightConnector1">
              <a:avLst/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D1EB2545-C58E-1621-B932-382B9EEBA7C5}"/>
                    </a:ext>
                  </a:extLst>
                </p:cNvPr>
                <p:cNvSpPr txBox="1"/>
                <p:nvPr/>
              </p:nvSpPr>
              <p:spPr>
                <a:xfrm>
                  <a:off x="7640164" y="5043228"/>
                  <a:ext cx="751840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000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FD02EE2-AD9F-C310-E791-F3A0BC4DEB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40164" y="5043228"/>
                  <a:ext cx="751840" cy="24622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6FBFBCF6-513E-061B-23D5-0E53DD011024}"/>
                    </a:ext>
                  </a:extLst>
                </p:cNvPr>
                <p:cNvSpPr/>
                <p:nvPr/>
              </p:nvSpPr>
              <p:spPr>
                <a:xfrm>
                  <a:off x="9486319" y="5112043"/>
                  <a:ext cx="469904" cy="420476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𝑻</m:t>
                            </m:r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1050" b="1" dirty="0"/>
                </a:p>
              </p:txBody>
            </p:sp>
          </mc:Choice>
          <mc:Fallback xmlns=""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184B3153-E284-5373-1874-161F9BBBE2E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6319" y="5112043"/>
                  <a:ext cx="469904" cy="420476"/>
                </a:xfrm>
                <a:prstGeom prst="ellipse">
                  <a:avLst/>
                </a:prstGeom>
                <a:blipFill>
                  <a:blip r:embed="rId11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F203C455-8AC2-1BC5-97E1-54EC6F3C7B33}"/>
                    </a:ext>
                  </a:extLst>
                </p:cNvPr>
                <p:cNvSpPr/>
                <p:nvPr/>
              </p:nvSpPr>
              <p:spPr>
                <a:xfrm>
                  <a:off x="10248324" y="5112043"/>
                  <a:ext cx="469904" cy="420476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𝑻</m:t>
                            </m:r>
                          </m:sub>
                        </m:sSub>
                      </m:oMath>
                    </m:oMathPara>
                  </a14:m>
                  <a:endParaRPr lang="en-US" sz="1050" b="1" dirty="0"/>
                </a:p>
              </p:txBody>
            </p:sp>
          </mc:Choice>
          <mc:Fallback xmlns=""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B233F091-222B-2527-E8FD-32E3F96A23D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48324" y="5112043"/>
                  <a:ext cx="469904" cy="420476"/>
                </a:xfrm>
                <a:prstGeom prst="ellipse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6C09DEFB-FA84-E767-869E-B60BF9FE6B31}"/>
                </a:ext>
              </a:extLst>
            </p:cNvPr>
            <p:cNvCxnSpPr>
              <a:cxnSpLocks/>
            </p:cNvCxnSpPr>
            <p:nvPr/>
          </p:nvCxnSpPr>
          <p:spPr>
            <a:xfrm>
              <a:off x="8613410" y="5315297"/>
              <a:ext cx="213362" cy="0"/>
            </a:xfrm>
            <a:prstGeom prst="straightConnector1">
              <a:avLst/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CB5672D-9A64-0414-C4EE-76FE5BF390CC}"/>
                </a:ext>
              </a:extLst>
            </p:cNvPr>
            <p:cNvCxnSpPr>
              <a:cxnSpLocks/>
            </p:cNvCxnSpPr>
            <p:nvPr/>
          </p:nvCxnSpPr>
          <p:spPr>
            <a:xfrm>
              <a:off x="9272957" y="5323898"/>
              <a:ext cx="213362" cy="0"/>
            </a:xfrm>
            <a:prstGeom prst="straightConnector1">
              <a:avLst/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B1452FE8-E2D9-6F0F-553A-0D3F10F02A25}"/>
                </a:ext>
              </a:extLst>
            </p:cNvPr>
            <p:cNvCxnSpPr>
              <a:cxnSpLocks/>
              <a:stCxn id="14" idx="6"/>
              <a:endCxn id="15" idx="2"/>
            </p:cNvCxnSpPr>
            <p:nvPr/>
          </p:nvCxnSpPr>
          <p:spPr>
            <a:xfrm>
              <a:off x="9956223" y="5322281"/>
              <a:ext cx="292101" cy="0"/>
            </a:xfrm>
            <a:prstGeom prst="straightConnector1">
              <a:avLst/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2DCCE599-FE40-72E1-AD1A-A98E1D5F3D45}"/>
                    </a:ext>
                  </a:extLst>
                </p:cNvPr>
                <p:cNvSpPr txBox="1"/>
                <p:nvPr/>
              </p:nvSpPr>
              <p:spPr>
                <a:xfrm>
                  <a:off x="10528564" y="4969482"/>
                  <a:ext cx="408946" cy="26161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𝑼</m:t>
                        </m:r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1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b="1" i="1" dirty="0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sz="1100" b="1" i="1" dirty="0" smtClean="0">
                                <a:latin typeface="Cambria Math" panose="02040503050406030204" pitchFamily="18" charset="0"/>
                              </a:rPr>
                              <m:t>𝑻</m:t>
                            </m:r>
                          </m:sub>
                        </m:sSub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100" b="1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2DCCE599-FE40-72E1-AD1A-A98E1D5F3D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28564" y="4969482"/>
                  <a:ext cx="408946" cy="261610"/>
                </a:xfrm>
                <a:prstGeom prst="rect">
                  <a:avLst/>
                </a:prstGeom>
                <a:blipFill>
                  <a:blip r:embed="rId13"/>
                  <a:stretch>
                    <a:fillRect l="-5970" r="-11940" b="-697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9F3568A-553E-1FFF-EAAE-2BC77B3FD281}"/>
                    </a:ext>
                  </a:extLst>
                </p:cNvPr>
                <p:cNvSpPr txBox="1"/>
                <p:nvPr/>
              </p:nvSpPr>
              <p:spPr>
                <a:xfrm>
                  <a:off x="9751068" y="4955552"/>
                  <a:ext cx="497256" cy="26161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i="1" dirty="0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US" sz="110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1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100" b="1" i="1" dirty="0" smtClean="0">
                                <a:latin typeface="Cambria Math" panose="02040503050406030204" pitchFamily="18" charset="0"/>
                              </a:rPr>
                              <m:t>𝑻</m:t>
                            </m:r>
                            <m:r>
                              <a:rPr lang="en-US" sz="1100" b="0" i="1" dirty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sz="110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9F3568A-553E-1FFF-EAAE-2BC77B3FD2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51068" y="4955552"/>
                  <a:ext cx="497256" cy="261610"/>
                </a:xfrm>
                <a:prstGeom prst="rect">
                  <a:avLst/>
                </a:prstGeom>
                <a:blipFill>
                  <a:blip r:embed="rId14"/>
                  <a:stretch>
                    <a:fillRect l="-8537" r="-12195" b="-4651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2FC1AAC1-8D70-1FA9-3B2C-79DC7790C083}"/>
                    </a:ext>
                  </a:extLst>
                </p:cNvPr>
                <p:cNvSpPr txBox="1"/>
                <p:nvPr/>
              </p:nvSpPr>
              <p:spPr>
                <a:xfrm>
                  <a:off x="8452280" y="4932015"/>
                  <a:ext cx="408946" cy="26161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𝑼</m:t>
                        </m:r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1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b="1" i="1" dirty="0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sz="1100" b="1" i="1" dirty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100" b="1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2FC1AAC1-8D70-1FA9-3B2C-79DC7790C0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52280" y="4932015"/>
                  <a:ext cx="408946" cy="261610"/>
                </a:xfrm>
                <a:prstGeom prst="rect">
                  <a:avLst/>
                </a:prstGeom>
                <a:blipFill>
                  <a:blip r:embed="rId15"/>
                  <a:stretch>
                    <a:fillRect l="-5970" r="-11940" b="-4651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0785A82-FD16-F409-4004-53089B898BE4}"/>
                </a:ext>
              </a:extLst>
            </p:cNvPr>
            <p:cNvSpPr txBox="1"/>
            <p:nvPr/>
          </p:nvSpPr>
          <p:spPr>
            <a:xfrm>
              <a:off x="8825225" y="4920035"/>
              <a:ext cx="46990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>
                  <a:solidFill>
                    <a:schemeClr val="accent6"/>
                  </a:solidFill>
                </a:rPr>
                <a:t>…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4FEC43FF-8B35-4F4C-581E-4D70A16CB8EA}"/>
                    </a:ext>
                  </a:extLst>
                </p:cNvPr>
                <p:cNvSpPr txBox="1"/>
                <p:nvPr/>
              </p:nvSpPr>
              <p:spPr>
                <a:xfrm>
                  <a:off x="8327999" y="5306213"/>
                  <a:ext cx="751840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733B1CCA-C8B1-69EB-A31D-77F6AAB3D5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27999" y="5306213"/>
                  <a:ext cx="751840" cy="246221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BDB5329B-771F-5E30-28D2-41B38E57ED0A}"/>
                    </a:ext>
                  </a:extLst>
                </p:cNvPr>
                <p:cNvSpPr txBox="1"/>
                <p:nvPr/>
              </p:nvSpPr>
              <p:spPr>
                <a:xfrm>
                  <a:off x="9726353" y="5299758"/>
                  <a:ext cx="751840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000" b="0" i="1" dirty="0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sz="1000" b="0" i="1" dirty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A75A1CC5-FC8C-1421-4D61-DC8CE629E4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6353" y="5299758"/>
                  <a:ext cx="751840" cy="246221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BBD0B30-1A9B-106C-E0F6-AD43D66728A3}"/>
              </a:ext>
            </a:extLst>
          </p:cNvPr>
          <p:cNvGrpSpPr/>
          <p:nvPr/>
        </p:nvGrpSpPr>
        <p:grpSpPr>
          <a:xfrm>
            <a:off x="5638800" y="3066610"/>
            <a:ext cx="6174918" cy="1022536"/>
            <a:chOff x="5638800" y="3066610"/>
            <a:chExt cx="6174918" cy="102253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A69DA01-66A9-FD9F-8F45-5654538E9BB7}"/>
                    </a:ext>
                  </a:extLst>
                </p:cNvPr>
                <p:cNvSpPr txBox="1"/>
                <p:nvPr/>
              </p:nvSpPr>
              <p:spPr>
                <a:xfrm>
                  <a:off x="6645637" y="3563334"/>
                  <a:ext cx="5168081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dirty="0"/>
                    <a:t>Sequence: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), 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,(</m:t>
                      </m:r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, …</m:t>
                      </m:r>
                    </m:oMath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A69DA01-66A9-FD9F-8F45-5654538E9B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45637" y="3563334"/>
                  <a:ext cx="5168081" cy="400110"/>
                </a:xfrm>
                <a:prstGeom prst="rect">
                  <a:avLst/>
                </a:prstGeom>
                <a:blipFill>
                  <a:blip r:embed="rId18"/>
                  <a:stretch>
                    <a:fillRect l="-1179" t="-9231" b="-276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Arrow: Right 22">
              <a:extLst>
                <a:ext uri="{FF2B5EF4-FFF2-40B4-BE49-F238E27FC236}">
                  <a16:creationId xmlns:a16="http://schemas.microsoft.com/office/drawing/2014/main" id="{E7345CDF-678F-EFB0-0163-F35D6AF73F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38800" y="3505200"/>
              <a:ext cx="977900" cy="583946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Right Brace 33">
              <a:extLst>
                <a:ext uri="{FF2B5EF4-FFF2-40B4-BE49-F238E27FC236}">
                  <a16:creationId xmlns:a16="http://schemas.microsoft.com/office/drawing/2014/main" id="{07C6B901-5170-BBE6-2526-33098ADC97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6200000">
              <a:off x="8165914" y="3195632"/>
              <a:ext cx="182026" cy="664255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7EB2EB76-52D0-5D81-2A08-1A15071E68A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8077200" y="3066610"/>
                  <a:ext cx="3048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7EB2EB76-52D0-5D81-2A08-1A15071E68A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77200" y="3066610"/>
                  <a:ext cx="304800" cy="369332"/>
                </a:xfrm>
                <a:prstGeom prst="rect">
                  <a:avLst/>
                </a:prstGeom>
                <a:blipFill>
                  <a:blip r:embed="rId19"/>
                  <a:stretch>
                    <a:fillRect r="-1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Right Brace 35">
              <a:extLst>
                <a:ext uri="{FF2B5EF4-FFF2-40B4-BE49-F238E27FC236}">
                  <a16:creationId xmlns:a16="http://schemas.microsoft.com/office/drawing/2014/main" id="{9FA6874C-BBDD-8A68-246B-1E5196C4C0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6200000">
              <a:off x="9343505" y="3195632"/>
              <a:ext cx="182026" cy="664255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F2FA1918-676F-029B-F895-1731BCBEBA3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9241745" y="3086674"/>
                  <a:ext cx="3048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F2FA1918-676F-029B-F895-1731BCBEBA3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41745" y="3086674"/>
                  <a:ext cx="304800" cy="369332"/>
                </a:xfrm>
                <a:prstGeom prst="rect">
                  <a:avLst/>
                </a:prstGeom>
                <a:blipFill>
                  <a:blip r:embed="rId20"/>
                  <a:stretch>
                    <a:fillRect r="-1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Right Brace 37">
              <a:extLst>
                <a:ext uri="{FF2B5EF4-FFF2-40B4-BE49-F238E27FC236}">
                  <a16:creationId xmlns:a16="http://schemas.microsoft.com/office/drawing/2014/main" id="{E85AFD14-6C43-16DC-C85D-B647BB3CDC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6200000">
              <a:off x="10533105" y="3189997"/>
              <a:ext cx="182026" cy="664255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103F5AA0-25C1-4C7E-8D3F-67A2238D82F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0419336" y="3067759"/>
                  <a:ext cx="3048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103F5AA0-25C1-4C7E-8D3F-67A2238D82F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19336" y="3067759"/>
                  <a:ext cx="304800" cy="369332"/>
                </a:xfrm>
                <a:prstGeom prst="rect">
                  <a:avLst/>
                </a:prstGeom>
                <a:blipFill>
                  <a:blip r:embed="rId21"/>
                  <a:stretch>
                    <a:fillRect r="-16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3" name="Speech Bubble: Rectangle with Corners Rounded 32">
            <a:extLst>
              <a:ext uri="{FF2B5EF4-FFF2-40B4-BE49-F238E27FC236}">
                <a16:creationId xmlns:a16="http://schemas.microsoft.com/office/drawing/2014/main" id="{A3D7D3D4-E894-7C3D-FD5E-C38DA5080B2B}"/>
              </a:ext>
            </a:extLst>
          </p:cNvPr>
          <p:cNvSpPr/>
          <p:nvPr/>
        </p:nvSpPr>
        <p:spPr>
          <a:xfrm>
            <a:off x="1383217" y="6096000"/>
            <a:ext cx="2643768" cy="658619"/>
          </a:xfrm>
          <a:prstGeom prst="wedgeRoundRectCallout">
            <a:avLst>
              <a:gd name="adj1" fmla="val 34548"/>
              <a:gd name="adj2" fmla="val -98713"/>
              <a:gd name="adj3" fmla="val 16667"/>
            </a:avLst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If we have a model of the environment then we can plan.</a:t>
            </a:r>
          </a:p>
        </p:txBody>
      </p:sp>
    </p:spTree>
    <p:extLst>
      <p:ext uri="{BB962C8B-B14F-4D97-AF65-F5344CB8AC3E}">
        <p14:creationId xmlns:p14="http://schemas.microsoft.com/office/powerpoint/2010/main" val="239867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3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5F5F5-EC40-5394-0867-04B1ECEE8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Environment Model: </a:t>
            </a:r>
            <a:br>
              <a:rPr lang="en-US" dirty="0"/>
            </a:br>
            <a:r>
              <a:rPr lang="en-US" dirty="0"/>
              <a:t>Markov Decision Process (MDP)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4E457B-8075-F4C1-A239-1B05210072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752599"/>
                <a:ext cx="7040943" cy="4419601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MDPs are discrete-time stochastic control processes defined by:</a:t>
                </a:r>
              </a:p>
              <a:p>
                <a:pPr lvl="1"/>
                <a:r>
                  <a:rPr lang="en-US" dirty="0"/>
                  <a:t>a finite set of </a:t>
                </a:r>
                <a:r>
                  <a:rPr lang="en-US" b="1" dirty="0"/>
                  <a:t>states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…}</m:t>
                    </m:r>
                  </m:oMath>
                </a14:m>
                <a:r>
                  <a:rPr lang="en-US" dirty="0"/>
                  <a:t> (initial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) </a:t>
                </a:r>
              </a:p>
              <a:p>
                <a:pPr lvl="1"/>
                <a:r>
                  <a:rPr lang="en-US" dirty="0"/>
                  <a:t>a set of available </a:t>
                </a:r>
                <a:r>
                  <a:rPr lang="en-US" b="1" dirty="0"/>
                  <a:t>actions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𝐴𝐶𝑇𝐼𝑂𝑁𝑆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in each state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 </a:t>
                </a:r>
                <a:r>
                  <a:rPr lang="en-US" b="1" dirty="0"/>
                  <a:t>transition model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𝐴𝐶𝑇𝐼𝑂𝑁𝑆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 </a:t>
                </a:r>
                <a:r>
                  <a:rPr lang="en-US" b="1" dirty="0"/>
                  <a:t>reward function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where the immediate reward depends on the current state (often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’) </m:t>
                    </m:r>
                  </m:oMath>
                </a14:m>
                <a:r>
                  <a:rPr lang="en-US" dirty="0"/>
                  <a:t>is used to make modelling easier)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MDPs model sequential decision problems with</a:t>
                </a:r>
              </a:p>
              <a:p>
                <a:pPr lvl="1"/>
                <a:r>
                  <a:rPr lang="en-US" dirty="0"/>
                  <a:t>a fully observable, stochastic, and known environment;</a:t>
                </a:r>
              </a:p>
              <a:p>
                <a:pPr lvl="1"/>
                <a:r>
                  <a:rPr lang="en-US" dirty="0"/>
                  <a:t>a Markovian transition model (i.e., future states do not depend on past states given the current state);</a:t>
                </a:r>
              </a:p>
              <a:p>
                <a:pPr lvl="1"/>
                <a:r>
                  <a:rPr lang="en-US" dirty="0"/>
                  <a:t>additive immediate rewards.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Time horizon</a:t>
                </a:r>
              </a:p>
              <a:p>
                <a:pPr lvl="1"/>
                <a:r>
                  <a:rPr lang="en-US" b="1" dirty="0"/>
                  <a:t>Infinite horizon</a:t>
                </a:r>
                <a:r>
                  <a:rPr lang="en-US" dirty="0"/>
                  <a:t>: non-episodic (continuous) tasks with no terminal state.</a:t>
                </a:r>
              </a:p>
              <a:p>
                <a:pPr lvl="1"/>
                <a:r>
                  <a:rPr lang="en-US" b="1" dirty="0"/>
                  <a:t>Finite horizon</a:t>
                </a:r>
                <a:r>
                  <a:rPr lang="en-US" dirty="0"/>
                  <a:t>: episodic tasks. Episode ends after a number of periods or when a terminal state is reached. Episodes contain a sequence of several actions that affect each other.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4E457B-8075-F4C1-A239-1B05210072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752599"/>
                <a:ext cx="7040943" cy="4419601"/>
              </a:xfrm>
              <a:blipFill>
                <a:blip r:embed="rId3"/>
                <a:stretch>
                  <a:fillRect l="-692" t="-22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9" name="Group 48" descr="A MDP shown as a graph with states connected by action arrows.">
            <a:extLst>
              <a:ext uri="{FF2B5EF4-FFF2-40B4-BE49-F238E27FC236}">
                <a16:creationId xmlns:a16="http://schemas.microsoft.com/office/drawing/2014/main" id="{F144A596-19D3-5E85-442B-66C6DC148448}"/>
              </a:ext>
            </a:extLst>
          </p:cNvPr>
          <p:cNvGrpSpPr/>
          <p:nvPr/>
        </p:nvGrpSpPr>
        <p:grpSpPr>
          <a:xfrm>
            <a:off x="7946052" y="1981200"/>
            <a:ext cx="3941148" cy="4191000"/>
            <a:chOff x="7946052" y="1981200"/>
            <a:chExt cx="3941148" cy="41910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CF79983A-CC8B-1C9B-61BD-A8B95DEE9F1A}"/>
                    </a:ext>
                  </a:extLst>
                </p:cNvPr>
                <p:cNvSpPr/>
                <p:nvPr/>
              </p:nvSpPr>
              <p:spPr>
                <a:xfrm>
                  <a:off x="8249162" y="3419487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CF79983A-CC8B-1C9B-61BD-A8B95DEE9F1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9162" y="3419487"/>
                  <a:ext cx="381000" cy="381000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7A0FEBA4-CCFB-34EB-F0E6-8EE13E477B1C}"/>
                    </a:ext>
                  </a:extLst>
                </p:cNvPr>
                <p:cNvSpPr/>
                <p:nvPr/>
              </p:nvSpPr>
              <p:spPr>
                <a:xfrm>
                  <a:off x="10154162" y="3408877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7A0FEBA4-CCFB-34EB-F0E6-8EE13E477B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54162" y="3408877"/>
                  <a:ext cx="381000" cy="381000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0930646F-4C58-99C9-9F42-1645EDB3E21D}"/>
                    </a:ext>
                  </a:extLst>
                </p:cNvPr>
                <p:cNvSpPr/>
                <p:nvPr/>
              </p:nvSpPr>
              <p:spPr>
                <a:xfrm>
                  <a:off x="9773162" y="5034768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0930646F-4C58-99C9-9F42-1645EDB3E21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3162" y="5034768"/>
                  <a:ext cx="381000" cy="381000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Connector: Curved 12">
              <a:extLst>
                <a:ext uri="{FF2B5EF4-FFF2-40B4-BE49-F238E27FC236}">
                  <a16:creationId xmlns:a16="http://schemas.microsoft.com/office/drawing/2014/main" id="{E36127A0-7D8C-67A9-5DC3-14028F6CE90F}"/>
                </a:ext>
              </a:extLst>
            </p:cNvPr>
            <p:cNvCxnSpPr>
              <a:cxnSpLocks/>
              <a:stCxn id="4" idx="7"/>
              <a:endCxn id="5" idx="1"/>
            </p:cNvCxnSpPr>
            <p:nvPr/>
          </p:nvCxnSpPr>
          <p:spPr>
            <a:xfrm rot="5400000" flipH="1" flipV="1">
              <a:off x="9386857" y="2652182"/>
              <a:ext cx="10610" cy="1635592"/>
            </a:xfrm>
            <a:prstGeom prst="curvedConnector3">
              <a:avLst>
                <a:gd name="adj1" fmla="val 2780452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: Curved 14">
              <a:extLst>
                <a:ext uri="{FF2B5EF4-FFF2-40B4-BE49-F238E27FC236}">
                  <a16:creationId xmlns:a16="http://schemas.microsoft.com/office/drawing/2014/main" id="{551378A8-8F64-BF38-EE4C-1A2F5A38B550}"/>
                </a:ext>
              </a:extLst>
            </p:cNvPr>
            <p:cNvCxnSpPr>
              <a:cxnSpLocks/>
              <a:stCxn id="5" idx="3"/>
              <a:endCxn id="4" idx="5"/>
            </p:cNvCxnSpPr>
            <p:nvPr/>
          </p:nvCxnSpPr>
          <p:spPr>
            <a:xfrm rot="5400000">
              <a:off x="9386857" y="2921590"/>
              <a:ext cx="10610" cy="1635592"/>
            </a:xfrm>
            <a:prstGeom prst="curvedConnector3">
              <a:avLst>
                <a:gd name="adj1" fmla="val 2780452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: Curved 18">
              <a:extLst>
                <a:ext uri="{FF2B5EF4-FFF2-40B4-BE49-F238E27FC236}">
                  <a16:creationId xmlns:a16="http://schemas.microsoft.com/office/drawing/2014/main" id="{9E36FEED-13BB-4590-AA9A-3DED9D1DAC52}"/>
                </a:ext>
              </a:extLst>
            </p:cNvPr>
            <p:cNvCxnSpPr>
              <a:cxnSpLocks/>
              <a:stCxn id="5" idx="7"/>
              <a:endCxn id="5" idx="5"/>
            </p:cNvCxnSpPr>
            <p:nvPr/>
          </p:nvCxnSpPr>
          <p:spPr>
            <a:xfrm rot="16200000" flipH="1">
              <a:off x="10344662" y="3599377"/>
              <a:ext cx="269408" cy="12700"/>
            </a:xfrm>
            <a:prstGeom prst="curvedConnector5">
              <a:avLst>
                <a:gd name="adj1" fmla="val -84853"/>
                <a:gd name="adj2" fmla="val 4360661"/>
                <a:gd name="adj3" fmla="val 1848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77380142-D577-1EC6-5766-973F949CD006}"/>
                </a:ext>
              </a:extLst>
            </p:cNvPr>
            <p:cNvCxnSpPr>
              <a:stCxn id="5" idx="4"/>
              <a:endCxn id="6" idx="0"/>
            </p:cNvCxnSpPr>
            <p:nvPr/>
          </p:nvCxnSpPr>
          <p:spPr>
            <a:xfrm flipH="1">
              <a:off x="9963662" y="3789877"/>
              <a:ext cx="381000" cy="124489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A71AA67-63AD-0B89-45A3-BD29DE8366F8}"/>
                    </a:ext>
                  </a:extLst>
                </p:cNvPr>
                <p:cNvSpPr txBox="1"/>
                <p:nvPr/>
              </p:nvSpPr>
              <p:spPr>
                <a:xfrm>
                  <a:off x="9214429" y="2811831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A71AA67-63AD-0B89-45A3-BD29DE8366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14429" y="2811831"/>
                  <a:ext cx="4678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F55D79-B6CC-EB9D-DA26-82CCCA7F4F1B}"/>
                </a:ext>
              </a:extLst>
            </p:cNvPr>
            <p:cNvSpPr txBox="1"/>
            <p:nvPr/>
          </p:nvSpPr>
          <p:spPr>
            <a:xfrm>
              <a:off x="8594717" y="2943280"/>
              <a:ext cx="3375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1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352C94B-E6BC-43C0-54BC-6852061CD4B1}"/>
                </a:ext>
              </a:extLst>
            </p:cNvPr>
            <p:cNvSpPr txBox="1"/>
            <p:nvPr/>
          </p:nvSpPr>
          <p:spPr>
            <a:xfrm>
              <a:off x="9183124" y="3192427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C5EB354A-98D6-9C40-7CFD-940C968DC7A3}"/>
                    </a:ext>
                  </a:extLst>
                </p:cNvPr>
                <p:cNvSpPr txBox="1"/>
                <p:nvPr/>
              </p:nvSpPr>
              <p:spPr>
                <a:xfrm>
                  <a:off x="9240413" y="4017591"/>
                  <a:ext cx="4731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C5EB354A-98D6-9C40-7CFD-940C968DC7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40413" y="4017591"/>
                  <a:ext cx="47314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A4A768C2-1F7E-DAB8-8BC2-20FC382420E1}"/>
                    </a:ext>
                  </a:extLst>
                </p:cNvPr>
                <p:cNvSpPr txBox="1"/>
                <p:nvPr/>
              </p:nvSpPr>
              <p:spPr>
                <a:xfrm>
                  <a:off x="10110752" y="4263294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A4A768C2-1F7E-DAB8-8BC2-20FC382420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10752" y="4263294"/>
                  <a:ext cx="46782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287D759C-6B08-6965-BE95-F71AE2A98772}"/>
                    </a:ext>
                  </a:extLst>
                </p:cNvPr>
                <p:cNvSpPr txBox="1"/>
                <p:nvPr/>
              </p:nvSpPr>
              <p:spPr>
                <a:xfrm>
                  <a:off x="10984391" y="3406445"/>
                  <a:ext cx="4731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287D759C-6B08-6965-BE95-F71AE2A987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84391" y="3406445"/>
                  <a:ext cx="47314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74BA2CCD-FACF-3CC6-1AAC-7D2FE861F384}"/>
                </a:ext>
              </a:extLst>
            </p:cNvPr>
            <p:cNvSpPr txBox="1"/>
            <p:nvPr/>
          </p:nvSpPr>
          <p:spPr>
            <a:xfrm>
              <a:off x="9590284" y="3942923"/>
              <a:ext cx="4678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.5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003C3AC-8A99-6D7E-C22A-13449B59F4F2}"/>
                </a:ext>
              </a:extLst>
            </p:cNvPr>
            <p:cNvSpPr txBox="1"/>
            <p:nvPr/>
          </p:nvSpPr>
          <p:spPr>
            <a:xfrm>
              <a:off x="10578572" y="2927671"/>
              <a:ext cx="4678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.5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042CBFF-4384-4DEC-DAFD-59F385DB8A0A}"/>
                </a:ext>
              </a:extLst>
            </p:cNvPr>
            <p:cNvSpPr txBox="1"/>
            <p:nvPr/>
          </p:nvSpPr>
          <p:spPr>
            <a:xfrm>
              <a:off x="10197572" y="3913113"/>
              <a:ext cx="4678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1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54AEDA1-8D6E-9C41-F0F9-AF4996B72AF8}"/>
                </a:ext>
              </a:extLst>
            </p:cNvPr>
            <p:cNvSpPr txBox="1"/>
            <p:nvPr/>
          </p:nvSpPr>
          <p:spPr>
            <a:xfrm>
              <a:off x="10975769" y="3745663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ED35C69-CD15-769A-53A2-393014AC2E4B}"/>
                </a:ext>
              </a:extLst>
            </p:cNvPr>
            <p:cNvSpPr txBox="1"/>
            <p:nvPr/>
          </p:nvSpPr>
          <p:spPr>
            <a:xfrm>
              <a:off x="9267088" y="3709878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-5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FA404E6-757E-9792-CA0B-0286541C0ED6}"/>
                </a:ext>
              </a:extLst>
            </p:cNvPr>
            <p:cNvSpPr txBox="1"/>
            <p:nvPr/>
          </p:nvSpPr>
          <p:spPr>
            <a:xfrm>
              <a:off x="9575152" y="4527994"/>
              <a:ext cx="7695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100</a:t>
              </a:r>
            </a:p>
          </p:txBody>
        </p:sp>
        <p:cxnSp>
          <p:nvCxnSpPr>
            <p:cNvPr id="42" name="Connector: Curved 41">
              <a:extLst>
                <a:ext uri="{FF2B5EF4-FFF2-40B4-BE49-F238E27FC236}">
                  <a16:creationId xmlns:a16="http://schemas.microsoft.com/office/drawing/2014/main" id="{F4FCDCB7-6633-509A-A356-8AF2DF9EBCA5}"/>
                </a:ext>
              </a:extLst>
            </p:cNvPr>
            <p:cNvCxnSpPr>
              <a:cxnSpLocks/>
              <a:stCxn id="6" idx="7"/>
              <a:endCxn id="6" idx="5"/>
            </p:cNvCxnSpPr>
            <p:nvPr/>
          </p:nvCxnSpPr>
          <p:spPr>
            <a:xfrm rot="16200000" flipH="1">
              <a:off x="9963662" y="5225268"/>
              <a:ext cx="269408" cy="12700"/>
            </a:xfrm>
            <a:prstGeom prst="curvedConnector5">
              <a:avLst>
                <a:gd name="adj1" fmla="val -84853"/>
                <a:gd name="adj2" fmla="val 4360661"/>
                <a:gd name="adj3" fmla="val 1848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BAAF7535-F3E7-ED0D-E28F-1AA8CB158C59}"/>
                    </a:ext>
                  </a:extLst>
                </p:cNvPr>
                <p:cNvSpPr txBox="1"/>
                <p:nvPr/>
              </p:nvSpPr>
              <p:spPr>
                <a:xfrm>
                  <a:off x="10589411" y="4995358"/>
                  <a:ext cx="7899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BAAF7535-F3E7-ED0D-E28F-1AA8CB158C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89411" y="4995358"/>
                  <a:ext cx="78996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A3288E5-8862-2955-C168-A1D8DB82E322}"/>
                </a:ext>
              </a:extLst>
            </p:cNvPr>
            <p:cNvSpPr txBox="1"/>
            <p:nvPr/>
          </p:nvSpPr>
          <p:spPr>
            <a:xfrm>
              <a:off x="10471394" y="5498068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0</a:t>
              </a: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F6037356-148B-D226-52DA-4F75745B84E5}"/>
                </a:ext>
              </a:extLst>
            </p:cNvPr>
            <p:cNvSpPr/>
            <p:nvPr/>
          </p:nvSpPr>
          <p:spPr>
            <a:xfrm>
              <a:off x="7946052" y="1981200"/>
              <a:ext cx="3941148" cy="4191000"/>
            </a:xfrm>
            <a:prstGeom prst="rect">
              <a:avLst/>
            </a:prstGeom>
            <a:noFill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00BE7BA9-007F-599F-CBE6-966DAC152953}"/>
                    </a:ext>
                  </a:extLst>
                </p:cNvPr>
                <p:cNvSpPr txBox="1"/>
                <p:nvPr/>
              </p:nvSpPr>
              <p:spPr>
                <a:xfrm>
                  <a:off x="10650946" y="2047491"/>
                  <a:ext cx="1236254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𝑷</m:t>
                        </m:r>
                        <m:d>
                          <m:dPr>
                            <m:endChr m:val="|"/>
                            <m:ctrlPr>
                              <a:rPr lang="en-US" b="1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  <m:r>
                              <a:rPr lang="en-US" b="1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’ </m:t>
                            </m:r>
                          </m:e>
                        </m:d>
                        <m:r>
                          <a:rPr lang="en-US" b="1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1" dirty="0" err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b="1" i="1" dirty="0" err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err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b="1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b="1" dirty="0">
                    <a:solidFill>
                      <a:schemeClr val="accent6"/>
                    </a:solidFill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  <m:r>
                          <a:rPr lang="en-US" b="1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b="1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’)</m:t>
                        </m:r>
                      </m:oMath>
                    </m:oMathPara>
                  </a14:m>
                  <a:endParaRPr lang="en-US" b="1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00BE7BA9-007F-599F-CBE6-966DAC1529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50946" y="2047491"/>
                  <a:ext cx="1236254" cy="646331"/>
                </a:xfrm>
                <a:prstGeom prst="rect">
                  <a:avLst/>
                </a:prstGeom>
                <a:blipFill>
                  <a:blip r:embed="rId12"/>
                  <a:stretch>
                    <a:fillRect r="-985" b="-66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60546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42F0E-F3EF-B0CD-4D3C-09B82DE65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4x3 Grid World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C4ED40-DE5A-5D21-F8C7-D6BE61B02D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903497" y="1170947"/>
                <a:ext cx="2874195" cy="2914601"/>
              </a:xfr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tIns="91440"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Since we know the complete MDP model, we can solve this as a </a:t>
                </a:r>
                <a:r>
                  <a:rPr lang="en-US" b="1" dirty="0"/>
                  <a:t>planning problem</a:t>
                </a:r>
                <a:r>
                  <a:rPr lang="en-US" dirty="0"/>
                  <a:t>.  </a:t>
                </a:r>
              </a:p>
              <a:p>
                <a:pPr marL="0" indent="0">
                  <a:buNone/>
                </a:pPr>
                <a:r>
                  <a:rPr lang="en-US" dirty="0"/>
                  <a:t>For each square: specify what direction should we try to go to maximize the expected total utility.</a:t>
                </a:r>
              </a:p>
              <a:p>
                <a:pPr marL="0" indent="0">
                  <a:buNone/>
                </a:pPr>
                <a:r>
                  <a:rPr lang="en-US" dirty="0"/>
                  <a:t>This is called a </a:t>
                </a:r>
                <a:r>
                  <a:rPr lang="en-US" b="1" dirty="0"/>
                  <a:t>policy</a:t>
                </a:r>
                <a:r>
                  <a:rPr lang="en-US" dirty="0"/>
                  <a:t> written as the function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𝐴𝐶𝑇𝐼𝑂𝑁𝑆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C4ED40-DE5A-5D21-F8C7-D6BE61B02D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903497" y="1170947"/>
                <a:ext cx="2874195" cy="2914601"/>
              </a:xfrm>
              <a:blipFill>
                <a:blip r:embed="rId2"/>
                <a:stretch>
                  <a:fillRect l="-1688" t="-1663" r="-23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250FD1C8-2262-E6A2-7B26-FDE0F88401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357045" y="2527249"/>
            <a:ext cx="6796355" cy="3797351"/>
            <a:chOff x="1357045" y="2527249"/>
            <a:chExt cx="6796355" cy="3797351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8C3C0EB-B496-B3E8-15BB-FCC5F37303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57045" y="2527249"/>
              <a:ext cx="6796355" cy="3797351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3068467-0FCB-1E4D-E4E0-E7F68DCFD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3962400" y="2743200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3DBC30E-D02B-BD92-3754-2FFB7E2220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3352800" y="2743200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469C976-4813-B15A-A743-906C34A1F8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2743200" y="2758763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2943E52-15C4-9CB7-081F-96BC5918B0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2743200" y="3329115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A4974F9-684E-3AAE-CE41-E30A6DCD6B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3962400" y="3329115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3A0A62B-D258-BEE9-C232-8832220A49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2743200" y="4114276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34F2771-31FE-779B-C33A-7B83C85867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3352800" y="3958590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A2F734F-DC1C-10CA-A1E2-BDAA434243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3980246" y="3958590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6AF65A6-EAEE-1855-E522-73765B98CB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4607692" y="3942507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A7C2FB11-43C8-ACBE-6356-7AB77F10B670}"/>
              </a:ext>
            </a:extLst>
          </p:cNvPr>
          <p:cNvSpPr txBox="1"/>
          <p:nvPr/>
        </p:nvSpPr>
        <p:spPr>
          <a:xfrm>
            <a:off x="9220707" y="4405075"/>
            <a:ext cx="18987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Policy as a 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0BFA920F-3371-C06C-6A15-F48F31D23A6D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6430878"/>
                  </p:ext>
                </p:extLst>
              </p:nvPr>
            </p:nvGraphicFramePr>
            <p:xfrm>
              <a:off x="9334500" y="4786457"/>
              <a:ext cx="1934437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33400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40103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1" dirty="0"/>
                            <a:t>Action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1" i="1" dirty="0" smtClean="0">
                                  <a:latin typeface="Cambria Math" panose="02040503050406030204" pitchFamily="18" charset="0"/>
                                </a:rPr>
                                <m:t>𝝅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400" b="1" i="0" dirty="0" smtClean="0"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0BFA920F-3371-C06C-6A15-F48F31D23A6D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6430878"/>
                  </p:ext>
                </p:extLst>
              </p:nvPr>
            </p:nvGraphicFramePr>
            <p:xfrm>
              <a:off x="9334500" y="4786457"/>
              <a:ext cx="1934437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33400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40103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136" t="-3279" r="-265909" b="-3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8696" t="-3279" r="-1739" b="-30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7B336FFC-97FC-F486-4336-82F07857FA0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4648201" y="1524000"/>
                <a:ext cx="2057882" cy="547688"/>
              </a:xfrm>
              <a:prstGeom prst="wedgeRoundRectCallout">
                <a:avLst>
                  <a:gd name="adj1" fmla="val -38832"/>
                  <a:gd name="adj2" fmla="val 17239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Rewards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7B336FFC-97FC-F486-4336-82F07857FA0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8201" y="1524000"/>
                <a:ext cx="2057882" cy="547688"/>
              </a:xfrm>
              <a:prstGeom prst="wedgeRoundRectCallout">
                <a:avLst>
                  <a:gd name="adj1" fmla="val -38832"/>
                  <a:gd name="adj2" fmla="val 172395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89FF21E4-E93B-82AF-A6BF-AF54E9B561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90601" y="1687116"/>
                <a:ext cx="2057882" cy="547688"/>
              </a:xfrm>
              <a:prstGeom prst="wedgeRoundRectCallout">
                <a:avLst>
                  <a:gd name="adj1" fmla="val 43287"/>
                  <a:gd name="adj2" fmla="val 12590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𝐴𝐶𝑇𝐼𝑂𝑁𝑆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89FF21E4-E93B-82AF-A6BF-AF54E9B561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601" y="1687116"/>
                <a:ext cx="2057882" cy="547688"/>
              </a:xfrm>
              <a:prstGeom prst="wedgeRoundRectCallout">
                <a:avLst>
                  <a:gd name="adj1" fmla="val 43287"/>
                  <a:gd name="adj2" fmla="val 125902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38B68508-EF92-6382-782A-27E0C3FCA43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648184" y="3429000"/>
                <a:ext cx="1600200" cy="1345407"/>
              </a:xfrm>
              <a:prstGeom prst="wedgeRoundRectCallout">
                <a:avLst>
                  <a:gd name="adj1" fmla="val 80433"/>
                  <a:gd name="adj2" fmla="val 709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States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are squares. START is the initial state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38B68508-EF92-6382-782A-27E0C3FCA43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184" y="3429000"/>
                <a:ext cx="1600200" cy="1345407"/>
              </a:xfrm>
              <a:prstGeom prst="wedgeRoundRectCallout">
                <a:avLst>
                  <a:gd name="adj1" fmla="val 80433"/>
                  <a:gd name="adj2" fmla="val 7092"/>
                  <a:gd name="adj3" fmla="val 16667"/>
                </a:avLst>
              </a:prstGeom>
              <a:blipFill>
                <a:blip r:embed="rId7"/>
                <a:stretch>
                  <a:fillRect b="-9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Speech Bubble: Rectangle with Corners Rounded 14">
                <a:extLst>
                  <a:ext uri="{FF2B5EF4-FFF2-40B4-BE49-F238E27FC236}">
                    <a16:creationId xmlns:a16="http://schemas.microsoft.com/office/drawing/2014/main" id="{6E323D86-BEF5-E35F-ED49-3FCDBF978A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6872954" y="4048537"/>
                <a:ext cx="1813846" cy="927165"/>
              </a:xfrm>
              <a:prstGeom prst="wedgeRoundRectCallout">
                <a:avLst>
                  <a:gd name="adj1" fmla="val -63346"/>
                  <a:gd name="adj2" fmla="val -8142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Stochastic transition model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′ |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5" name="Speech Bubble: Rectangle with Corners Rounded 14">
                <a:extLst>
                  <a:ext uri="{FF2B5EF4-FFF2-40B4-BE49-F238E27FC236}">
                    <a16:creationId xmlns:a16="http://schemas.microsoft.com/office/drawing/2014/main" id="{6E323D86-BEF5-E35F-ED49-3FCDBF978A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2954" y="4048537"/>
                <a:ext cx="1813846" cy="927165"/>
              </a:xfrm>
              <a:prstGeom prst="wedgeRoundRectCallout">
                <a:avLst>
                  <a:gd name="adj1" fmla="val -63346"/>
                  <a:gd name="adj2" fmla="val -81429"/>
                  <a:gd name="adj3" fmla="val 16667"/>
                </a:avLst>
              </a:prstGeom>
              <a:blipFill>
                <a:blip r:embed="rId8"/>
                <a:stretch>
                  <a:fillRect b="-34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359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3D0A1-AB1E-1257-92DC-88728BCCA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93A8D1-F93E-9086-1869-3C62201711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16908"/>
                <a:ext cx="8686800" cy="2133599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A policy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…</m:t>
                        </m:r>
                      </m:e>
                    </m:d>
                  </m:oMath>
                </a14:m>
                <a:r>
                  <a:rPr lang="en-US" dirty="0"/>
                  <a:t> defines for each state which action to take.</a:t>
                </a:r>
              </a:p>
              <a:p>
                <a:r>
                  <a:rPr lang="en-US" dirty="0"/>
                  <a:t>The expected utility of being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under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(i.e., following the policy starting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) can be calculated as the sum of the immediate rewards over the visited sequence of states: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(also written as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) is called </a:t>
                </a:r>
                <a:r>
                  <a:rPr lang="en-US" b="1" dirty="0"/>
                  <a:t>the value function</a:t>
                </a:r>
                <a:r>
                  <a:rPr lang="en-US" dirty="0"/>
                  <a:t>. It is often stored as a table.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93A8D1-F93E-9086-1869-3C62201711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16908"/>
                <a:ext cx="8686800" cy="2133599"/>
              </a:xfrm>
              <a:blipFill>
                <a:blip r:embed="rId2"/>
                <a:stretch>
                  <a:fillRect l="-491" t="-4571" b="-4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3DF967-D083-4CA1-DABE-D54F5866AD90}"/>
                  </a:ext>
                </a:extLst>
              </p:cNvPr>
              <p:cNvSpPr txBox="1"/>
              <p:nvPr/>
            </p:nvSpPr>
            <p:spPr>
              <a:xfrm>
                <a:off x="9659400" y="1711924"/>
                <a:ext cx="2286000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600" dirty="0"/>
                  <a:t> .. Discounting factor to give more weight to immediate rewards.</a:t>
                </a:r>
                <a:br>
                  <a:rPr lang="en-US" sz="1600" dirty="0"/>
                </a:br>
                <a:endParaRPr lang="en-US" sz="16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1600" dirty="0"/>
                  <a:t> … Expectation over sequences that can be created by following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600" dirty="0"/>
                  <a:t>.</a:t>
                </a:r>
              </a:p>
              <a:p>
                <a:endParaRPr lang="en-US" sz="1600" dirty="0"/>
              </a:p>
              <a:p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.. Reward function.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3DF967-D083-4CA1-DABE-D54F5866AD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9400" y="1711924"/>
                <a:ext cx="2286000" cy="2308324"/>
              </a:xfrm>
              <a:prstGeom prst="rect">
                <a:avLst/>
              </a:prstGeom>
              <a:blipFill>
                <a:blip r:embed="rId3"/>
                <a:stretch>
                  <a:fillRect l="-1326" t="-526" b="-2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0975C344-F52A-8D1F-9D79-6E224183C692}"/>
              </a:ext>
            </a:extLst>
          </p:cNvPr>
          <p:cNvSpPr txBox="1"/>
          <p:nvPr/>
        </p:nvSpPr>
        <p:spPr>
          <a:xfrm>
            <a:off x="7221000" y="3924645"/>
            <a:ext cx="215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Value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D99A70F9-7C90-0528-8884-F07A8D4A231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89806172"/>
                  </p:ext>
                </p:extLst>
              </p:nvPr>
            </p:nvGraphicFramePr>
            <p:xfrm>
              <a:off x="7329582" y="4324869"/>
              <a:ext cx="1934437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33400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40103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1" dirty="0"/>
                            <a:t>State Value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1" i="1" dirty="0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400" b="1" i="0" dirty="0" smtClean="0"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(1,2)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0.8016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D99A70F9-7C90-0528-8884-F07A8D4A231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89806172"/>
                  </p:ext>
                </p:extLst>
              </p:nvPr>
            </p:nvGraphicFramePr>
            <p:xfrm>
              <a:off x="7329582" y="4324869"/>
              <a:ext cx="1934437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33400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40103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136" t="-1639" r="-265909" b="-3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38696" t="-1639" r="-1739" b="-30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(1,2)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0.8016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CF150674-B589-14B3-4B4E-68E61A61ACA6}"/>
              </a:ext>
            </a:extLst>
          </p:cNvPr>
          <p:cNvGrpSpPr/>
          <p:nvPr/>
        </p:nvGrpSpPr>
        <p:grpSpPr>
          <a:xfrm>
            <a:off x="1810800" y="3555313"/>
            <a:ext cx="3471874" cy="2874444"/>
            <a:chOff x="1810800" y="3555313"/>
            <a:chExt cx="3471874" cy="287444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18C5C48-3098-9594-2776-5636A54D99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810800" y="3924645"/>
              <a:ext cx="3471874" cy="2505112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851D2AC-0E0E-0FF1-B6C7-8C03101FF3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2514600" y="3555313"/>
              <a:ext cx="21516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Value Function</a:t>
              </a:r>
            </a:p>
          </p:txBody>
        </p:sp>
      </p:grp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0A4D8080-C15B-EC63-6E16-A03686198D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0" y="4572000"/>
            <a:ext cx="1524000" cy="86909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81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/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5F5F5-EC40-5394-0867-04B1ECEE8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Planning: Finding the Optimal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4E457B-8075-F4C1-A239-1B05210072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24001"/>
                <a:ext cx="10515600" cy="3276599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The goal of solving an MDP is to find an optimal policy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dirty="0"/>
                  <a:t> that maximizes the expected future utility for each state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:r>
                  <a:rPr lang="en-US" dirty="0"/>
                  <a:t>	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func>
                  </m:oMath>
                </a14:m>
                <a:r>
                  <a:rPr lang="en-US" dirty="0"/>
                  <a:t>    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Issue</a:t>
                </a:r>
                <a:r>
                  <a:rPr lang="en-US" b="0" dirty="0"/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depends 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 and vice versa!</a:t>
                </a:r>
              </a:p>
              <a:p>
                <a:endParaRPr lang="en-US" dirty="0"/>
              </a:p>
              <a:p>
                <a:r>
                  <a:rPr lang="en-US" dirty="0"/>
                  <a:t>The problem can be formulated recursively using the </a:t>
                </a:r>
                <a:r>
                  <a:rPr lang="en-US" b="1" dirty="0"/>
                  <a:t>Bellman equation </a:t>
                </a:r>
                <a:r>
                  <a:rPr lang="en-US" dirty="0"/>
                  <a:t>which holds for the optimal value function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dirty="0"/>
                  <a:t> (“Bellman optimality condition”):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b>
                            <m:sup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p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p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4E457B-8075-F4C1-A239-1B05210072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24001"/>
                <a:ext cx="10515600" cy="3276599"/>
              </a:xfrm>
              <a:blipFill>
                <a:blip r:embed="rId3"/>
                <a:stretch>
                  <a:fillRect l="-406" t="-29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A26210CC-9E29-9A04-E6E5-11C82105BE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4709156" y="5091113"/>
                <a:ext cx="1249689" cy="700087"/>
              </a:xfrm>
              <a:prstGeom prst="wedgeRoundRectCallout">
                <a:avLst>
                  <a:gd name="adj1" fmla="val 46502"/>
                  <a:gd name="adj2" fmla="val -1052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600" dirty="0"/>
                  <a:t> uses the best action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A26210CC-9E29-9A04-E6E5-11C82105BE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9156" y="5091113"/>
                <a:ext cx="1249689" cy="700087"/>
              </a:xfrm>
              <a:prstGeom prst="wedgeRoundRectCallout">
                <a:avLst>
                  <a:gd name="adj1" fmla="val 46502"/>
                  <a:gd name="adj2" fmla="val -105241"/>
                  <a:gd name="adj3" fmla="val 16667"/>
                </a:avLst>
              </a:prstGeom>
              <a:blipFill>
                <a:blip r:embed="rId4"/>
                <a:stretch>
                  <a:fillRect r="-1442" b="-10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ight Brace 4">
            <a:extLst>
              <a:ext uri="{FF2B5EF4-FFF2-40B4-BE49-F238E27FC236}">
                <a16:creationId xmlns:a16="http://schemas.microsoft.com/office/drawing/2014/main" id="{C67C9803-8943-8C24-4457-784219B8D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>
            <a:off x="6697184" y="4396897"/>
            <a:ext cx="230188" cy="1158244"/>
          </a:xfrm>
          <a:prstGeom prst="rightBrac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41E7BE1-ED92-8AD8-287D-44F97CB02A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73935" y="5108798"/>
            <a:ext cx="1203961" cy="381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Expectation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37AC0B2C-DA4A-CAA0-E09F-86796BEC18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433808" y="5087937"/>
            <a:ext cx="1150620" cy="703263"/>
          </a:xfrm>
          <a:prstGeom prst="wedgeRoundRectCallout">
            <a:avLst>
              <a:gd name="adj1" fmla="val 97434"/>
              <a:gd name="adj2" fmla="val -13486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Immediate Reward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02AB34F9-A061-85C1-4FF3-710294F2C0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592986" y="5109139"/>
            <a:ext cx="2133600" cy="381000"/>
          </a:xfrm>
          <a:prstGeom prst="wedgeRoundRectCallout">
            <a:avLst>
              <a:gd name="adj1" fmla="val -36495"/>
              <a:gd name="adj2" fmla="val -21084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Utility of the next state</a:t>
            </a:r>
          </a:p>
        </p:txBody>
      </p:sp>
    </p:spTree>
    <p:extLst>
      <p:ext uri="{BB962C8B-B14F-4D97-AF65-F5344CB8AC3E}">
        <p14:creationId xmlns:p14="http://schemas.microsoft.com/office/powerpoint/2010/main" val="86166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DF327-BBB7-F84A-8091-46B1673AB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Solution: 4x3 Grid World 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FBCC78F-92B8-BCC1-F802-0AD5BEEDA478}"/>
              </a:ext>
            </a:extLst>
          </p:cNvPr>
          <p:cNvGrpSpPr/>
          <p:nvPr/>
        </p:nvGrpSpPr>
        <p:grpSpPr>
          <a:xfrm>
            <a:off x="1384303" y="1524000"/>
            <a:ext cx="6160982" cy="3467625"/>
            <a:chOff x="1384303" y="1524000"/>
            <a:chExt cx="6160982" cy="3467625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6E84145-A730-0132-3381-701E3F0AED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60759" t="3531" r="13453" b="53102"/>
            <a:stretch/>
          </p:blipFill>
          <p:spPr>
            <a:xfrm>
              <a:off x="5537928" y="3622350"/>
              <a:ext cx="1457234" cy="1369275"/>
            </a:xfrm>
            <a:prstGeom prst="rect">
              <a:avLst/>
            </a:prstGeom>
          </p:spPr>
        </p:pic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B045BB06-EB24-603D-54E4-BFB31E126C81}"/>
                </a:ext>
              </a:extLst>
            </p:cNvPr>
            <p:cNvGrpSpPr/>
            <p:nvPr/>
          </p:nvGrpSpPr>
          <p:grpSpPr>
            <a:xfrm>
              <a:off x="1384303" y="1524000"/>
              <a:ext cx="3570626" cy="3441974"/>
              <a:chOff x="1384303" y="1524000"/>
              <a:chExt cx="3570626" cy="344197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06E18FF0-4A39-D3D8-7AFD-F6F0099F3927}"/>
                      </a:ext>
                    </a:extLst>
                  </p:cNvPr>
                  <p:cNvSpPr txBox="1"/>
                  <p:nvPr/>
                </p:nvSpPr>
                <p:spPr>
                  <a:xfrm>
                    <a:off x="1794192" y="1524000"/>
                    <a:ext cx="3160737" cy="70788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2000" b="1" dirty="0"/>
                      <a:t>Optimal action in each state</a:t>
                    </a:r>
                  </a:p>
                  <a:p>
                    <a:pPr algn="ctr"/>
                    <a:r>
                      <a:rPr lang="en-US" sz="2000" b="1" dirty="0"/>
                      <a:t>(policy </a:t>
                    </a:r>
                    <a14:m>
                      <m:oMath xmlns:m="http://schemas.openxmlformats.org/officeDocument/2006/math">
                        <m:sSup>
                          <m:sSup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𝝅</m:t>
                            </m:r>
                          </m:e>
                          <m:sup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a14:m>
                    <a:r>
                      <a:rPr lang="en-US" sz="2000" b="1" dirty="0"/>
                      <a:t>)</a:t>
                    </a:r>
                  </a:p>
                </p:txBody>
              </p:sp>
            </mc:Choice>
            <mc:Fallback xmlns="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06E18FF0-4A39-D3D8-7AFD-F6F0099F392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4192" y="1524000"/>
                    <a:ext cx="3160737" cy="707886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927" t="-4310" r="-1541" b="-146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26" name="Picture 25">
                <a:extLst>
                  <a:ext uri="{FF2B5EF4-FFF2-40B4-BE49-F238E27FC236}">
                    <a16:creationId xmlns:a16="http://schemas.microsoft.com/office/drawing/2014/main" id="{3EDEEFA4-E419-AF4D-78C1-B8281FED2C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384303" y="2185184"/>
                <a:ext cx="3471874" cy="2780790"/>
              </a:xfrm>
              <a:prstGeom prst="rect">
                <a:avLst/>
              </a:prstGeom>
            </p:spPr>
          </p:pic>
        </p:grpSp>
        <p:sp>
          <p:nvSpPr>
            <p:cNvPr id="12" name="Arrow: Right 11">
              <a:extLst>
                <a:ext uri="{FF2B5EF4-FFF2-40B4-BE49-F238E27FC236}">
                  <a16:creationId xmlns:a16="http://schemas.microsoft.com/office/drawing/2014/main" id="{E56DDC90-FE7A-C050-F2D5-632998C1CE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>
              <a:off x="5105399" y="3066369"/>
              <a:ext cx="2230425" cy="685800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F273CD9-E8E1-433D-84D4-A9991F2883D1}"/>
                </a:ext>
              </a:extLst>
            </p:cNvPr>
            <p:cNvSpPr txBox="1"/>
            <p:nvPr/>
          </p:nvSpPr>
          <p:spPr>
            <a:xfrm>
              <a:off x="4777717" y="1782416"/>
              <a:ext cx="2767568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Greedy policy</a:t>
              </a:r>
              <a:r>
                <a:rPr lang="en-US" dirty="0"/>
                <a:t>:</a:t>
              </a:r>
            </a:p>
            <a:p>
              <a:pPr algn="ctr"/>
              <a:r>
                <a:rPr lang="en-US" dirty="0"/>
                <a:t>Always pick the action leading to the state with the highest expected utility.</a:t>
              </a:r>
            </a:p>
          </p:txBody>
        </p:sp>
      </p:grp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B5C7546A-738F-A235-D50D-7D2ABEC848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676400" y="5059998"/>
            <a:ext cx="4572000" cy="447490"/>
          </a:xfrm>
          <a:prstGeom prst="wedgeRoundRectCallout">
            <a:avLst>
              <a:gd name="adj1" fmla="val -23277"/>
              <a:gd name="adj2" fmla="val -220194"/>
              <a:gd name="adj3" fmla="val 16667"/>
            </a:avLst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It is optimal to walk away from the +1 square!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045C7D2-9555-4DFE-AF5C-9586A359520A}"/>
              </a:ext>
            </a:extLst>
          </p:cNvPr>
          <p:cNvGrpSpPr/>
          <p:nvPr/>
        </p:nvGrpSpPr>
        <p:grpSpPr>
          <a:xfrm>
            <a:off x="7424654" y="1567888"/>
            <a:ext cx="3700546" cy="3683006"/>
            <a:chOff x="7424654" y="1567888"/>
            <a:chExt cx="3700546" cy="368300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D335A55-766D-7C54-B365-34D36E67EC16}"/>
                    </a:ext>
                  </a:extLst>
                </p:cNvPr>
                <p:cNvSpPr txBox="1"/>
                <p:nvPr/>
              </p:nvSpPr>
              <p:spPr>
                <a:xfrm>
                  <a:off x="7424654" y="1567888"/>
                  <a:ext cx="3590790" cy="7295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2000" b="1" dirty="0"/>
                    <a:t>Value of being in a state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  <m:sup>
                          <m:sSup>
                            <m:sSup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𝝅</m:t>
                              </m:r>
                            </m:e>
                            <m:sup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p>
                      </m:sSup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2000" b="1" dirty="0"/>
                    <a:t> </a:t>
                  </a:r>
                  <a:br>
                    <a:rPr lang="en-US" sz="2000" b="1" dirty="0"/>
                  </a:br>
                  <a:r>
                    <a:rPr lang="en-US" sz="2000" b="1" dirty="0"/>
                    <a:t>(given that we will follow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𝝅</m:t>
                          </m:r>
                        </m:e>
                        <m: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a14:m>
                  <a:r>
                    <a:rPr lang="en-US" sz="2000" b="1" dirty="0"/>
                    <a:t>)</a:t>
                  </a: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D335A55-766D-7C54-B365-34D36E67EC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4654" y="1567888"/>
                  <a:ext cx="3590790" cy="729559"/>
                </a:xfrm>
                <a:prstGeom prst="rect">
                  <a:avLst/>
                </a:prstGeom>
                <a:blipFill>
                  <a:blip r:embed="rId5"/>
                  <a:stretch>
                    <a:fillRect l="-1358" t="-833" b="-141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20B78A18-B86C-5580-E468-1234A1B13DE4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0058400" y="4881562"/>
                  <a:ext cx="10668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20B78A18-B86C-5580-E468-1234A1B13DE4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58400" y="4881562"/>
                  <a:ext cx="1066800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7E9B2602-8B3F-6D0F-0A77-E83DBBBB1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424726" y="2347285"/>
              <a:ext cx="3471874" cy="2505112"/>
            </a:xfrm>
            <a:prstGeom prst="rect">
              <a:avLst/>
            </a:prstGeom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795FF924-DC6B-ECCA-6E89-11053CA6BA9C}"/>
              </a:ext>
            </a:extLst>
          </p:cNvPr>
          <p:cNvGrpSpPr/>
          <p:nvPr/>
        </p:nvGrpSpPr>
        <p:grpSpPr>
          <a:xfrm>
            <a:off x="1272024" y="5636513"/>
            <a:ext cx="9762254" cy="874340"/>
            <a:chOff x="1272024" y="5636513"/>
            <a:chExt cx="9762254" cy="87434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2FA592E-1E5A-8CB3-DF4D-F85C3A3C3F6A}"/>
                </a:ext>
              </a:extLst>
            </p:cNvPr>
            <p:cNvSpPr txBox="1"/>
            <p:nvPr/>
          </p:nvSpPr>
          <p:spPr>
            <a:xfrm>
              <a:off x="1272024" y="5636513"/>
              <a:ext cx="9762254" cy="400110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2000" dirty="0"/>
                <a:t>How do we find the optimal value function/optimal policy?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3CC282A-034D-2D82-9350-0DAD96B3CF4D}"/>
                </a:ext>
              </a:extLst>
            </p:cNvPr>
            <p:cNvSpPr txBox="1"/>
            <p:nvPr/>
          </p:nvSpPr>
          <p:spPr>
            <a:xfrm>
              <a:off x="1302504" y="6130647"/>
              <a:ext cx="4031496" cy="36933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Policy Iteration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944F2EB-EDE6-FB0D-20C0-D8AB0D9E7AC5}"/>
                </a:ext>
              </a:extLst>
            </p:cNvPr>
            <p:cNvSpPr txBox="1"/>
            <p:nvPr/>
          </p:nvSpPr>
          <p:spPr>
            <a:xfrm>
              <a:off x="6995162" y="6141521"/>
              <a:ext cx="4031496" cy="36933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Value Iteration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66756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CD99BBE-5189-4E89-41B1-8189E7FE9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0759" t="3531" r="13453" b="53102"/>
          <a:stretch/>
        </p:blipFill>
        <p:spPr>
          <a:xfrm>
            <a:off x="10969888" y="3005332"/>
            <a:ext cx="1222112" cy="114834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2B681C6-B1B6-F112-A6F9-054D2D6035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67E42-948A-F22D-8397-4FA0611D44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600200"/>
                <a:ext cx="7582471" cy="4495800"/>
              </a:xfrm>
            </p:spPr>
            <p:txBody>
              <a:bodyPr>
                <a:normAutofit fontScale="700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called the state-action value function. It gives the expected utility of taking action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and then following the policy.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b>
                        <m:sup/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Relationship with the state value function: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dirty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lim>
                        </m:limLow>
                      </m:fName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r>
                  <a:rPr lang="en-US" dirty="0"/>
                  <a:t>The Q-function lets us compare the value of taking different action is a given state. It is used in algorithms to determine what action is the best.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67E42-948A-F22D-8397-4FA0611D44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600200"/>
                <a:ext cx="7582471" cy="4495800"/>
              </a:xfrm>
              <a:blipFill>
                <a:blip r:embed="rId3"/>
                <a:stretch>
                  <a:fillRect l="-643" t="-8277" r="-7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6B52A89E-DE87-F732-750C-99C3E899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667000" y="3464877"/>
            <a:ext cx="1150620" cy="573723"/>
          </a:xfrm>
          <a:prstGeom prst="wedgeRoundRectCallout">
            <a:avLst>
              <a:gd name="adj1" fmla="val 33573"/>
              <a:gd name="adj2" fmla="val -9754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Immediate Reward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48098075-90D7-0EF8-081A-B4F043DB97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918709" y="3464877"/>
            <a:ext cx="2209800" cy="550863"/>
          </a:xfrm>
          <a:prstGeom prst="wedgeRoundRectCallout">
            <a:avLst>
              <a:gd name="adj1" fmla="val -22655"/>
              <a:gd name="adj2" fmla="val -9912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Expected utility of the next state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CE4623-8DCA-34FA-3404-B71214310EC9}"/>
              </a:ext>
            </a:extLst>
          </p:cNvPr>
          <p:cNvSpPr txBox="1"/>
          <p:nvPr/>
        </p:nvSpPr>
        <p:spPr>
          <a:xfrm>
            <a:off x="9180139" y="3784345"/>
            <a:ext cx="16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Q-Table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0FBDF7A5-C92F-D912-9C5C-20730CC9FD1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55306382"/>
                  </p:ext>
                </p:extLst>
              </p:nvPr>
            </p:nvGraphicFramePr>
            <p:xfrm>
              <a:off x="8784864" y="4153677"/>
              <a:ext cx="2662384" cy="21945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81633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85800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160248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600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600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0.6709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0.7003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0.7109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0FBDF7A5-C92F-D912-9C5C-20730CC9FD1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55306382"/>
                  </p:ext>
                </p:extLst>
              </p:nvPr>
            </p:nvGraphicFramePr>
            <p:xfrm>
              <a:off x="8784864" y="4153677"/>
              <a:ext cx="2662384" cy="21945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81633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85800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160248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46" t="-1667" r="-229104" b="-5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19469" t="-1667" r="-171681" b="-5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30526" t="-1667" r="-2105" b="-5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0.6709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0.7003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0.7109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7B7ABEF7-94BD-43E0-F530-D803032960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0671" y="1092790"/>
            <a:ext cx="3026577" cy="2183810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F707543C-E5BA-BCA6-AE7E-F9B1F633DC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291236" y="2638737"/>
            <a:ext cx="152400" cy="116523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FBE7C032-3857-CC7A-2FA5-D5C15DB27D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>
            <a:off x="9045677" y="2963785"/>
            <a:ext cx="152400" cy="116523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752A14C6-85E5-4153-277E-0E12DE0D16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9045677" y="2301830"/>
            <a:ext cx="152400" cy="116523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35DD367B-FE67-0759-6467-4E2761CE4C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8666807" y="2629135"/>
            <a:ext cx="152400" cy="116523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E2199E-467E-965F-9A0D-FF1A3827E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8858159" y="723458"/>
            <a:ext cx="215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Value Function</a:t>
            </a:r>
          </a:p>
        </p:txBody>
      </p:sp>
      <p:sp>
        <p:nvSpPr>
          <p:cNvPr id="15" name="Arrow: Left-Right 14">
            <a:extLst>
              <a:ext uri="{FF2B5EF4-FFF2-40B4-BE49-F238E27FC236}">
                <a16:creationId xmlns:a16="http://schemas.microsoft.com/office/drawing/2014/main" id="{107A69EE-C790-EFD0-1997-97E6121D29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>
            <a:off x="9638154" y="3053110"/>
            <a:ext cx="875524" cy="586946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914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64F0D86-0605-BE95-9BF2-5225C2CF91A4}"/>
              </a:ext>
            </a:extLst>
          </p:cNvPr>
          <p:cNvGrpSpPr/>
          <p:nvPr/>
        </p:nvGrpSpPr>
        <p:grpSpPr>
          <a:xfrm>
            <a:off x="3725483" y="2115814"/>
            <a:ext cx="8362853" cy="4396038"/>
            <a:chOff x="3725483" y="2115814"/>
            <a:chExt cx="8362853" cy="4396038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CBAC27E-ED2B-1569-2BB8-44BBD27FCC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84612" y="2115814"/>
              <a:ext cx="8130101" cy="3998566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7DC87FB-91A0-993F-BBD1-7E4BFB7FF3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25483" y="2132161"/>
              <a:ext cx="8001000" cy="3998566"/>
            </a:xfrm>
            <a:prstGeom prst="rect">
              <a:avLst/>
            </a:prstGeom>
            <a:noFill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9513701-13DB-1D8E-30D7-0B0A0907C3E9}"/>
                    </a:ext>
                  </a:extLst>
                </p:cNvPr>
                <p:cNvSpPr txBox="1"/>
                <p:nvPr/>
              </p:nvSpPr>
              <p:spPr>
                <a:xfrm>
                  <a:off x="9613620" y="5782293"/>
                  <a:ext cx="2474716" cy="729559"/>
                </a:xfrm>
                <a:prstGeom prst="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a14:m>
                  <a:r>
                    <a:rPr lang="en-US" sz="2000" dirty="0"/>
                    <a:t> converges to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p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p>
                      </m:sSup>
                    </m:oMath>
                  </a14:m>
                  <a:r>
                    <a:rPr lang="en-US" sz="2000" dirty="0"/>
                    <a:t> </a:t>
                  </a:r>
                  <a:br>
                    <a:rPr lang="en-US" sz="2000" dirty="0"/>
                  </a:br>
                  <a:r>
                    <a:rPr lang="en-US" sz="2000" dirty="0"/>
                    <a:t>and we can extract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9513701-13DB-1D8E-30D7-0B0A0907C3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13620" y="5782293"/>
                  <a:ext cx="2474716" cy="729559"/>
                </a:xfrm>
                <a:prstGeom prst="rect">
                  <a:avLst/>
                </a:prstGeom>
                <a:blipFill>
                  <a:blip r:embed="rId3"/>
                  <a:stretch>
                    <a:fillRect l="-1716" t="-826" b="-140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D04F8B-2712-4C1A-7E81-016616375E9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6"/>
                <a:ext cx="10744200" cy="1002010"/>
              </a:xfrm>
            </p:spPr>
            <p:txBody>
              <a:bodyPr>
                <a:normAutofit/>
              </a:bodyPr>
              <a:lstStyle/>
              <a:p>
                <a:r>
                  <a:rPr lang="en-US" sz="3600" dirty="0"/>
                  <a:t>Value Iteration: Estimate the Optimal Value Function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sSup>
                          <m:sSupPr>
                            <m:ctrlP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sup>
                    </m:sSup>
                  </m:oMath>
                </a14:m>
                <a:endParaRPr lang="en-US" sz="3600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D04F8B-2712-4C1A-7E81-016616375E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6"/>
                <a:ext cx="10744200" cy="1002010"/>
              </a:xfrm>
              <a:blipFill>
                <a:blip r:embed="rId4"/>
                <a:stretch>
                  <a:fillRect l="-1759" b="-48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4CCCAA1-E3F2-9AE6-C76D-6DAB64DEC95C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/>
              <p:nvPr/>
            </p:nvSpPr>
            <p:spPr>
              <a:xfrm>
                <a:off x="905320" y="1367135"/>
                <a:ext cx="10381359" cy="9425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/>
                  <a:t>Algorithm</a:t>
                </a:r>
                <a:r>
                  <a:rPr lang="en-US" dirty="0"/>
                  <a:t>: Start with a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dirty="0"/>
                  <a:t> table (vector) of 0 for all states and then apply the Bellman update over the entries of the table until it converges to the unique optimal solution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4CCCAA1-E3F2-9AE6-C76D-6DAB64DEC95C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320" y="1367135"/>
                <a:ext cx="10381359" cy="942566"/>
              </a:xfrm>
              <a:prstGeom prst="rect">
                <a:avLst/>
              </a:prstGeom>
              <a:blipFill>
                <a:blip r:embed="rId5"/>
                <a:stretch>
                  <a:fillRect l="-529" t="-3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F50597BD-A2C7-03AF-0527-E7B05D49F1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404609" y="4138633"/>
            <a:ext cx="2381003" cy="549992"/>
          </a:xfrm>
          <a:prstGeom prst="wedgeRoundRectCallout">
            <a:avLst>
              <a:gd name="adj1" fmla="val -71827"/>
              <a:gd name="adj2" fmla="val 9873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Bellman update: Value of the best action in state 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2C83DA51-F484-984F-49A7-263A108B6B7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5410200" y="5954213"/>
                <a:ext cx="3841568" cy="549992"/>
              </a:xfrm>
              <a:prstGeom prst="wedgeRoundRectCallout">
                <a:avLst>
                  <a:gd name="adj1" fmla="val -42302"/>
                  <a:gd name="adj2" fmla="val -8145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Convergence? Uses a proxy for policy loss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16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160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𝑈</m:t>
                                </m:r>
                              </m:e>
                              <m:sup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sup>
                            </m:s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</m:d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sz="1600" dirty="0"/>
                  <a:t> as the stopping criterion 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2C83DA51-F484-984F-49A7-263A108B6B7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0200" y="5954213"/>
                <a:ext cx="3841568" cy="549992"/>
              </a:xfrm>
              <a:prstGeom prst="wedgeRoundRectCallout">
                <a:avLst>
                  <a:gd name="adj1" fmla="val -42302"/>
                  <a:gd name="adj2" fmla="val -81458"/>
                  <a:gd name="adj3" fmla="val 16667"/>
                </a:avLst>
              </a:prstGeom>
              <a:blipFill>
                <a:blip r:embed="rId6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5DDD6752-393B-5DE4-89C9-FB6C1BD42C20}"/>
              </a:ext>
            </a:extLst>
          </p:cNvPr>
          <p:cNvGrpSpPr/>
          <p:nvPr/>
        </p:nvGrpSpPr>
        <p:grpSpPr>
          <a:xfrm>
            <a:off x="948787" y="2523868"/>
            <a:ext cx="2854818" cy="2270823"/>
            <a:chOff x="9337182" y="2229868"/>
            <a:chExt cx="2854818" cy="2270823"/>
          </a:xfrm>
        </p:grpSpPr>
        <p:grpSp>
          <p:nvGrpSpPr>
            <p:cNvPr id="11" name="Group 10" descr="Updating the value function using iterative Bellman updates.">
              <a:extLst>
                <a:ext uri="{FF2B5EF4-FFF2-40B4-BE49-F238E27FC236}">
                  <a16:creationId xmlns:a16="http://schemas.microsoft.com/office/drawing/2014/main" id="{63FD7C4D-64E2-3FEF-F62C-382BE07E89C8}"/>
                </a:ext>
              </a:extLst>
            </p:cNvPr>
            <p:cNvGrpSpPr/>
            <p:nvPr/>
          </p:nvGrpSpPr>
          <p:grpSpPr>
            <a:xfrm>
              <a:off x="9337182" y="2229868"/>
              <a:ext cx="2854818" cy="1428805"/>
              <a:chOff x="9337182" y="2229868"/>
              <a:chExt cx="2854818" cy="1428805"/>
            </a:xfrm>
          </p:grpSpPr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53024366-3B9C-8541-0D28-708BBC7AE6C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092683"/>
                    <a:ext cx="766996" cy="388568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p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sup>
                          </m:sSup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092683"/>
                    <a:ext cx="766996" cy="388568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5" name="Arc 24">
                <a:extLst>
                  <a:ext uri="{FF2B5EF4-FFF2-40B4-BE49-F238E27FC236}">
                    <a16:creationId xmlns:a16="http://schemas.microsoft.com/office/drawing/2014/main" id="{830A3C56-435D-BEBE-B83F-3BA9F9E016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Arc 25">
                <a:extLst>
                  <a:ext uri="{FF2B5EF4-FFF2-40B4-BE49-F238E27FC236}">
                    <a16:creationId xmlns:a16="http://schemas.microsoft.com/office/drawing/2014/main" id="{3FB9398F-7C22-1F4D-9C1A-D846D19FEED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Arc 26">
                <a:extLst>
                  <a:ext uri="{FF2B5EF4-FFF2-40B4-BE49-F238E27FC236}">
                    <a16:creationId xmlns:a16="http://schemas.microsoft.com/office/drawing/2014/main" id="{72229F87-12B2-362D-80BC-031A6CAAE4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936EFA66-6C09-679B-C4C9-F361F262C3E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r="-153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4AF4F629-36FB-BF7C-2361-1AFA669F5F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C0182D5-6E45-5881-FEB0-C4755A1551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37" name="Arrow: Down 36">
              <a:extLst>
                <a:ext uri="{FF2B5EF4-FFF2-40B4-BE49-F238E27FC236}">
                  <a16:creationId xmlns:a16="http://schemas.microsoft.com/office/drawing/2014/main" id="{489C2DDD-1EBF-335C-9781-0FE90D3CF1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82400" y="3481251"/>
              <a:ext cx="248436" cy="388563"/>
            </a:xfrm>
            <a:prstGeom prst="down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600" dirty="0"/>
                    <a:t>Extract</a:t>
                  </a:r>
                  <a:br>
                    <a:rPr lang="en-US" sz="1600" dirty="0"/>
                  </a:br>
                  <a:r>
                    <a:rPr lang="en-US" sz="1600" dirty="0"/>
                    <a:t> greedy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blipFill>
                  <a:blip r:embed="rId11"/>
                  <a:stretch>
                    <a:fillRect t="-3125" b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51EC48C5-300C-59AC-F0C1-7A1614AC7AF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7232093" y="3984302"/>
                <a:ext cx="1226107" cy="549992"/>
              </a:xfrm>
              <a:prstGeom prst="wedgeRoundRectCallout">
                <a:avLst>
                  <a:gd name="adj1" fmla="val -85343"/>
                  <a:gd name="adj2" fmla="val 8611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Sweep over the </a:t>
                </a:r>
                <a14:m>
                  <m:oMath xmlns:m="http://schemas.openxmlformats.org/officeDocument/2006/math">
                    <m:r>
                      <a:rPr lang="en-US" sz="1600" b="0" i="1" dirty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1600" b="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table</a:t>
                </a:r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51EC48C5-300C-59AC-F0C1-7A1614AC7AF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2093" y="3984302"/>
                <a:ext cx="1226107" cy="549992"/>
              </a:xfrm>
              <a:prstGeom prst="wedgeRoundRectCallout">
                <a:avLst>
                  <a:gd name="adj1" fmla="val -85343"/>
                  <a:gd name="adj2" fmla="val 86110"/>
                  <a:gd name="adj3" fmla="val 16667"/>
                </a:avLst>
              </a:prstGeom>
              <a:blipFill>
                <a:blip r:embed="rId12"/>
                <a:stretch>
                  <a:fillRect t="-3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FF72FFF-8AA8-E608-AB6F-36554714E1D3}"/>
                  </a:ext>
                </a:extLst>
              </p:cNvPr>
              <p:cNvSpPr txBox="1"/>
              <p:nvPr/>
            </p:nvSpPr>
            <p:spPr>
              <a:xfrm>
                <a:off x="898656" y="4970952"/>
                <a:ext cx="2674139" cy="1477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/>
                  <a:t>Guarantee</a:t>
                </a:r>
                <a:r>
                  <a:rPr lang="en-US" b="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en-US" dirty="0"/>
                  <a:t>t will converge because the optimal solution is a fixed point of the Bellam operator.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FF72FFF-8AA8-E608-AB6F-36554714E1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656" y="4970952"/>
                <a:ext cx="2674139" cy="1477328"/>
              </a:xfrm>
              <a:prstGeom prst="rect">
                <a:avLst/>
              </a:prstGeom>
              <a:blipFill>
                <a:blip r:embed="rId13"/>
                <a:stretch>
                  <a:fillRect l="-1822" t="-2058" b="-53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3325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4" grpId="0" animBg="1"/>
      <p:bldP spid="1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DB6D0844-E7E5-7D68-584B-4A9D36E15970}"/>
              </a:ext>
            </a:extLst>
          </p:cNvPr>
          <p:cNvGrpSpPr/>
          <p:nvPr/>
        </p:nvGrpSpPr>
        <p:grpSpPr>
          <a:xfrm>
            <a:off x="3934861" y="2084475"/>
            <a:ext cx="7780925" cy="4212916"/>
            <a:chOff x="3934861" y="2084475"/>
            <a:chExt cx="7780925" cy="4212916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BBF0129-0985-4F48-A0E8-CBBB90085C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34861" y="2103372"/>
              <a:ext cx="7764528" cy="3986213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0F18446-04DB-D98B-9D7E-E2DECCF5F8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951258" y="2084475"/>
              <a:ext cx="7540391" cy="3986213"/>
            </a:xfrm>
            <a:prstGeom prst="rect">
              <a:avLst/>
            </a:prstGeom>
            <a:noFill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BBA4292-2680-B6EA-AEBA-92D340D7C265}"/>
                    </a:ext>
                    <a:ext uri="{C183D7F6-B498-43B3-948B-1728B52AA6E4}">
                      <adec:decorative xmlns:adec="http://schemas.microsoft.com/office/drawing/2017/decorative" val="0"/>
                    </a:ext>
                  </a:extLst>
                </p:cNvPr>
                <p:cNvSpPr txBox="1"/>
                <p:nvPr/>
              </p:nvSpPr>
              <p:spPr>
                <a:xfrm>
                  <a:off x="8830316" y="5567832"/>
                  <a:ext cx="2885470" cy="729559"/>
                </a:xfrm>
                <a:prstGeom prst="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r>
                    <a:rPr lang="en-US" sz="2000" dirty="0"/>
                    <a:t> converges to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a14:m>
                  <a:br>
                    <a:rPr lang="en-US" sz="2000" dirty="0"/>
                  </a:br>
                  <a:r>
                    <a:rPr lang="en-US" sz="2000" dirty="0"/>
                    <a:t>(and 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m:rPr>
                          <m:nor/>
                        </m:rPr>
                        <a:rPr lang="en-US" sz="2000" dirty="0"/>
                        <m:t> </m:t>
                      </m:r>
                      <m:r>
                        <m:rPr>
                          <m:nor/>
                        </m:rPr>
                        <a:rPr lang="en-US" sz="2000" dirty="0"/>
                        <m:t>converges</m:t>
                      </m:r>
                      <m:r>
                        <m:rPr>
                          <m:nor/>
                        </m:rPr>
                        <a:rPr lang="en-US" sz="2000" dirty="0"/>
                        <m:t> </m:t>
                      </m:r>
                      <m:r>
                        <m:rPr>
                          <m:nor/>
                        </m:rPr>
                        <a:rPr lang="en-US" sz="2000" dirty="0"/>
                        <m:t>to</m:t>
                      </m:r>
                      <m:r>
                        <m:rPr>
                          <m:nor/>
                        </m:rPr>
                        <a:rPr lang="en-US" sz="2000" dirty="0"/>
                        <m:t> 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p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p>
                      </m:sSup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BBA4292-2680-B6EA-AEBA-92D340D7C265}"/>
                    </a:ext>
                    <a:ext uri="{C183D7F6-B498-43B3-948B-1728B52AA6E4}">
                      <adec:decorative xmlns:adec="http://schemas.microsoft.com/office/drawing/2017/decorative" val="0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0316" y="5567832"/>
                  <a:ext cx="2885470" cy="729559"/>
                </a:xfrm>
                <a:prstGeom prst="rect">
                  <a:avLst/>
                </a:prstGeom>
                <a:blipFill>
                  <a:blip r:embed="rId3"/>
                  <a:stretch>
                    <a:fillRect l="-1684" t="-3279" r="-1474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8C32B98-2B97-D8C0-2282-F86B2C8C583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4000" dirty="0"/>
                  <a:t>Policy Iteration: Find the Optimal Policy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4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sz="4000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8C32B98-2B97-D8C0-2282-F86B2C8C58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4"/>
                <a:stretch>
                  <a:fillRect l="-2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Speech Bubble: Rectangle with Corners Rounded 10">
                <a:extLst>
                  <a:ext uri="{FF2B5EF4-FFF2-40B4-BE49-F238E27FC236}">
                    <a16:creationId xmlns:a16="http://schemas.microsoft.com/office/drawing/2014/main" id="{F1C3BD76-4D67-69DA-592A-34CE6D8B73A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8735253" y="3395337"/>
                <a:ext cx="2964136" cy="790806"/>
              </a:xfrm>
              <a:prstGeom prst="wedgeRoundRectCallout">
                <a:avLst>
                  <a:gd name="adj1" fmla="val -62359"/>
                  <a:gd name="adj2" fmla="val -573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Estimate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sz="1600" dirty="0"/>
                  <a:t> given the current policy (either solve an LP or value iteration with fixed policy)</a:t>
                </a:r>
              </a:p>
            </p:txBody>
          </p:sp>
        </mc:Choice>
        <mc:Fallback xmlns="">
          <p:sp>
            <p:nvSpPr>
              <p:cNvPr id="11" name="Speech Bubble: Rectangle with Corners Rounded 10">
                <a:extLst>
                  <a:ext uri="{FF2B5EF4-FFF2-40B4-BE49-F238E27FC236}">
                    <a16:creationId xmlns:a16="http://schemas.microsoft.com/office/drawing/2014/main" id="{F1C3BD76-4D67-69DA-592A-34CE6D8B73A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5253" y="3395337"/>
                <a:ext cx="2964136" cy="790806"/>
              </a:xfrm>
              <a:prstGeom prst="wedgeRoundRectCallout">
                <a:avLst>
                  <a:gd name="adj1" fmla="val -62359"/>
                  <a:gd name="adj2" fmla="val -5737"/>
                  <a:gd name="adj3" fmla="val 16667"/>
                </a:avLst>
              </a:prstGeom>
              <a:blipFill>
                <a:blip r:embed="rId5"/>
                <a:stretch>
                  <a:fillRect t="-3788" b="-106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AF07D752-9557-BCDE-C555-4F2C10CC9B87}"/>
              </a:ext>
            </a:extLst>
          </p:cNvPr>
          <p:cNvGrpSpPr/>
          <p:nvPr/>
        </p:nvGrpSpPr>
        <p:grpSpPr>
          <a:xfrm>
            <a:off x="2658997" y="4239882"/>
            <a:ext cx="1849195" cy="1183822"/>
            <a:chOff x="2658997" y="4239882"/>
            <a:chExt cx="1849195" cy="1183822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F3E77754-BB52-49DF-160C-43083A9A92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>
              <a:off x="4208431" y="4239882"/>
              <a:ext cx="299761" cy="1183822"/>
            </a:xfrm>
            <a:prstGeom prst="rightBrace">
              <a:avLst>
                <a:gd name="adj1" fmla="val 8333"/>
                <a:gd name="adj2" fmla="val 50997"/>
              </a:avLst>
            </a:prstGeom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B6B0E704-A11F-E670-6F2B-4D697F469B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658997" y="4547992"/>
              <a:ext cx="1515328" cy="567601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 dirty="0"/>
                <a:t>Greedy policy </a:t>
              </a:r>
            </a:p>
            <a:p>
              <a:r>
                <a:rPr lang="en-US" sz="1600" dirty="0"/>
                <a:t>Improvement.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572D7E8A-8745-B3AE-DDEA-E6FBAE0E1E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838200" y="1377914"/>
            <a:ext cx="98307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Policy iteration tries to directly find the optimal policy by iterating policy evaluation and improvement.</a:t>
            </a:r>
          </a:p>
        </p:txBody>
      </p:sp>
      <p:grpSp>
        <p:nvGrpSpPr>
          <p:cNvPr id="6" name="Group 5" descr="Policy iteration as a sequence of policy evaluation and policy improvements.">
            <a:extLst>
              <a:ext uri="{FF2B5EF4-FFF2-40B4-BE49-F238E27FC236}">
                <a16:creationId xmlns:a16="http://schemas.microsoft.com/office/drawing/2014/main" id="{5330DBED-05CE-C5CD-1726-3FFBB3C2F0B3}"/>
              </a:ext>
            </a:extLst>
          </p:cNvPr>
          <p:cNvGrpSpPr/>
          <p:nvPr/>
        </p:nvGrpSpPr>
        <p:grpSpPr>
          <a:xfrm>
            <a:off x="1000995" y="1716227"/>
            <a:ext cx="2494019" cy="2538895"/>
            <a:chOff x="9723059" y="1765352"/>
            <a:chExt cx="2494019" cy="2538895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447A44AD-8292-96EC-1994-4950D408FA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9767243" y="2133600"/>
              <a:ext cx="1963017" cy="99059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450082" y="2697769"/>
                  <a:ext cx="766996" cy="38856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8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p>
                            <m:sSup>
                              <m:sSupPr>
                                <m:ctrlPr>
                                  <a:rPr lang="en-US" sz="18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p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50082" y="2697769"/>
                  <a:ext cx="766996" cy="388568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9767243" y="1765352"/>
                  <a:ext cx="39581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67243" y="1765352"/>
                  <a:ext cx="39581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E957BD3F-E8AA-B5A0-FC84-59F338DCDE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80507" y="3066584"/>
              <a:ext cx="127995" cy="117892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450082" y="3185914"/>
                  <a:ext cx="6708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50082" y="3185914"/>
                  <a:ext cx="67088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63B50D4-BD22-4970-434D-879A140DE0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  <a:endCxn id="17" idx="4"/>
            </p:cNvCxnSpPr>
            <p:nvPr/>
          </p:nvCxnSpPr>
          <p:spPr>
            <a:xfrm flipV="1">
              <a:off x="9767243" y="3184476"/>
              <a:ext cx="1977262" cy="89790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E6948348-E14F-E78C-7925-6D07B342DD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 flipV="1">
              <a:off x="9982200" y="2438400"/>
              <a:ext cx="360675" cy="1515404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11A484C5-4702-A9B7-9D77-FC3973E8A6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0342875" y="2438400"/>
              <a:ext cx="325125" cy="1219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FEB4DCB4-48A5-6E51-B9FE-EF0E9B4BAF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68000" y="2819400"/>
              <a:ext cx="457200" cy="838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6CB15DB5-D53A-F51F-8727-21F569598D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125200" y="2819400"/>
              <a:ext cx="228600" cy="5334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B79E848C-DEE2-2B22-D382-CB1D0AFA62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53800" y="3066584"/>
              <a:ext cx="228600" cy="28621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2F360256-AFD1-C0BB-ABF4-6ED717BE24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582400" y="3086337"/>
              <a:ext cx="98107" cy="11406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AFD80097-9184-52DD-89E7-0E2ED869B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17007305">
              <a:off x="9413809" y="3067737"/>
              <a:ext cx="123674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Policy evaluation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7FBEAB6-A067-564C-70A8-D8E9A5A200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4498548">
              <a:off x="10061465" y="2911840"/>
              <a:ext cx="110318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P. improvement</a:t>
              </a:r>
            </a:p>
          </p:txBody>
        </p:sp>
      </p:grpSp>
      <p:sp>
        <p:nvSpPr>
          <p:cNvPr id="15" name="Speech Bubble: Rectangle with Corners Rounded 14">
            <a:extLst>
              <a:ext uri="{FF2B5EF4-FFF2-40B4-BE49-F238E27FC236}">
                <a16:creationId xmlns:a16="http://schemas.microsoft.com/office/drawing/2014/main" id="{21153F50-14D6-0368-4F4D-A1FE312D0D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10200" y="6108481"/>
            <a:ext cx="1981200" cy="395723"/>
          </a:xfrm>
          <a:prstGeom prst="wedgeRoundRectCallout">
            <a:avLst>
              <a:gd name="adj1" fmla="val -40359"/>
              <a:gd name="adj2" fmla="val -14544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Convergence test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91C1788-026F-4CA6-EC43-0F6380318363}"/>
                  </a:ext>
                </a:extLst>
              </p:cNvPr>
              <p:cNvSpPr txBox="1"/>
              <p:nvPr/>
            </p:nvSpPr>
            <p:spPr>
              <a:xfrm>
                <a:off x="608866" y="5000544"/>
                <a:ext cx="2674139" cy="1477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/>
                  <a:t>Guarantee</a:t>
                </a:r>
                <a:r>
                  <a:rPr lang="en-US" b="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en-US" dirty="0"/>
                  <a:t>t will converge because each step improves the utility/policy and there is a finite number of steps.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91C1788-026F-4CA6-EC43-0F63803183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866" y="5000544"/>
                <a:ext cx="2674139" cy="1477328"/>
              </a:xfrm>
              <a:prstGeom prst="rect">
                <a:avLst/>
              </a:prstGeom>
              <a:blipFill>
                <a:blip r:embed="rId10"/>
                <a:stretch>
                  <a:fillRect l="-2050" t="-2058" r="-3417" b="-53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1558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4364-2A4B-2999-C27A-8DB9D91C1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077200" cy="1325563"/>
          </a:xfrm>
        </p:spPr>
        <p:txBody>
          <a:bodyPr/>
          <a:lstStyle/>
          <a:p>
            <a:r>
              <a:rPr lang="en-US" dirty="0"/>
              <a:t>Playing a Game as a Sequential Decision Problem: Tic-Tac-Toe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D45ECC-FC46-6167-DE83-C01BE5FCE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4295" y="1697572"/>
            <a:ext cx="10515600" cy="257277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/>
              <a:t>Definitions from Chapter 5 on Games for a goal-based agent: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FBBB78FF-73D9-C952-C87A-5B8ED68D54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2600" y="96421"/>
            <a:ext cx="2547953" cy="2265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BE02021-E3FA-D6F7-D97E-619E5EA89E20}"/>
              </a:ext>
            </a:extLst>
          </p:cNvPr>
          <p:cNvGrpSpPr/>
          <p:nvPr/>
        </p:nvGrpSpPr>
        <p:grpSpPr>
          <a:xfrm>
            <a:off x="1689059" y="2071567"/>
            <a:ext cx="8813881" cy="1767559"/>
            <a:chOff x="1752600" y="2199067"/>
            <a:chExt cx="8813881" cy="176755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ontent Placeholder 2">
                  <a:extLst>
                    <a:ext uri="{FF2B5EF4-FFF2-40B4-BE49-F238E27FC236}">
                      <a16:creationId xmlns:a16="http://schemas.microsoft.com/office/drawing/2014/main" id="{1B282AD5-8F3E-F1E8-9879-A9D06CD50CA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52600" y="2199067"/>
                  <a:ext cx="5376847" cy="1767559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vert="horz" lIns="91440" tIns="45720" rIns="91440" bIns="45720" rtlCol="0">
                  <a:normAutofit fontScale="62500" lnSpcReduction="20000"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2400" dirty="0"/>
                    <a:t> 		Empty board.</a:t>
                  </a:r>
                </a:p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𝐴𝑐𝑡𝑖𝑜𝑛𝑠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2400" dirty="0"/>
                    <a:t>  	Play empty squares.</a:t>
                  </a:r>
                </a:p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𝑅𝑒𝑠𝑢𝑙𝑡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2400" dirty="0"/>
                    <a:t>	Symbol (x/o) is placed on empty square.</a:t>
                  </a:r>
                </a:p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𝑇𝑒𝑟𝑚𝑖𝑛𝑎𝑙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2400" dirty="0"/>
                    <a:t>	Did a player win or is the game a draw?</a:t>
                  </a:r>
                </a:p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𝑈𝑡𝑖𝑙𝑖𝑡𝑦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2400" dirty="0"/>
                    <a:t>	                      +1 if x wins, -1 if o wins and 0 for a draw.</a:t>
                  </a:r>
                </a:p>
                <a:p>
                  <a:pPr marL="0" indent="0">
                    <a:buFont typeface="Arial" panose="020B0604020202020204" pitchFamily="34" charset="0"/>
                    <a:buNone/>
                  </a:pPr>
                  <a:r>
                    <a:rPr lang="en-US" sz="2400" dirty="0"/>
                    <a:t>		    Utility is only defined for terminal states.</a:t>
                  </a:r>
                </a:p>
              </p:txBody>
            </p:sp>
          </mc:Choice>
          <mc:Fallback xmlns="">
            <p:sp>
              <p:nvSpPr>
                <p:cNvPr id="6" name="Content Placeholder 2">
                  <a:extLst>
                    <a:ext uri="{FF2B5EF4-FFF2-40B4-BE49-F238E27FC236}">
                      <a16:creationId xmlns:a16="http://schemas.microsoft.com/office/drawing/2014/main" id="{1B282AD5-8F3E-F1E8-9879-A9D06CD50CA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2600" y="2199067"/>
                  <a:ext cx="5376847" cy="1767559"/>
                </a:xfrm>
                <a:prstGeom prst="rect">
                  <a:avLst/>
                </a:prstGeom>
                <a:blipFill>
                  <a:blip r:embed="rId3"/>
                  <a:stretch>
                    <a:fillRect t="-34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72138A1-4AE4-D0E8-A39D-934E81D4DDE4}"/>
                </a:ext>
              </a:extLst>
            </p:cNvPr>
            <p:cNvGrpSpPr/>
            <p:nvPr/>
          </p:nvGrpSpPr>
          <p:grpSpPr>
            <a:xfrm>
              <a:off x="7013902" y="3298300"/>
              <a:ext cx="2278995" cy="609600"/>
              <a:chOff x="7620000" y="3733800"/>
              <a:chExt cx="2278995" cy="609600"/>
            </a:xfrm>
          </p:grpSpPr>
          <p:sp>
            <p:nvSpPr>
              <p:cNvPr id="11" name="Right Brace 10">
                <a:extLst>
                  <a:ext uri="{FF2B5EF4-FFF2-40B4-BE49-F238E27FC236}">
                    <a16:creationId xmlns:a16="http://schemas.microsoft.com/office/drawing/2014/main" id="{8814A9EE-7679-21FC-1A92-D763A10737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7620000" y="3733800"/>
                <a:ext cx="381000" cy="609600"/>
              </a:xfrm>
              <a:prstGeom prst="rightBrac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00EE61E5-2B6C-1477-5343-315A5F4E6E2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7924800" y="3853934"/>
                    <a:ext cx="197419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600" dirty="0"/>
                      <a:t>Reward function </a:t>
                    </a:r>
                    <a14:m>
                      <m:oMath xmlns:m="http://schemas.openxmlformats.org/officeDocument/2006/math"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00EE61E5-2B6C-1477-5343-315A5F4E6E2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24800" y="3853934"/>
                    <a:ext cx="1974195" cy="3385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543" t="-5455" b="-2363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EA3D8676-432E-80EE-285E-5ACE3B2D11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7244674" y="2693182"/>
                  <a:ext cx="332180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/>
                    <a:t>Stochastic transition model </a:t>
                  </a:r>
                  <a14:m>
                    <m:oMath xmlns:m="http://schemas.openxmlformats.org/officeDocument/2006/math">
                      <m:r>
                        <a:rPr lang="en-US" sz="1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EA3D8676-432E-80EE-285E-5ACE3B2D11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44674" y="2693182"/>
                  <a:ext cx="3321807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917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04F7A065-3576-DF6F-2870-2BB4DCF6A8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>
              <a:off x="6781800" y="2857390"/>
              <a:ext cx="4191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AFBE19B-2FD6-61C4-DE55-0897596C390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98358" y="4012175"/>
                <a:ext cx="10515600" cy="273354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5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dirty="0"/>
                  <a:t>Implementation: 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Model the environment as an MDP. 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Plan the optimal policy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0" dirty="0"/>
                  <a:t>for each state (e.g., using value iteration).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Executed the policy with a simple reflex agent.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Potential issues:</a:t>
                </a:r>
              </a:p>
              <a:p>
                <a:pPr lvl="1"/>
                <a:r>
                  <a:rPr lang="en-US" dirty="0"/>
                  <a:t>There are many states, so the state value table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has many entries.</a:t>
                </a:r>
              </a:p>
              <a:p>
                <a:pPr lvl="1"/>
                <a:r>
                  <a:rPr lang="en-US" dirty="0"/>
                  <a:t>The stochastic transition model</a:t>
                </a:r>
                <a14:m>
                  <m:oMath xmlns:m="http://schemas.openxmlformats.org/officeDocument/2006/math">
                    <m:r>
                      <a:rPr lang="en-US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 needs to be known and the tables are very large.</a:t>
                </a:r>
              </a:p>
              <a:p>
                <a:pPr lvl="1"/>
                <a:r>
                  <a:rPr lang="en-US" dirty="0"/>
                  <a:t>For games, all the reward is delayed. Immediate rewards are always 0 until the end of the game.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This makes planning hard! An alternative solution is to use online learning with model-free reinforcement learning methods.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AFBE19B-2FD6-61C4-DE55-0897596C3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358" y="4012175"/>
                <a:ext cx="10515600" cy="2733545"/>
              </a:xfrm>
              <a:prstGeom prst="rect">
                <a:avLst/>
              </a:prstGeom>
              <a:blipFill>
                <a:blip r:embed="rId6"/>
                <a:stretch>
                  <a:fillRect l="-232" t="-24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7602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31C0A40-7725-1505-8930-DC82CB780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Partially Observable Markov Decision Process (POMDP)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00B6C47-EA5C-F94C-DD50-5B2B163423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965044" cy="4351338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en-US" dirty="0"/>
                  <a:t>If the environment is </a:t>
                </a:r>
                <a:r>
                  <a:rPr lang="en-US" b="1" dirty="0"/>
                  <a:t>partially observable</a:t>
                </a:r>
                <a:r>
                  <a:rPr lang="en-US" dirty="0"/>
                  <a:t>,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and the model is expanded by a </a:t>
                </a:r>
                <a:r>
                  <a:rPr lang="en-US" b="1" dirty="0"/>
                  <a:t>sensor model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for receiving observation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𝑜</m:t>
                    </m:r>
                  </m:oMath>
                </a14:m>
                <a:r>
                  <a:rPr lang="en-US" dirty="0"/>
                  <a:t> given being in state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 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This makes things a lot more complicated, and we have to work with </a:t>
                </a:r>
                <a:r>
                  <a:rPr lang="en-US" b="1" dirty="0"/>
                  <a:t>belief states</a:t>
                </a:r>
                <a:r>
                  <a:rPr lang="en-US" dirty="0"/>
                  <a:t>. A belief state is expressed as a distribution over states.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Example</a:t>
                </a:r>
                <a:r>
                  <a:rPr lang="en-US" dirty="0"/>
                  <a:t>: For a problem with three states, the belief state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.2, .8, 0</m:t>
                        </m:r>
                      </m:e>
                    </m:d>
                  </m:oMath>
                </a14:m>
                <a:r>
                  <a:rPr lang="en-US" dirty="0"/>
                  <a:t> means the agent believes that it is with 20% in state 1 and 80% in state 2, but not in state 3.</a:t>
                </a:r>
              </a:p>
              <a:p>
                <a:endParaRPr lang="en-US" dirty="0"/>
              </a:p>
              <a:p>
                <a:r>
                  <a:rPr lang="en-US" dirty="0"/>
                  <a:t>An MDP that uses belief states instead of system states is called a </a:t>
                </a:r>
                <a:r>
                  <a:rPr lang="en-US" b="1" dirty="0"/>
                  <a:t>belief MDP, </a:t>
                </a:r>
                <a:r>
                  <a:rPr lang="en-US" dirty="0"/>
                  <a:t>with the special case of a</a:t>
                </a:r>
                <a:r>
                  <a:rPr lang="en-US" b="1" dirty="0"/>
                  <a:t> partially observable MDP</a:t>
                </a:r>
                <a:r>
                  <a:rPr lang="en-US" dirty="0"/>
                  <a:t>.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Issue</a:t>
                </a:r>
                <a:r>
                  <a:rPr lang="en-US" dirty="0"/>
                  <a:t>: The probabilities in belief states are continuous, and the number of different belief states is infinite.</a:t>
                </a:r>
              </a:p>
              <a:p>
                <a:r>
                  <a:rPr lang="en-US" dirty="0"/>
                  <a:t>The solution of a belief MDP/POMDP is a policy with the optimal actions for sets of belief states (i.e., ranges of belief). </a:t>
                </a:r>
              </a:p>
              <a:p>
                <a:r>
                  <a:rPr lang="en-US" dirty="0"/>
                  <a:t>For all but tiny problems, POMDPs can only be solved </a:t>
                </a:r>
                <a:r>
                  <a:rPr lang="en-US" b="1" dirty="0"/>
                  <a:t>approximately </a:t>
                </a:r>
                <a:r>
                  <a:rPr lang="en-US" dirty="0"/>
                  <a:t>(e.g., by grid-based methods).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00B6C47-EA5C-F94C-DD50-5B2B163423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965044" cy="4351338"/>
              </a:xfrm>
              <a:blipFill>
                <a:blip r:embed="rId2"/>
                <a:stretch>
                  <a:fillRect l="-263" t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8" name="Group 57">
            <a:extLst>
              <a:ext uri="{FF2B5EF4-FFF2-40B4-BE49-F238E27FC236}">
                <a16:creationId xmlns:a16="http://schemas.microsoft.com/office/drawing/2014/main" id="{08DE9F32-7B34-4C19-C31B-96905C0FBF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305800" y="1825625"/>
            <a:ext cx="3597655" cy="3352800"/>
            <a:chOff x="8077200" y="1981200"/>
            <a:chExt cx="3597655" cy="33528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DC84589E-DF62-36F9-871C-E83DFA3D5F24}"/>
                    </a:ext>
                  </a:extLst>
                </p:cNvPr>
                <p:cNvSpPr/>
                <p:nvPr/>
              </p:nvSpPr>
              <p:spPr>
                <a:xfrm>
                  <a:off x="8394728" y="4142436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DC84589E-DF62-36F9-871C-E83DFA3D5F2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94728" y="4142436"/>
                  <a:ext cx="381000" cy="381000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8ACAD632-8DE2-973F-4F95-1D07F5DED586}"/>
                    </a:ext>
                  </a:extLst>
                </p:cNvPr>
                <p:cNvSpPr/>
                <p:nvPr/>
              </p:nvSpPr>
              <p:spPr>
                <a:xfrm>
                  <a:off x="10299728" y="4131826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8ACAD632-8DE2-973F-4F95-1D07F5DED58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99728" y="4131826"/>
                  <a:ext cx="381000" cy="381000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Connector: Curved 7">
              <a:extLst>
                <a:ext uri="{FF2B5EF4-FFF2-40B4-BE49-F238E27FC236}">
                  <a16:creationId xmlns:a16="http://schemas.microsoft.com/office/drawing/2014/main" id="{8ADA8D27-B516-2230-74C5-5B3D388F4DBC}"/>
                </a:ext>
              </a:extLst>
            </p:cNvPr>
            <p:cNvCxnSpPr>
              <a:cxnSpLocks/>
              <a:stCxn id="5" idx="7"/>
              <a:endCxn id="6" idx="1"/>
            </p:cNvCxnSpPr>
            <p:nvPr/>
          </p:nvCxnSpPr>
          <p:spPr>
            <a:xfrm rot="5400000" flipH="1" flipV="1">
              <a:off x="9532423" y="3375131"/>
              <a:ext cx="10610" cy="1635592"/>
            </a:xfrm>
            <a:prstGeom prst="curvedConnector3">
              <a:avLst>
                <a:gd name="adj1" fmla="val 2780452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: Curved 8">
              <a:extLst>
                <a:ext uri="{FF2B5EF4-FFF2-40B4-BE49-F238E27FC236}">
                  <a16:creationId xmlns:a16="http://schemas.microsoft.com/office/drawing/2014/main" id="{C572436C-367B-E8C4-7703-0B0639630002}"/>
                </a:ext>
              </a:extLst>
            </p:cNvPr>
            <p:cNvCxnSpPr>
              <a:cxnSpLocks/>
              <a:stCxn id="6" idx="3"/>
              <a:endCxn id="5" idx="5"/>
            </p:cNvCxnSpPr>
            <p:nvPr/>
          </p:nvCxnSpPr>
          <p:spPr>
            <a:xfrm rot="5400000">
              <a:off x="9532423" y="3644539"/>
              <a:ext cx="10610" cy="1635592"/>
            </a:xfrm>
            <a:prstGeom prst="curvedConnector3">
              <a:avLst>
                <a:gd name="adj1" fmla="val 2780452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: Curved 9">
              <a:extLst>
                <a:ext uri="{FF2B5EF4-FFF2-40B4-BE49-F238E27FC236}">
                  <a16:creationId xmlns:a16="http://schemas.microsoft.com/office/drawing/2014/main" id="{F7863CD2-2324-B829-5CA8-D076A341673D}"/>
                </a:ext>
              </a:extLst>
            </p:cNvPr>
            <p:cNvCxnSpPr>
              <a:cxnSpLocks/>
              <a:stCxn id="6" idx="7"/>
              <a:endCxn id="6" idx="5"/>
            </p:cNvCxnSpPr>
            <p:nvPr/>
          </p:nvCxnSpPr>
          <p:spPr>
            <a:xfrm rot="16200000" flipH="1">
              <a:off x="10490228" y="4322326"/>
              <a:ext cx="269408" cy="12700"/>
            </a:xfrm>
            <a:prstGeom prst="curvedConnector5">
              <a:avLst>
                <a:gd name="adj1" fmla="val -84853"/>
                <a:gd name="adj2" fmla="val 4360661"/>
                <a:gd name="adj3" fmla="val 1848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59F6F0BD-1AFD-5852-D941-4C6A12276A68}"/>
                    </a:ext>
                  </a:extLst>
                </p:cNvPr>
                <p:cNvSpPr txBox="1"/>
                <p:nvPr/>
              </p:nvSpPr>
              <p:spPr>
                <a:xfrm>
                  <a:off x="9359995" y="3534780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59F6F0BD-1AFD-5852-D941-4C6A12276A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59995" y="3534780"/>
                  <a:ext cx="4678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98BAB7-7B8F-4491-710B-17685840C930}"/>
                </a:ext>
              </a:extLst>
            </p:cNvPr>
            <p:cNvSpPr txBox="1"/>
            <p:nvPr/>
          </p:nvSpPr>
          <p:spPr>
            <a:xfrm>
              <a:off x="8883012" y="3919791"/>
              <a:ext cx="3375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1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F79FBE0-05F9-D363-EC24-56B77587AC6C}"/>
                </a:ext>
              </a:extLst>
            </p:cNvPr>
            <p:cNvSpPr txBox="1"/>
            <p:nvPr/>
          </p:nvSpPr>
          <p:spPr>
            <a:xfrm>
              <a:off x="9328690" y="3915376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12D88DA-5995-1B76-B984-EE906D3E99A1}"/>
                    </a:ext>
                  </a:extLst>
                </p:cNvPr>
                <p:cNvSpPr txBox="1"/>
                <p:nvPr/>
              </p:nvSpPr>
              <p:spPr>
                <a:xfrm>
                  <a:off x="9385979" y="4740540"/>
                  <a:ext cx="4731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12D88DA-5995-1B76-B984-EE906D3E99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85979" y="4740540"/>
                  <a:ext cx="47314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E728E7AB-58CA-B48D-374C-E56848F110BF}"/>
                    </a:ext>
                  </a:extLst>
                </p:cNvPr>
                <p:cNvSpPr txBox="1"/>
                <p:nvPr/>
              </p:nvSpPr>
              <p:spPr>
                <a:xfrm>
                  <a:off x="11129957" y="4129394"/>
                  <a:ext cx="4731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E728E7AB-58CA-B48D-374C-E56848F11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29957" y="4129394"/>
                  <a:ext cx="47314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DC78E7F-2889-BBBB-6594-F5F76AAED494}"/>
                </a:ext>
              </a:extLst>
            </p:cNvPr>
            <p:cNvSpPr txBox="1"/>
            <p:nvPr/>
          </p:nvSpPr>
          <p:spPr>
            <a:xfrm>
              <a:off x="9926030" y="4639962"/>
              <a:ext cx="4678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.5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09FE6A3-F9D3-8826-20CC-1D085636F0C8}"/>
                </a:ext>
              </a:extLst>
            </p:cNvPr>
            <p:cNvSpPr txBox="1"/>
            <p:nvPr/>
          </p:nvSpPr>
          <p:spPr>
            <a:xfrm>
              <a:off x="10592557" y="3967290"/>
              <a:ext cx="4678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.5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859986F-56F6-E7AA-6121-DC6CA479BD2B}"/>
                </a:ext>
              </a:extLst>
            </p:cNvPr>
            <p:cNvSpPr txBox="1"/>
            <p:nvPr/>
          </p:nvSpPr>
          <p:spPr>
            <a:xfrm>
              <a:off x="11064140" y="3882962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823E923-B199-DF64-97DF-082F2057A1BD}"/>
                </a:ext>
              </a:extLst>
            </p:cNvPr>
            <p:cNvSpPr txBox="1"/>
            <p:nvPr/>
          </p:nvSpPr>
          <p:spPr>
            <a:xfrm>
              <a:off x="9412654" y="4432827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-5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4AD7A46-8B47-78C5-7ECE-F861E2C51351}"/>
                </a:ext>
              </a:extLst>
            </p:cNvPr>
            <p:cNvSpPr/>
            <p:nvPr/>
          </p:nvSpPr>
          <p:spPr>
            <a:xfrm>
              <a:off x="8077200" y="1981200"/>
              <a:ext cx="3567272" cy="3352800"/>
            </a:xfrm>
            <a:prstGeom prst="rect">
              <a:avLst/>
            </a:prstGeom>
            <a:noFill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C9E20AE2-EFFA-EC59-3D4F-453682841FAE}"/>
                    </a:ext>
                  </a:extLst>
                </p:cNvPr>
                <p:cNvSpPr/>
                <p:nvPr/>
              </p:nvSpPr>
              <p:spPr>
                <a:xfrm>
                  <a:off x="8372961" y="2176159"/>
                  <a:ext cx="381000" cy="407160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5"/>
                </a:fillRef>
                <a:effectRef idx="1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C9E20AE2-EFFA-EC59-3D4F-453682841FA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72961" y="2176159"/>
                  <a:ext cx="381000" cy="40716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B227280B-7A14-34FC-DE19-46AE3E0DB01D}"/>
                    </a:ext>
                  </a:extLst>
                </p:cNvPr>
                <p:cNvSpPr/>
                <p:nvPr/>
              </p:nvSpPr>
              <p:spPr>
                <a:xfrm>
                  <a:off x="9459323" y="2189535"/>
                  <a:ext cx="381000" cy="407160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5"/>
                </a:fillRef>
                <a:effectRef idx="1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B227280B-7A14-34FC-DE19-46AE3E0DB01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59323" y="2189535"/>
                  <a:ext cx="381000" cy="40716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BB6A868F-B491-23FB-7213-3624FBEB57BD}"/>
                    </a:ext>
                  </a:extLst>
                </p:cNvPr>
                <p:cNvSpPr/>
                <p:nvPr/>
              </p:nvSpPr>
              <p:spPr>
                <a:xfrm>
                  <a:off x="10564223" y="2179149"/>
                  <a:ext cx="381000" cy="407160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5"/>
                </a:fillRef>
                <a:effectRef idx="1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BB6A868F-B491-23FB-7213-3624FBEB57B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64223" y="2179149"/>
                  <a:ext cx="381000" cy="40716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0987E71-283E-B26A-FB0A-73ACCEBF4E2C}"/>
                </a:ext>
              </a:extLst>
            </p:cNvPr>
            <p:cNvCxnSpPr>
              <a:stCxn id="5" idx="0"/>
              <a:endCxn id="29" idx="2"/>
            </p:cNvCxnSpPr>
            <p:nvPr/>
          </p:nvCxnSpPr>
          <p:spPr>
            <a:xfrm flipH="1" flipV="1">
              <a:off x="8563461" y="2583319"/>
              <a:ext cx="21767" cy="155911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9D073A8-9796-6097-1EAA-132BE7A115E5}"/>
                </a:ext>
              </a:extLst>
            </p:cNvPr>
            <p:cNvCxnSpPr>
              <a:cxnSpLocks/>
              <a:stCxn id="5" idx="0"/>
              <a:endCxn id="30" idx="2"/>
            </p:cNvCxnSpPr>
            <p:nvPr/>
          </p:nvCxnSpPr>
          <p:spPr>
            <a:xfrm flipV="1">
              <a:off x="8585228" y="2596695"/>
              <a:ext cx="1064595" cy="154574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2FC6168A-8D68-EE87-F04E-32E9FC05F984}"/>
                </a:ext>
              </a:extLst>
            </p:cNvPr>
            <p:cNvCxnSpPr>
              <a:cxnSpLocks/>
              <a:stCxn id="5" idx="0"/>
              <a:endCxn id="32" idx="2"/>
            </p:cNvCxnSpPr>
            <p:nvPr/>
          </p:nvCxnSpPr>
          <p:spPr>
            <a:xfrm flipV="1">
              <a:off x="8585228" y="2586309"/>
              <a:ext cx="2169495" cy="15561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62F1F702-3797-15F5-AD76-200AF553C90C}"/>
                </a:ext>
              </a:extLst>
            </p:cNvPr>
            <p:cNvCxnSpPr>
              <a:cxnSpLocks/>
              <a:stCxn id="6" idx="0"/>
              <a:endCxn id="29" idx="2"/>
            </p:cNvCxnSpPr>
            <p:nvPr/>
          </p:nvCxnSpPr>
          <p:spPr>
            <a:xfrm flipH="1" flipV="1">
              <a:off x="8563461" y="2583319"/>
              <a:ext cx="1926767" cy="154850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FE91B075-2E51-1932-32F7-8C5290E80E9A}"/>
                </a:ext>
              </a:extLst>
            </p:cNvPr>
            <p:cNvCxnSpPr>
              <a:cxnSpLocks/>
              <a:stCxn id="6" idx="0"/>
              <a:endCxn id="32" idx="2"/>
            </p:cNvCxnSpPr>
            <p:nvPr/>
          </p:nvCxnSpPr>
          <p:spPr>
            <a:xfrm flipV="1">
              <a:off x="10490228" y="2586309"/>
              <a:ext cx="264495" cy="154551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B79B15C1-7939-FA8C-5783-24E157CDAEE8}"/>
                </a:ext>
              </a:extLst>
            </p:cNvPr>
            <p:cNvCxnSpPr>
              <a:cxnSpLocks/>
              <a:stCxn id="6" idx="0"/>
              <a:endCxn id="30" idx="2"/>
            </p:cNvCxnSpPr>
            <p:nvPr/>
          </p:nvCxnSpPr>
          <p:spPr>
            <a:xfrm flipH="1" flipV="1">
              <a:off x="9649823" y="2596695"/>
              <a:ext cx="840405" cy="153513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7DEF8DC2-D3F5-A6E5-4D02-E2399332B216}"/>
                    </a:ext>
                  </a:extLst>
                </p:cNvPr>
                <p:cNvSpPr txBox="1"/>
                <p:nvPr/>
              </p:nvSpPr>
              <p:spPr>
                <a:xfrm>
                  <a:off x="10560955" y="2780495"/>
                  <a:ext cx="1113900" cy="73866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accent5"/>
                      </a:solidFill>
                    </a:rPr>
                    <a:t>+ Sensor model: </a:t>
                  </a:r>
                  <a14:m>
                    <m:oMath xmlns:m="http://schemas.openxmlformats.org/officeDocument/2006/math">
                      <m:r>
                        <a:rPr lang="en-US" sz="1400" i="1" dirty="0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en-US" sz="1400" i="1" dirty="0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 dirty="0" err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</m:d>
                      <m:r>
                        <a:rPr lang="en-US" sz="1400" i="1" dirty="0" err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400" i="1" dirty="0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sz="1400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7DEF8DC2-D3F5-A6E5-4D02-E2399332B2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60955" y="2780495"/>
                  <a:ext cx="1113900" cy="738664"/>
                </a:xfrm>
                <a:prstGeom prst="rect">
                  <a:avLst/>
                </a:prstGeom>
                <a:blipFill>
                  <a:blip r:embed="rId11"/>
                  <a:stretch>
                    <a:fillRect t="-1653" b="-24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893277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close up view of a track and field lane in the dark">
            <a:extLst>
              <a:ext uri="{FF2B5EF4-FFF2-40B4-BE49-F238E27FC236}">
                <a16:creationId xmlns:a16="http://schemas.microsoft.com/office/drawing/2014/main" id="{5B3FBE4D-358B-5501-B3DF-CFD9C3622D5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730"/>
          <a:stretch/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E4F7921-1C6F-0A0D-AB30-8233EFC12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b="1" dirty="0">
                <a:solidFill>
                  <a:srgbClr val="FFFFFF"/>
                </a:solidFill>
              </a:rPr>
              <a:t>(Model-Free) Reinforcement Learning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BB657D-C104-1105-9FC3-02F5DBB643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b="1" dirty="0">
                <a:solidFill>
                  <a:srgbClr val="FFFFFF"/>
                </a:solidFill>
              </a:rPr>
              <a:t>AIMA Chapter 22</a:t>
            </a:r>
          </a:p>
        </p:txBody>
      </p:sp>
    </p:spTree>
    <p:extLst>
      <p:ext uri="{BB962C8B-B14F-4D97-AF65-F5344CB8AC3E}">
        <p14:creationId xmlns:p14="http://schemas.microsoft.com/office/powerpoint/2010/main" val="13383825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8F27F-77BE-563A-F4D6-8D456FF07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Model-based vs. Model-free Reinforcement Learning (RL)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D10D10-A65F-B05F-35CA-8B1597D1D2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78062"/>
            <a:ext cx="10515600" cy="4351338"/>
          </a:xfrm>
        </p:spPr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40E8690-8059-F4EC-7F5D-DB160803565C}"/>
              </a:ext>
            </a:extLst>
          </p:cNvPr>
          <p:cNvGrpSpPr/>
          <p:nvPr/>
        </p:nvGrpSpPr>
        <p:grpSpPr>
          <a:xfrm>
            <a:off x="1744535" y="1533207"/>
            <a:ext cx="3893397" cy="3870711"/>
            <a:chOff x="1744535" y="1533207"/>
            <a:chExt cx="3893397" cy="3870711"/>
          </a:xfrm>
        </p:grpSpPr>
        <p:grpSp>
          <p:nvGrpSpPr>
            <p:cNvPr id="54" name="Group 53" descr="A fifure showing that the agent chooses an action, the environment responds with changing state an provides the agent with a reward and the new state.">
              <a:extLst>
                <a:ext uri="{FF2B5EF4-FFF2-40B4-BE49-F238E27FC236}">
                  <a16:creationId xmlns:a16="http://schemas.microsoft.com/office/drawing/2014/main" id="{5BB3C152-F029-1A9F-C8BB-D2519A93BBF1}"/>
                </a:ext>
              </a:extLst>
            </p:cNvPr>
            <p:cNvGrpSpPr/>
            <p:nvPr/>
          </p:nvGrpSpPr>
          <p:grpSpPr>
            <a:xfrm>
              <a:off x="1744535" y="2072490"/>
              <a:ext cx="3699784" cy="1584917"/>
              <a:chOff x="101407" y="3338673"/>
              <a:chExt cx="5486344" cy="2727767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4BA9EB68-BA93-681C-1994-DC1CE7816FFE}"/>
                  </a:ext>
                </a:extLst>
              </p:cNvPr>
              <p:cNvSpPr/>
              <p:nvPr/>
            </p:nvSpPr>
            <p:spPr>
              <a:xfrm>
                <a:off x="3184163" y="3503612"/>
                <a:ext cx="1600200" cy="1066800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b="1" dirty="0"/>
                  <a:t>Agent</a:t>
                </a:r>
              </a:p>
            </p:txBody>
          </p:sp>
          <p:cxnSp>
            <p:nvCxnSpPr>
              <p:cNvPr id="57" name="Connector: Curved 56">
                <a:extLst>
                  <a:ext uri="{FF2B5EF4-FFF2-40B4-BE49-F238E27FC236}">
                    <a16:creationId xmlns:a16="http://schemas.microsoft.com/office/drawing/2014/main" id="{F877466C-C401-CE5B-AE94-7D219CF9A11C}"/>
                  </a:ext>
                </a:extLst>
              </p:cNvPr>
              <p:cNvCxnSpPr>
                <a:cxnSpLocks/>
                <a:stCxn id="56" idx="3"/>
                <a:endCxn id="55" idx="3"/>
              </p:cNvCxnSpPr>
              <p:nvPr/>
            </p:nvCxnSpPr>
            <p:spPr>
              <a:xfrm>
                <a:off x="4784363" y="4037012"/>
                <a:ext cx="12700" cy="1496028"/>
              </a:xfrm>
              <a:prstGeom prst="curvedConnector3">
                <a:avLst>
                  <a:gd name="adj1" fmla="val 8362031"/>
                </a:avLst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Connector: Curved 57">
                <a:extLst>
                  <a:ext uri="{FF2B5EF4-FFF2-40B4-BE49-F238E27FC236}">
                    <a16:creationId xmlns:a16="http://schemas.microsoft.com/office/drawing/2014/main" id="{5EDB4BA8-30C4-38CE-5AA4-935AB58F368F}"/>
                  </a:ext>
                </a:extLst>
              </p:cNvPr>
              <p:cNvCxnSpPr>
                <a:cxnSpLocks/>
                <a:stCxn id="55" idx="1"/>
                <a:endCxn id="56" idx="1"/>
              </p:cNvCxnSpPr>
              <p:nvPr/>
            </p:nvCxnSpPr>
            <p:spPr>
              <a:xfrm rot="10800000">
                <a:off x="3184163" y="4037012"/>
                <a:ext cx="12700" cy="1496028"/>
              </a:xfrm>
              <a:prstGeom prst="curvedConnector3">
                <a:avLst>
                  <a:gd name="adj1" fmla="val 13556969"/>
                </a:avLst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59" name="Connector: Curved 58">
                <a:extLst>
                  <a:ext uri="{FF2B5EF4-FFF2-40B4-BE49-F238E27FC236}">
                    <a16:creationId xmlns:a16="http://schemas.microsoft.com/office/drawing/2014/main" id="{D4059252-65C7-9C90-911A-005E0E8980E2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196863" y="4037012"/>
                <a:ext cx="12700" cy="1496028"/>
              </a:xfrm>
              <a:prstGeom prst="curvedConnector3">
                <a:avLst>
                  <a:gd name="adj1" fmla="val 9364559"/>
                </a:avLst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A74CB004-AD48-62E3-C93D-3701FFCF981B}"/>
                      </a:ext>
                    </a:extLst>
                  </p:cNvPr>
                  <p:cNvSpPr txBox="1"/>
                  <p:nvPr/>
                </p:nvSpPr>
                <p:spPr>
                  <a:xfrm>
                    <a:off x="4784363" y="3338673"/>
                    <a:ext cx="803388" cy="56796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dirty="0"/>
                      <a:t>Action </a:t>
                    </a:r>
                  </a:p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a14:m>
                    <a:r>
                      <a:rPr lang="en-US" sz="1200" dirty="0"/>
                      <a:t> </a:t>
                    </a:r>
                  </a:p>
                </p:txBody>
              </p:sp>
            </mc:Choice>
            <mc:Fallback xmlns="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A74CB004-AD48-62E3-C93D-3701FFCF98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84363" y="3338673"/>
                    <a:ext cx="803388" cy="56796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1852" r="-14607" b="-314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E95307EE-340D-6938-C6B6-5AFCDCAA61C9}"/>
                      </a:ext>
                    </a:extLst>
                  </p:cNvPr>
                  <p:cNvSpPr txBox="1"/>
                  <p:nvPr/>
                </p:nvSpPr>
                <p:spPr>
                  <a:xfrm>
                    <a:off x="101407" y="4396790"/>
                    <a:ext cx="1451548" cy="7951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en-US" sz="1200" dirty="0"/>
                      <a:t>Observation </a:t>
                    </a:r>
                    <a:br>
                      <a:rPr lang="en-US" sz="1200" dirty="0"/>
                    </a:b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oMath>
                      </m:oMathPara>
                    </a14:m>
                    <a:endParaRPr lang="en-US" sz="1200" b="0" dirty="0"/>
                  </a:p>
                  <a:p>
                    <a:r>
                      <a:rPr lang="en-US" sz="1200" dirty="0"/>
                      <a:t> </a:t>
                    </a:r>
                  </a:p>
                </p:txBody>
              </p:sp>
            </mc:Choice>
            <mc:Fallback xmlns="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E95307EE-340D-6938-C6B6-5AFCDCAA61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407" y="4396790"/>
                    <a:ext cx="1451548" cy="79514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131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FC6C1AD0-FB9C-E1EA-9ADA-C148BF4A75E7}"/>
                      </a:ext>
                    </a:extLst>
                  </p:cNvPr>
                  <p:cNvSpPr txBox="1"/>
                  <p:nvPr/>
                </p:nvSpPr>
                <p:spPr>
                  <a:xfrm>
                    <a:off x="2129286" y="4416087"/>
                    <a:ext cx="948296" cy="7951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200" dirty="0"/>
                      <a:t>Reward </a:t>
                    </a:r>
                    <a:br>
                      <a:rPr lang="en-US" sz="1200" dirty="0"/>
                    </a:b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oMath>
                      </m:oMathPara>
                    </a14:m>
                    <a:endParaRPr lang="en-US" sz="1200" b="0" dirty="0"/>
                  </a:p>
                  <a:p>
                    <a:r>
                      <a:rPr lang="en-US" sz="1200" dirty="0"/>
                      <a:t> </a:t>
                    </a:r>
                  </a:p>
                </p:txBody>
              </p:sp>
            </mc:Choice>
            <mc:Fallback xmlns=""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FC6C1AD0-FB9C-E1EA-9ADA-C148BF4A75E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29286" y="4416087"/>
                    <a:ext cx="948296" cy="79514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3846" t="-1333" r="-480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Rectangle 54">
                    <a:extLst>
                      <a:ext uri="{FF2B5EF4-FFF2-40B4-BE49-F238E27FC236}">
                        <a16:creationId xmlns:a16="http://schemas.microsoft.com/office/drawing/2014/main" id="{994E295D-A575-61D1-AAF6-B522B81782B0}"/>
                      </a:ext>
                    </a:extLst>
                  </p:cNvPr>
                  <p:cNvSpPr/>
                  <p:nvPr/>
                </p:nvSpPr>
                <p:spPr>
                  <a:xfrm>
                    <a:off x="3184163" y="4999640"/>
                    <a:ext cx="1600200" cy="1066800"/>
                  </a:xfrm>
                  <a:prstGeom prst="rect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200" b="1" dirty="0"/>
                      <a:t>Environment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b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</m:sSub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b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en-US" sz="1200" b="1" dirty="0"/>
                  </a:p>
                </p:txBody>
              </p:sp>
            </mc:Choice>
            <mc:Fallback xmlns=""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674804DE-25E5-519D-514A-639F698E905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84163" y="4999640"/>
                    <a:ext cx="1600200" cy="106680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BDF0862-B7E3-56D1-23CE-BCDD4F4EB642}"/>
                </a:ext>
              </a:extLst>
            </p:cNvPr>
            <p:cNvSpPr txBox="1"/>
            <p:nvPr/>
          </p:nvSpPr>
          <p:spPr>
            <a:xfrm>
              <a:off x="3047132" y="1533207"/>
              <a:ext cx="2590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/>
                <a:t>Model-based RL</a:t>
              </a:r>
            </a:p>
          </p:txBody>
        </p: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27A301C4-06ED-10EC-C480-132DAC31A781}"/>
                </a:ext>
              </a:extLst>
            </p:cNvPr>
            <p:cNvGrpSpPr/>
            <p:nvPr/>
          </p:nvGrpSpPr>
          <p:grpSpPr>
            <a:xfrm>
              <a:off x="3088036" y="3565669"/>
              <a:ext cx="2505673" cy="1838249"/>
              <a:chOff x="3032485" y="3952951"/>
              <a:chExt cx="2505673" cy="1838249"/>
            </a:xfrm>
          </p:grpSpPr>
          <p:grpSp>
            <p:nvGrpSpPr>
              <p:cNvPr id="4" name="Group 3" descr="A MDP shown as a graph with states connected by action arrows.">
                <a:extLst>
                  <a:ext uri="{FF2B5EF4-FFF2-40B4-BE49-F238E27FC236}">
                    <a16:creationId xmlns:a16="http://schemas.microsoft.com/office/drawing/2014/main" id="{53A089A5-F500-8993-3237-4DFD9B8DC266}"/>
                  </a:ext>
                </a:extLst>
              </p:cNvPr>
              <p:cNvGrpSpPr/>
              <p:nvPr/>
            </p:nvGrpSpPr>
            <p:grpSpPr>
              <a:xfrm>
                <a:off x="3032485" y="3961733"/>
                <a:ext cx="2505673" cy="1829467"/>
                <a:chOff x="7946052" y="1981200"/>
                <a:chExt cx="3941148" cy="4191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" name="Oval 4">
                      <a:extLst>
                        <a:ext uri="{FF2B5EF4-FFF2-40B4-BE49-F238E27FC236}">
                          <a16:creationId xmlns:a16="http://schemas.microsoft.com/office/drawing/2014/main" id="{239899DF-DDE5-AE24-98C7-CD961B2555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249162" y="3419487"/>
                      <a:ext cx="381000" cy="381000"/>
                    </a:xfrm>
                    <a:prstGeom prst="ellipse">
                      <a:avLst/>
                    </a:prstGeom>
                  </p:spPr>
                  <p:style>
                    <a:lnRef idx="3">
                      <a:schemeClr val="lt1"/>
                    </a:lnRef>
                    <a:fillRef idx="1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4" name="Oval 3">
                      <a:extLst>
                        <a:ext uri="{FF2B5EF4-FFF2-40B4-BE49-F238E27FC236}">
                          <a16:creationId xmlns:a16="http://schemas.microsoft.com/office/drawing/2014/main" id="{CF79983A-CC8B-1C9B-61BD-A8B95DEE9F1A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249162" y="3419487"/>
                      <a:ext cx="381000" cy="381000"/>
                    </a:xfrm>
                    <a:prstGeom prst="ellipse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" name="Oval 5">
                      <a:extLst>
                        <a:ext uri="{FF2B5EF4-FFF2-40B4-BE49-F238E27FC236}">
                          <a16:creationId xmlns:a16="http://schemas.microsoft.com/office/drawing/2014/main" id="{21947EBA-083A-A8A5-C90A-2F4337B2B7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54162" y="3408877"/>
                      <a:ext cx="381000" cy="381000"/>
                    </a:xfrm>
                    <a:prstGeom prst="ellipse">
                      <a:avLst/>
                    </a:prstGeom>
                  </p:spPr>
                  <p:style>
                    <a:lnRef idx="3">
                      <a:schemeClr val="lt1"/>
                    </a:lnRef>
                    <a:fillRef idx="1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5" name="Oval 4">
                      <a:extLst>
                        <a:ext uri="{FF2B5EF4-FFF2-40B4-BE49-F238E27FC236}">
                          <a16:creationId xmlns:a16="http://schemas.microsoft.com/office/drawing/2014/main" id="{7A0FEBA4-CCFB-34EB-F0E6-8EE13E477B1C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154162" y="3408877"/>
                      <a:ext cx="381000" cy="381000"/>
                    </a:xfrm>
                    <a:prstGeom prst="ellipse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" name="Oval 6">
                      <a:extLst>
                        <a:ext uri="{FF2B5EF4-FFF2-40B4-BE49-F238E27FC236}">
                          <a16:creationId xmlns:a16="http://schemas.microsoft.com/office/drawing/2014/main" id="{976315B9-FB6B-D6C6-EA1C-3FF755B0078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73162" y="5034768"/>
                      <a:ext cx="381000" cy="381000"/>
                    </a:xfrm>
                    <a:prstGeom prst="ellipse">
                      <a:avLst/>
                    </a:prstGeom>
                  </p:spPr>
                  <p:style>
                    <a:lnRef idx="3">
                      <a:schemeClr val="lt1"/>
                    </a:lnRef>
                    <a:fillRef idx="1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6" name="Oval 5">
                      <a:extLst>
                        <a:ext uri="{FF2B5EF4-FFF2-40B4-BE49-F238E27FC236}">
                          <a16:creationId xmlns:a16="http://schemas.microsoft.com/office/drawing/2014/main" id="{0930646F-4C58-99C9-9F42-1645EDB3E21D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773162" y="5034768"/>
                      <a:ext cx="381000" cy="381000"/>
                    </a:xfrm>
                    <a:prstGeom prst="ellipse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8" name="Connector: Curved 7">
                  <a:extLst>
                    <a:ext uri="{FF2B5EF4-FFF2-40B4-BE49-F238E27FC236}">
                      <a16:creationId xmlns:a16="http://schemas.microsoft.com/office/drawing/2014/main" id="{0639C2B2-B71A-7A40-87D5-2E0AF11BFCA4}"/>
                    </a:ext>
                  </a:extLst>
                </p:cNvPr>
                <p:cNvCxnSpPr>
                  <a:cxnSpLocks/>
                  <a:stCxn id="5" idx="7"/>
                  <a:endCxn id="6" idx="1"/>
                </p:cNvCxnSpPr>
                <p:nvPr/>
              </p:nvCxnSpPr>
              <p:spPr>
                <a:xfrm rot="5400000" flipH="1" flipV="1">
                  <a:off x="9386857" y="2652182"/>
                  <a:ext cx="10610" cy="1635592"/>
                </a:xfrm>
                <a:prstGeom prst="curvedConnector3">
                  <a:avLst>
                    <a:gd name="adj1" fmla="val 2780452"/>
                  </a:avLst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Connector: Curved 8">
                  <a:extLst>
                    <a:ext uri="{FF2B5EF4-FFF2-40B4-BE49-F238E27FC236}">
                      <a16:creationId xmlns:a16="http://schemas.microsoft.com/office/drawing/2014/main" id="{9B006357-9084-C421-531D-3589A0384EDE}"/>
                    </a:ext>
                  </a:extLst>
                </p:cNvPr>
                <p:cNvCxnSpPr>
                  <a:cxnSpLocks/>
                  <a:stCxn id="6" idx="3"/>
                  <a:endCxn id="5" idx="5"/>
                </p:cNvCxnSpPr>
                <p:nvPr/>
              </p:nvCxnSpPr>
              <p:spPr>
                <a:xfrm rot="5400000">
                  <a:off x="9386857" y="2921590"/>
                  <a:ext cx="10610" cy="1635592"/>
                </a:xfrm>
                <a:prstGeom prst="curvedConnector3">
                  <a:avLst>
                    <a:gd name="adj1" fmla="val 2780452"/>
                  </a:avLst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Connector: Curved 9">
                  <a:extLst>
                    <a:ext uri="{FF2B5EF4-FFF2-40B4-BE49-F238E27FC236}">
                      <a16:creationId xmlns:a16="http://schemas.microsoft.com/office/drawing/2014/main" id="{3764368D-DCD5-2012-0F44-879561A09EC0}"/>
                    </a:ext>
                  </a:extLst>
                </p:cNvPr>
                <p:cNvCxnSpPr>
                  <a:cxnSpLocks/>
                  <a:stCxn id="6" idx="7"/>
                  <a:endCxn id="6" idx="5"/>
                </p:cNvCxnSpPr>
                <p:nvPr/>
              </p:nvCxnSpPr>
              <p:spPr>
                <a:xfrm rot="16200000" flipH="1">
                  <a:off x="10344662" y="3599377"/>
                  <a:ext cx="269408" cy="12700"/>
                </a:xfrm>
                <a:prstGeom prst="curvedConnector5">
                  <a:avLst>
                    <a:gd name="adj1" fmla="val -84853"/>
                    <a:gd name="adj2" fmla="val 4360661"/>
                    <a:gd name="adj3" fmla="val 184853"/>
                  </a:avLst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Arrow Connector 10">
                  <a:extLst>
                    <a:ext uri="{FF2B5EF4-FFF2-40B4-BE49-F238E27FC236}">
                      <a16:creationId xmlns:a16="http://schemas.microsoft.com/office/drawing/2014/main" id="{63E0A423-C3DB-7AEB-9FC0-24DD7D3F0001}"/>
                    </a:ext>
                  </a:extLst>
                </p:cNvPr>
                <p:cNvCxnSpPr>
                  <a:stCxn id="6" idx="4"/>
                  <a:endCxn id="7" idx="0"/>
                </p:cNvCxnSpPr>
                <p:nvPr/>
              </p:nvCxnSpPr>
              <p:spPr>
                <a:xfrm flipH="1">
                  <a:off x="9963662" y="3789877"/>
                  <a:ext cx="381000" cy="124489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74F6F5E3-4BCA-8103-1699-69FCE563FA5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214429" y="2811832"/>
                      <a:ext cx="625371" cy="42319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74F6F5E3-4BCA-8103-1699-69FCE563FA5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14429" y="2811832"/>
                      <a:ext cx="625371" cy="423194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b="-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EDA03B59-1D6F-B67E-6BA8-D8D9BE153F38}"/>
                    </a:ext>
                  </a:extLst>
                </p:cNvPr>
                <p:cNvSpPr txBox="1"/>
                <p:nvPr/>
              </p:nvSpPr>
              <p:spPr>
                <a:xfrm>
                  <a:off x="8594718" y="2943280"/>
                  <a:ext cx="337590" cy="4231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6"/>
                      </a:solidFill>
                    </a:rPr>
                    <a:t>1</a:t>
                  </a:r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0A268C5-9F57-BC86-CAB8-01E864F94D6F}"/>
                    </a:ext>
                  </a:extLst>
                </p:cNvPr>
                <p:cNvSpPr txBox="1"/>
                <p:nvPr/>
              </p:nvSpPr>
              <p:spPr>
                <a:xfrm>
                  <a:off x="9183126" y="3192428"/>
                  <a:ext cx="530432" cy="6650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2"/>
                      </a:solidFill>
                    </a:rPr>
                    <a:t>10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082B7DF3-7EF5-3E4F-BCD7-407B96A91D9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240414" y="4017591"/>
                      <a:ext cx="630156" cy="42319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082B7DF3-7EF5-3E4F-BCD7-407B96A91D9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0414" y="4017591"/>
                      <a:ext cx="630156" cy="423194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b="-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TextBox 15">
                      <a:extLst>
                        <a:ext uri="{FF2B5EF4-FFF2-40B4-BE49-F238E27FC236}">
                          <a16:creationId xmlns:a16="http://schemas.microsoft.com/office/drawing/2014/main" id="{4A0CE271-B738-605B-80BB-8E8A714E594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110754" y="4263293"/>
                      <a:ext cx="625371" cy="42319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16" name="TextBox 15">
                      <a:extLst>
                        <a:ext uri="{FF2B5EF4-FFF2-40B4-BE49-F238E27FC236}">
                          <a16:creationId xmlns:a16="http://schemas.microsoft.com/office/drawing/2014/main" id="{4A0CE271-B738-605B-80BB-8E8A714E594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110754" y="4263293"/>
                      <a:ext cx="625371" cy="423194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b="-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TextBox 16">
                      <a:extLst>
                        <a:ext uri="{FF2B5EF4-FFF2-40B4-BE49-F238E27FC236}">
                          <a16:creationId xmlns:a16="http://schemas.microsoft.com/office/drawing/2014/main" id="{63C08526-BF71-E4CC-6582-340B5985BD4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984391" y="3406446"/>
                      <a:ext cx="630156" cy="42319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17" name="TextBox 16">
                      <a:extLst>
                        <a:ext uri="{FF2B5EF4-FFF2-40B4-BE49-F238E27FC236}">
                          <a16:creationId xmlns:a16="http://schemas.microsoft.com/office/drawing/2014/main" id="{63C08526-BF71-E4CC-6582-340B5985BD4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984391" y="3406446"/>
                      <a:ext cx="630156" cy="42319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b="-322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3ED6E9F-05CA-E8FD-7129-4125FCB88DAE}"/>
                    </a:ext>
                  </a:extLst>
                </p:cNvPr>
                <p:cNvSpPr txBox="1"/>
                <p:nvPr/>
              </p:nvSpPr>
              <p:spPr>
                <a:xfrm>
                  <a:off x="9590285" y="3942922"/>
                  <a:ext cx="467820" cy="6650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6"/>
                      </a:solidFill>
                    </a:rPr>
                    <a:t>.5</a:t>
                  </a:r>
                </a:p>
              </p:txBody>
            </p: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CF9DF8C-6B92-6D62-BABC-F5808E66BB7B}"/>
                    </a:ext>
                  </a:extLst>
                </p:cNvPr>
                <p:cNvSpPr txBox="1"/>
                <p:nvPr/>
              </p:nvSpPr>
              <p:spPr>
                <a:xfrm>
                  <a:off x="10578572" y="2927671"/>
                  <a:ext cx="467820" cy="6650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6"/>
                      </a:solidFill>
                    </a:rPr>
                    <a:t>.5</a:t>
                  </a:r>
                </a:p>
              </p:txBody>
            </p: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7A058EA-CB63-61F7-15CA-66E747530E1E}"/>
                    </a:ext>
                  </a:extLst>
                </p:cNvPr>
                <p:cNvSpPr txBox="1"/>
                <p:nvPr/>
              </p:nvSpPr>
              <p:spPr>
                <a:xfrm>
                  <a:off x="10197571" y="3913112"/>
                  <a:ext cx="467820" cy="4231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6"/>
                      </a:solidFill>
                    </a:rPr>
                    <a:t>1</a:t>
                  </a:r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B95D34-2631-8E9A-967C-E302B76A0262}"/>
                    </a:ext>
                  </a:extLst>
                </p:cNvPr>
                <p:cNvSpPr txBox="1"/>
                <p:nvPr/>
              </p:nvSpPr>
              <p:spPr>
                <a:xfrm>
                  <a:off x="10975769" y="3745663"/>
                  <a:ext cx="530432" cy="6650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2"/>
                      </a:solidFill>
                    </a:rPr>
                    <a:t>10</a:t>
                  </a:r>
                </a:p>
              </p:txBody>
            </p:sp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D5C7F95-7653-9F9A-D94E-413FC9FCCE6A}"/>
                    </a:ext>
                  </a:extLst>
                </p:cNvPr>
                <p:cNvSpPr txBox="1"/>
                <p:nvPr/>
              </p:nvSpPr>
              <p:spPr>
                <a:xfrm>
                  <a:off x="9267089" y="3709878"/>
                  <a:ext cx="530432" cy="6650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2"/>
                      </a:solidFill>
                    </a:rPr>
                    <a:t>-5</a:t>
                  </a:r>
                </a:p>
              </p:txBody>
            </p:sp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9BEE937F-FBAC-ADF6-004A-FFA2080557FA}"/>
                    </a:ext>
                  </a:extLst>
                </p:cNvPr>
                <p:cNvSpPr txBox="1"/>
                <p:nvPr/>
              </p:nvSpPr>
              <p:spPr>
                <a:xfrm>
                  <a:off x="9575153" y="4527993"/>
                  <a:ext cx="769508" cy="4231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2"/>
                      </a:solidFill>
                    </a:rPr>
                    <a:t>100</a:t>
                  </a:r>
                </a:p>
              </p:txBody>
            </p:sp>
            <p:cxnSp>
              <p:nvCxnSpPr>
                <p:cNvPr id="24" name="Connector: Curved 23">
                  <a:extLst>
                    <a:ext uri="{FF2B5EF4-FFF2-40B4-BE49-F238E27FC236}">
                      <a16:creationId xmlns:a16="http://schemas.microsoft.com/office/drawing/2014/main" id="{ACF59D9D-ADDB-4E90-D055-210A900D5200}"/>
                    </a:ext>
                  </a:extLst>
                </p:cNvPr>
                <p:cNvCxnSpPr>
                  <a:cxnSpLocks/>
                  <a:stCxn id="7" idx="7"/>
                  <a:endCxn id="7" idx="5"/>
                </p:cNvCxnSpPr>
                <p:nvPr/>
              </p:nvCxnSpPr>
              <p:spPr>
                <a:xfrm rot="16200000" flipH="1">
                  <a:off x="9963662" y="5225268"/>
                  <a:ext cx="269408" cy="12700"/>
                </a:xfrm>
                <a:prstGeom prst="curvedConnector5">
                  <a:avLst>
                    <a:gd name="adj1" fmla="val -84853"/>
                    <a:gd name="adj2" fmla="val 4360661"/>
                    <a:gd name="adj3" fmla="val 184853"/>
                  </a:avLst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A0BE6BB6-B42A-4582-A8C8-753A75D83F1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589410" y="4995357"/>
                      <a:ext cx="914251" cy="42319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8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A0BE6BB6-B42A-4582-A8C8-753A75D83F1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589410" y="4995357"/>
                      <a:ext cx="914251" cy="423194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b="-322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073BE2B-3D9E-2DA6-77BC-7670AE059D15}"/>
                    </a:ext>
                  </a:extLst>
                </p:cNvPr>
                <p:cNvSpPr txBox="1"/>
                <p:nvPr/>
              </p:nvSpPr>
              <p:spPr>
                <a:xfrm>
                  <a:off x="10471395" y="5498069"/>
                  <a:ext cx="530432" cy="4231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2"/>
                      </a:solidFill>
                    </a:rPr>
                    <a:t>0</a:t>
                  </a:r>
                </a:p>
              </p:txBody>
            </p:sp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A0A55D65-CC48-3FBF-2578-253E0D08F59E}"/>
                    </a:ext>
                  </a:extLst>
                </p:cNvPr>
                <p:cNvSpPr/>
                <p:nvPr/>
              </p:nvSpPr>
              <p:spPr>
                <a:xfrm>
                  <a:off x="7946052" y="1981200"/>
                  <a:ext cx="3941148" cy="4191000"/>
                </a:xfrm>
                <a:prstGeom prst="rect">
                  <a:avLst/>
                </a:prstGeom>
                <a:noFill/>
                <a:ln>
                  <a:solidFill>
                    <a:schemeClr val="accent2"/>
                  </a:solidFill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 sz="8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A420D018-CCC8-B636-8F9C-FDE68B7C90B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650945" y="2047492"/>
                      <a:ext cx="1236255" cy="10575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b="1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𝑷</m:t>
                            </m:r>
                            <m:d>
                              <m:dPr>
                                <m:endChr m:val="|"/>
                                <m:ctrlPr>
                                  <a:rPr lang="en-US" sz="1200" b="1" i="1" dirty="0" smtClean="0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200" b="1" i="1" dirty="0" smtClean="0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US" sz="1200" b="1" i="1" dirty="0" smtClean="0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’ </m:t>
                                </m:r>
                              </m:e>
                            </m:d>
                            <m:r>
                              <a:rPr lang="en-US" sz="1200" b="1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𝒂</m:t>
                            </m:r>
                            <m:r>
                              <a:rPr lang="en-US" sz="1200" b="1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sz="1200" b="1" dirty="0">
                        <a:solidFill>
                          <a:schemeClr val="accent6"/>
                        </a:solidFill>
                      </a:endParaRPr>
                    </a:p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b="1" i="1" dirty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𝒓</m:t>
                            </m:r>
                            <m:r>
                              <a:rPr lang="en-US" sz="1200" b="1" i="1" dirty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𝒂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  <m:r>
                              <a:rPr lang="en-US" sz="1200" b="1" i="1" dirty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’)</m:t>
                            </m:r>
                          </m:oMath>
                        </m:oMathPara>
                      </a14:m>
                      <a:endParaRPr lang="en-US" sz="1200" b="1" dirty="0">
                        <a:solidFill>
                          <a:schemeClr val="accent6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A420D018-CCC8-B636-8F9C-FDE68B7C90B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650945" y="2047492"/>
                      <a:ext cx="1236255" cy="1057597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r="-7752" b="-394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F9CB06BE-8C8F-B6D3-EC8F-D1BCF67FA694}"/>
                  </a:ext>
                </a:extLst>
              </p:cNvPr>
              <p:cNvSpPr txBox="1"/>
              <p:nvPr/>
            </p:nvSpPr>
            <p:spPr>
              <a:xfrm>
                <a:off x="3052393" y="3952951"/>
                <a:ext cx="6431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/>
                    </a:solidFill>
                  </a:rPr>
                  <a:t>MDP</a:t>
                </a:r>
              </a:p>
            </p:txBody>
          </p:sp>
        </p:grp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0D3CA815-59ED-F5D1-7BD9-90E4938C8B05}"/>
              </a:ext>
            </a:extLst>
          </p:cNvPr>
          <p:cNvGrpSpPr/>
          <p:nvPr/>
        </p:nvGrpSpPr>
        <p:grpSpPr>
          <a:xfrm>
            <a:off x="6239255" y="1537779"/>
            <a:ext cx="4237066" cy="3890091"/>
            <a:chOff x="6239255" y="1537779"/>
            <a:chExt cx="4237066" cy="3890091"/>
          </a:xfrm>
        </p:grpSpPr>
        <p:grpSp>
          <p:nvGrpSpPr>
            <p:cNvPr id="63" name="Group 62" descr="A fifure showing that the agent chooses an action, the environment responds with changing state an provides the agent with a reward and the new state.">
              <a:extLst>
                <a:ext uri="{FF2B5EF4-FFF2-40B4-BE49-F238E27FC236}">
                  <a16:creationId xmlns:a16="http://schemas.microsoft.com/office/drawing/2014/main" id="{2BE0D693-8D6C-F835-A14C-F9F2492BECDF}"/>
                </a:ext>
              </a:extLst>
            </p:cNvPr>
            <p:cNvGrpSpPr/>
            <p:nvPr/>
          </p:nvGrpSpPr>
          <p:grpSpPr>
            <a:xfrm>
              <a:off x="6239255" y="2131560"/>
              <a:ext cx="4080784" cy="1537623"/>
              <a:chOff x="101407" y="3338673"/>
              <a:chExt cx="5486344" cy="272776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Rectangle 63">
                    <a:extLst>
                      <a:ext uri="{FF2B5EF4-FFF2-40B4-BE49-F238E27FC236}">
                        <a16:creationId xmlns:a16="http://schemas.microsoft.com/office/drawing/2014/main" id="{8AC3C9A3-74E7-C0CD-AD65-568B8BB2A7E7}"/>
                      </a:ext>
                    </a:extLst>
                  </p:cNvPr>
                  <p:cNvSpPr/>
                  <p:nvPr/>
                </p:nvSpPr>
                <p:spPr>
                  <a:xfrm>
                    <a:off x="3184163" y="4999640"/>
                    <a:ext cx="1600200" cy="1066800"/>
                  </a:xfrm>
                  <a:prstGeom prst="rect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200" b="1" dirty="0"/>
                      <a:t>Environment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b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</m:sSub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b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en-US" sz="1200" b="1" dirty="0"/>
                  </a:p>
                </p:txBody>
              </p:sp>
            </mc:Choice>
            <mc:Fallback xmlns=""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674804DE-25E5-519D-514A-639F698E905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84163" y="4999640"/>
                    <a:ext cx="1600200" cy="106680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C5529FEC-AD7E-37BC-962A-FB41847E5055}"/>
                  </a:ext>
                </a:extLst>
              </p:cNvPr>
              <p:cNvSpPr/>
              <p:nvPr/>
            </p:nvSpPr>
            <p:spPr>
              <a:xfrm>
                <a:off x="3184163" y="3503612"/>
                <a:ext cx="1600200" cy="1066800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b="1" dirty="0"/>
                  <a:t>Agent</a:t>
                </a:r>
              </a:p>
            </p:txBody>
          </p:sp>
          <p:cxnSp>
            <p:nvCxnSpPr>
              <p:cNvPr id="66" name="Connector: Curved 65">
                <a:extLst>
                  <a:ext uri="{FF2B5EF4-FFF2-40B4-BE49-F238E27FC236}">
                    <a16:creationId xmlns:a16="http://schemas.microsoft.com/office/drawing/2014/main" id="{140DBDA5-B22D-6964-BFB3-64F4A6465F77}"/>
                  </a:ext>
                </a:extLst>
              </p:cNvPr>
              <p:cNvCxnSpPr>
                <a:cxnSpLocks/>
                <a:stCxn id="65" idx="3"/>
                <a:endCxn id="64" idx="3"/>
              </p:cNvCxnSpPr>
              <p:nvPr/>
            </p:nvCxnSpPr>
            <p:spPr>
              <a:xfrm>
                <a:off x="4784363" y="4037012"/>
                <a:ext cx="12700" cy="1496028"/>
              </a:xfrm>
              <a:prstGeom prst="curvedConnector3">
                <a:avLst>
                  <a:gd name="adj1" fmla="val 8362031"/>
                </a:avLst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Connector: Curved 66">
                <a:extLst>
                  <a:ext uri="{FF2B5EF4-FFF2-40B4-BE49-F238E27FC236}">
                    <a16:creationId xmlns:a16="http://schemas.microsoft.com/office/drawing/2014/main" id="{F8F6448C-29A7-1752-ED67-15E6BA1DB11E}"/>
                  </a:ext>
                </a:extLst>
              </p:cNvPr>
              <p:cNvCxnSpPr>
                <a:cxnSpLocks/>
                <a:stCxn id="64" idx="1"/>
                <a:endCxn id="65" idx="1"/>
              </p:cNvCxnSpPr>
              <p:nvPr/>
            </p:nvCxnSpPr>
            <p:spPr>
              <a:xfrm rot="10800000">
                <a:off x="3184163" y="4037012"/>
                <a:ext cx="12700" cy="1496028"/>
              </a:xfrm>
              <a:prstGeom prst="curvedConnector3">
                <a:avLst>
                  <a:gd name="adj1" fmla="val 13556969"/>
                </a:avLst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8" name="Connector: Curved 67">
                <a:extLst>
                  <a:ext uri="{FF2B5EF4-FFF2-40B4-BE49-F238E27FC236}">
                    <a16:creationId xmlns:a16="http://schemas.microsoft.com/office/drawing/2014/main" id="{04E9C736-A3DF-561B-B8C0-8793246DADF2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196863" y="4037012"/>
                <a:ext cx="12700" cy="1496028"/>
              </a:xfrm>
              <a:prstGeom prst="curvedConnector3">
                <a:avLst>
                  <a:gd name="adj1" fmla="val 9364559"/>
                </a:avLst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9" name="TextBox 68">
                    <a:extLst>
                      <a:ext uri="{FF2B5EF4-FFF2-40B4-BE49-F238E27FC236}">
                        <a16:creationId xmlns:a16="http://schemas.microsoft.com/office/drawing/2014/main" id="{D4CF339A-E054-DA07-B747-A5198731ED1A}"/>
                      </a:ext>
                    </a:extLst>
                  </p:cNvPr>
                  <p:cNvSpPr txBox="1"/>
                  <p:nvPr/>
                </p:nvSpPr>
                <p:spPr>
                  <a:xfrm>
                    <a:off x="4784363" y="3338673"/>
                    <a:ext cx="803388" cy="56796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dirty="0"/>
                      <a:t>Action </a:t>
                    </a:r>
                  </a:p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a14:m>
                    <a:r>
                      <a:rPr lang="en-US" sz="1200" dirty="0"/>
                      <a:t> </a:t>
                    </a:r>
                  </a:p>
                </p:txBody>
              </p:sp>
            </mc:Choice>
            <mc:Fallback xmlns="">
              <p:sp>
                <p:nvSpPr>
                  <p:cNvPr id="69" name="TextBox 68">
                    <a:extLst>
                      <a:ext uri="{FF2B5EF4-FFF2-40B4-BE49-F238E27FC236}">
                        <a16:creationId xmlns:a16="http://schemas.microsoft.com/office/drawing/2014/main" id="{D4CF339A-E054-DA07-B747-A5198731ED1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84363" y="3338673"/>
                    <a:ext cx="803388" cy="567960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1020" t="-1923" r="-3061" b="-3653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0" name="TextBox 69">
                    <a:extLst>
                      <a:ext uri="{FF2B5EF4-FFF2-40B4-BE49-F238E27FC236}">
                        <a16:creationId xmlns:a16="http://schemas.microsoft.com/office/drawing/2014/main" id="{0F91BC35-F533-C681-0539-584CFCDC4F7F}"/>
                      </a:ext>
                    </a:extLst>
                  </p:cNvPr>
                  <p:cNvSpPr txBox="1"/>
                  <p:nvPr/>
                </p:nvSpPr>
                <p:spPr>
                  <a:xfrm>
                    <a:off x="101407" y="4396790"/>
                    <a:ext cx="1451548" cy="7951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en-US" sz="1200" dirty="0"/>
                      <a:t>Observation </a:t>
                    </a:r>
                    <a:br>
                      <a:rPr lang="en-US" sz="1200" dirty="0"/>
                    </a:b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oMath>
                      </m:oMathPara>
                    </a14:m>
                    <a:endParaRPr lang="en-US" sz="1200" b="0" dirty="0"/>
                  </a:p>
                  <a:p>
                    <a:r>
                      <a:rPr lang="en-US" sz="1200" dirty="0"/>
                      <a:t> </a:t>
                    </a:r>
                  </a:p>
                </p:txBody>
              </p:sp>
            </mc:Choice>
            <mc:Fallback xmlns="">
              <p:sp>
                <p:nvSpPr>
                  <p:cNvPr id="70" name="TextBox 69">
                    <a:extLst>
                      <a:ext uri="{FF2B5EF4-FFF2-40B4-BE49-F238E27FC236}">
                        <a16:creationId xmlns:a16="http://schemas.microsoft.com/office/drawing/2014/main" id="{0F91BC35-F533-C681-0539-584CFCDC4F7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407" y="4396790"/>
                    <a:ext cx="1451548" cy="7951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t="-137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1" name="TextBox 70">
                    <a:extLst>
                      <a:ext uri="{FF2B5EF4-FFF2-40B4-BE49-F238E27FC236}">
                        <a16:creationId xmlns:a16="http://schemas.microsoft.com/office/drawing/2014/main" id="{F9A4F943-5332-0FB4-141C-9312729BAF47}"/>
                      </a:ext>
                    </a:extLst>
                  </p:cNvPr>
                  <p:cNvSpPr txBox="1"/>
                  <p:nvPr/>
                </p:nvSpPr>
                <p:spPr>
                  <a:xfrm>
                    <a:off x="2129286" y="4416087"/>
                    <a:ext cx="948296" cy="7951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200" dirty="0"/>
                      <a:t>Reward </a:t>
                    </a:r>
                    <a:br>
                      <a:rPr lang="en-US" sz="1200" dirty="0"/>
                    </a:b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oMath>
                      </m:oMathPara>
                    </a14:m>
                    <a:endParaRPr lang="en-US" sz="1200" b="0" dirty="0"/>
                  </a:p>
                  <a:p>
                    <a:r>
                      <a:rPr lang="en-US" sz="1200" dirty="0"/>
                      <a:t> </a:t>
                    </a:r>
                  </a:p>
                </p:txBody>
              </p:sp>
            </mc:Choice>
            <mc:Fallback xmlns="">
              <p:sp>
                <p:nvSpPr>
                  <p:cNvPr id="71" name="TextBox 70">
                    <a:extLst>
                      <a:ext uri="{FF2B5EF4-FFF2-40B4-BE49-F238E27FC236}">
                        <a16:creationId xmlns:a16="http://schemas.microsoft.com/office/drawing/2014/main" id="{F9A4F943-5332-0FB4-141C-9312729BAF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29286" y="4416087"/>
                    <a:ext cx="948296" cy="795144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01300BB4-27BB-4A96-9146-6D522B727FE9}"/>
                </a:ext>
              </a:extLst>
            </p:cNvPr>
            <p:cNvSpPr txBox="1"/>
            <p:nvPr/>
          </p:nvSpPr>
          <p:spPr>
            <a:xfrm>
              <a:off x="7756335" y="1537779"/>
              <a:ext cx="2590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/>
                <a:t>Model-free RL</a:t>
              </a:r>
            </a:p>
          </p:txBody>
        </p: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E0410971-A161-4AEC-33CF-9DB23E8A479C}"/>
                </a:ext>
              </a:extLst>
            </p:cNvPr>
            <p:cNvGrpSpPr/>
            <p:nvPr/>
          </p:nvGrpSpPr>
          <p:grpSpPr>
            <a:xfrm>
              <a:off x="7809321" y="3574451"/>
              <a:ext cx="2667000" cy="1853419"/>
              <a:chOff x="7894666" y="3902663"/>
              <a:chExt cx="2667000" cy="1853419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910B55F3-5071-6C3F-54AF-84A6A904B046}"/>
                  </a:ext>
                </a:extLst>
              </p:cNvPr>
              <p:cNvSpPr/>
              <p:nvPr/>
            </p:nvSpPr>
            <p:spPr>
              <a:xfrm>
                <a:off x="7894666" y="3926615"/>
                <a:ext cx="2667000" cy="1829467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96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?</a:t>
                </a:r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8147DA29-0BE6-786A-1717-4049AA997718}"/>
                  </a:ext>
                </a:extLst>
              </p:cNvPr>
              <p:cNvSpPr txBox="1"/>
              <p:nvPr/>
            </p:nvSpPr>
            <p:spPr>
              <a:xfrm>
                <a:off x="7934814" y="3902663"/>
                <a:ext cx="6431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/>
                    </a:solidFill>
                  </a:rPr>
                  <a:t>MDP</a:t>
                </a:r>
              </a:p>
            </p:txBody>
          </p:sp>
        </p:grpSp>
      </p:grp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AE241D0A-A967-BF49-A1D2-E9B9D6CF2DDC}"/>
              </a:ext>
            </a:extLst>
          </p:cNvPr>
          <p:cNvCxnSpPr>
            <a:cxnSpLocks/>
          </p:cNvCxnSpPr>
          <p:nvPr/>
        </p:nvCxnSpPr>
        <p:spPr>
          <a:xfrm>
            <a:off x="6096000" y="1600200"/>
            <a:ext cx="0" cy="487680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AD1E04BF-DAEF-84EB-3594-C7A203966D95}"/>
              </a:ext>
            </a:extLst>
          </p:cNvPr>
          <p:cNvSpPr txBox="1"/>
          <p:nvPr/>
        </p:nvSpPr>
        <p:spPr>
          <a:xfrm>
            <a:off x="1658861" y="5851432"/>
            <a:ext cx="413233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Use the MDP model for </a:t>
            </a:r>
            <a:r>
              <a:rPr lang="en-US" sz="2000" b="1" dirty="0"/>
              <a:t>planning </a:t>
            </a:r>
            <a:br>
              <a:rPr lang="en-US" sz="2000" dirty="0"/>
            </a:br>
            <a:r>
              <a:rPr lang="en-US" sz="2000" dirty="0"/>
              <a:t>(e.g., value iteration, policy iteration)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821BB4E-0C83-0552-E924-CCDA8F944278}"/>
              </a:ext>
            </a:extLst>
          </p:cNvPr>
          <p:cNvSpPr txBox="1"/>
          <p:nvPr/>
        </p:nvSpPr>
        <p:spPr>
          <a:xfrm>
            <a:off x="6968531" y="5833605"/>
            <a:ext cx="446146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An unknown MDP model means we have to try actions and use </a:t>
            </a:r>
            <a:r>
              <a:rPr lang="en-US" sz="2000" b="1" dirty="0"/>
              <a:t>online learning</a:t>
            </a:r>
            <a:r>
              <a:rPr lang="en-US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69817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43C74-5C9C-1873-C147-5746BA03C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CAB5D2-A55F-2C79-7A39-454A89F65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Reinforcement Learning (RL)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AC1E85-E9C9-FF7E-3533-33BB0BD5AB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RL assumes that the problem can be modeled as a </a:t>
            </a:r>
            <a:r>
              <a:rPr lang="en-US" b="1" dirty="0"/>
              <a:t>Markov Decision Process (MDP)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/>
              <a:t>However, we do not know the transition or the reward model. This means we have an </a:t>
            </a:r>
            <a:r>
              <a:rPr lang="en-US" b="1" dirty="0"/>
              <a:t>unknown environment,</a:t>
            </a:r>
            <a:r>
              <a:rPr lang="en-US" dirty="0"/>
              <a:t> and we need “model-free” methods.</a:t>
            </a:r>
          </a:p>
          <a:p>
            <a:endParaRPr lang="en-US" dirty="0"/>
          </a:p>
          <a:p>
            <a:r>
              <a:rPr lang="en-US" dirty="0"/>
              <a:t>We cannot use offline planning in unknown environments. The agent needs to explore the environment (try actions) and </a:t>
            </a:r>
            <a:r>
              <a:rPr lang="en-US" b="1" dirty="0"/>
              <a:t>use the reward signal to update its estimate of the utility of states and actions</a:t>
            </a:r>
            <a:r>
              <a:rPr lang="en-US" dirty="0"/>
              <a:t>. This is an online learning process that provides positive reinforcement through rewards.</a:t>
            </a:r>
          </a:p>
          <a:p>
            <a:endParaRPr lang="en-US" dirty="0"/>
          </a:p>
          <a:p>
            <a:r>
              <a:rPr lang="en-US" dirty="0"/>
              <a:t>A popular algorithm is Q-Learning, which tries to learn the state-action value function of important states.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044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F712C-C87E-E832-8A1B-CDAF97568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96D03A-DAF0-70EB-FA0C-8F1FD2E3AD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66801" y="2438400"/>
            <a:ext cx="9815986" cy="390207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F3BF8E-C1E2-E0EA-4693-1A4CC34D2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964" b="6008"/>
          <a:stretch/>
        </p:blipFill>
        <p:spPr>
          <a:xfrm>
            <a:off x="1143001" y="2504551"/>
            <a:ext cx="9525000" cy="366764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D399C3-7D5D-01FA-4D2E-966DFF22A4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799" y="1448684"/>
            <a:ext cx="7620001" cy="70418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Q-Learning learns the state-action value function as a table from interactions with the environment.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9C05CDB8-071C-C913-ED77-F93D656F290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4343400" y="5969843"/>
                <a:ext cx="5715000" cy="523032"/>
              </a:xfrm>
              <a:prstGeom prst="wedgeRoundRectCallout">
                <a:avLst>
                  <a:gd name="adj1" fmla="val -52800"/>
                  <a:gd name="adj2" fmla="val -9359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Behavior policy: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r>
                  <a:rPr lang="en-US" sz="1600" dirty="0"/>
                  <a:t> is the exploration function and decides on the next action. As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600" dirty="0"/>
                  <a:t> increases, it can exploit good actions more.</a:t>
                </a:r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9C05CDB8-071C-C913-ED77-F93D656F290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3400" y="5969843"/>
                <a:ext cx="5715000" cy="523032"/>
              </a:xfrm>
              <a:prstGeom prst="wedgeRoundRectCallout">
                <a:avLst>
                  <a:gd name="adj1" fmla="val -52800"/>
                  <a:gd name="adj2" fmla="val -93590"/>
                  <a:gd name="adj3" fmla="val 16667"/>
                </a:avLst>
              </a:prstGeom>
              <a:blipFill>
                <a:blip r:embed="rId3"/>
                <a:stretch>
                  <a:fillRect b="-133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BA362122-7E24-B29D-D386-3D95B157E44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6532933" y="4250241"/>
                <a:ext cx="4548891" cy="523032"/>
              </a:xfrm>
              <a:prstGeom prst="wedgeRoundRectCallout">
                <a:avLst>
                  <a:gd name="adj1" fmla="val -18058"/>
                  <a:gd name="adj2" fmla="val 9728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0" dirty="0"/>
                  <a:t>Make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begChr m:val="["/>
                        <m:endChr m:val="]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sz="1600" dirty="0"/>
                  <a:t> a little more similar to the received reward + the best Q-value of the successor state.</a:t>
                </a:r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BA362122-7E24-B29D-D386-3D95B157E44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2933" y="4250241"/>
                <a:ext cx="4548891" cy="523032"/>
              </a:xfrm>
              <a:prstGeom prst="wedgeRoundRectCallout">
                <a:avLst>
                  <a:gd name="adj1" fmla="val -18058"/>
                  <a:gd name="adj2" fmla="val 97289"/>
                  <a:gd name="adj3" fmla="val 16667"/>
                </a:avLst>
              </a:prstGeom>
              <a:blipFill>
                <a:blip r:embed="rId4"/>
                <a:stretch>
                  <a:fillRect t="-46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CF7BA659-C3F3-52AC-CDB2-877CF651F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4788" y="4191000"/>
            <a:ext cx="1233012" cy="523032"/>
          </a:xfrm>
          <a:prstGeom prst="wedgeRoundRectCallout">
            <a:avLst>
              <a:gd name="adj1" fmla="val 60619"/>
              <a:gd name="adj2" fmla="val 2582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 new episode starts with no previous state.</a:t>
            </a:r>
          </a:p>
        </p:txBody>
      </p:sp>
      <p:sp>
        <p:nvSpPr>
          <p:cNvPr id="11" name="Speech Bubble: Rectangle with Corners Rounded 10">
            <a:extLst>
              <a:ext uri="{FF2B5EF4-FFF2-40B4-BE49-F238E27FC236}">
                <a16:creationId xmlns:a16="http://schemas.microsoft.com/office/drawing/2014/main" id="{4101AE6A-DC96-865C-966E-F5B22D2ED0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71583" y="4484207"/>
            <a:ext cx="1094425" cy="261516"/>
          </a:xfrm>
          <a:prstGeom prst="wedgeRoundRectCallout">
            <a:avLst>
              <a:gd name="adj1" fmla="val -85193"/>
              <a:gd name="adj2" fmla="val 20356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Learning rate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440AE2-6A57-6352-D23E-214AC3E0C393}"/>
              </a:ext>
            </a:extLst>
          </p:cNvPr>
          <p:cNvSpPr txBox="1"/>
          <p:nvPr/>
        </p:nvSpPr>
        <p:spPr>
          <a:xfrm>
            <a:off x="9058617" y="300177"/>
            <a:ext cx="1295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Q-Table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85B03261-4225-95AF-2DFC-6B09A22E53C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89061631"/>
                  </p:ext>
                </p:extLst>
              </p:nvPr>
            </p:nvGraphicFramePr>
            <p:xfrm>
              <a:off x="8805472" y="669509"/>
              <a:ext cx="1717930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346329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364851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006750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dirty="0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85B03261-4225-95AF-2DFC-6B09A22E53C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89061631"/>
                  </p:ext>
                </p:extLst>
              </p:nvPr>
            </p:nvGraphicFramePr>
            <p:xfrm>
              <a:off x="8805472" y="669509"/>
              <a:ext cx="1717930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346329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364851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006750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754" t="-1639" r="-403509" b="-3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96667" t="-1639" r="-283333" b="-3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71084" t="-1639" r="-2410" b="-3049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7F289186-30C9-5E93-1025-A4A3110EE046}"/>
              </a:ext>
            </a:extLst>
          </p:cNvPr>
          <p:cNvGrpSpPr/>
          <p:nvPr/>
        </p:nvGrpSpPr>
        <p:grpSpPr>
          <a:xfrm>
            <a:off x="6096000" y="5375319"/>
            <a:ext cx="3886200" cy="369332"/>
            <a:chOff x="6096000" y="5375319"/>
            <a:chExt cx="3886200" cy="369332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4378C3D-05E2-F6E5-1ECC-E3E75C518602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402333"/>
              <a:ext cx="3886200" cy="38289"/>
            </a:xfrm>
            <a:prstGeom prst="line">
              <a:avLst/>
            </a:prstGeom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22B4D6B-18E1-8ECE-9BCB-C6F361A5DBEF}"/>
                </a:ext>
              </a:extLst>
            </p:cNvPr>
            <p:cNvSpPr txBox="1"/>
            <p:nvPr/>
          </p:nvSpPr>
          <p:spPr>
            <a:xfrm>
              <a:off x="7162800" y="5375319"/>
              <a:ext cx="19812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/>
                  </a:solidFill>
                </a:rPr>
                <a:t>TD-error</a:t>
              </a:r>
            </a:p>
          </p:txBody>
        </p:sp>
      </p:grpSp>
      <p:sp>
        <p:nvSpPr>
          <p:cNvPr id="17" name="Speech Bubble: Rectangle with Corners Rounded 16">
            <a:extLst>
              <a:ext uri="{FF2B5EF4-FFF2-40B4-BE49-F238E27FC236}">
                <a16:creationId xmlns:a16="http://schemas.microsoft.com/office/drawing/2014/main" id="{7C19E76D-1269-D419-5E2F-5D2A84359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1000" y="3646968"/>
            <a:ext cx="1994223" cy="340353"/>
          </a:xfrm>
          <a:prstGeom prst="wedgeRoundRectCallout">
            <a:avLst>
              <a:gd name="adj1" fmla="val 88430"/>
              <a:gd name="adj2" fmla="val -8670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Encodes learned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93ACA01-EE6C-5915-E1C8-7449C33981E5}"/>
                  </a:ext>
                </a:extLst>
              </p:cNvPr>
              <p:cNvSpPr txBox="1"/>
              <p:nvPr/>
            </p:nvSpPr>
            <p:spPr>
              <a:xfrm>
                <a:off x="10134600" y="284764"/>
                <a:ext cx="1897199" cy="4397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400" b="0" i="0" dirty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sz="1400" dirty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lim>
                          </m:limLow>
                        </m:fName>
                        <m:e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93ACA01-EE6C-5915-E1C8-7449C33981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4600" y="284764"/>
                <a:ext cx="1897199" cy="439736"/>
              </a:xfrm>
              <a:prstGeom prst="rect">
                <a:avLst/>
              </a:prstGeom>
              <a:blipFill>
                <a:blip r:embed="rId6"/>
                <a:stretch>
                  <a:fillRect b="-4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Arrow: Right 14">
            <a:extLst>
              <a:ext uri="{FF2B5EF4-FFF2-40B4-BE49-F238E27FC236}">
                <a16:creationId xmlns:a16="http://schemas.microsoft.com/office/drawing/2014/main" id="{6B98CD61-4698-DB44-0CC7-3D289E484B8E}"/>
              </a:ext>
            </a:extLst>
          </p:cNvPr>
          <p:cNvSpPr/>
          <p:nvPr/>
        </p:nvSpPr>
        <p:spPr>
          <a:xfrm>
            <a:off x="9906000" y="408643"/>
            <a:ext cx="228600" cy="1247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073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8" grpId="0" animBg="1"/>
      <p:bldP spid="1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66345-9ED0-5370-449D-D1D5898A2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Tabular Methods vs. Value Function Approximation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1C3DEC-7634-2F42-9A4C-17B7C8C56F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00201"/>
                <a:ext cx="10515600" cy="2379666"/>
              </a:xfrm>
            </p:spPr>
            <p:txBody>
              <a:bodyPr>
                <a:normAutofit fontScale="550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dirty="0"/>
                  <a:t> (or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) tables needs to store and estimate one entry for each state (state/action combination). </a:t>
                </a:r>
              </a:p>
              <a:p>
                <a:r>
                  <a:rPr lang="en-US" dirty="0"/>
                  <a:t>Issues and possible solutions</a:t>
                </a:r>
              </a:p>
              <a:p>
                <a:pPr lvl="1"/>
                <a:r>
                  <a:rPr lang="en-US" dirty="0"/>
                  <a:t>Too many entries to store 			 → lossy compression</a:t>
                </a:r>
              </a:p>
              <a:p>
                <a:pPr lvl="1"/>
                <a:r>
                  <a:rPr lang="en-US" dirty="0"/>
                  <a:t>Many combinations are rarely seen 		 → generalize to unseen entries</a:t>
                </a:r>
              </a:p>
              <a:p>
                <a:endParaRPr lang="en-US" b="1" dirty="0"/>
              </a:p>
              <a:p>
                <a:r>
                  <a:rPr lang="en-US" b="1" dirty="0"/>
                  <a:t>Idea</a:t>
                </a:r>
                <a:r>
                  <a:rPr lang="en-US" dirty="0"/>
                  <a:t>: Estimate the state value by learning an approximation function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based on features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(ML).</a:t>
                </a:r>
              </a:p>
              <a:p>
                <a:endParaRPr lang="en-US" dirty="0"/>
              </a:p>
              <a:p>
                <a:r>
                  <a:rPr lang="en-US" b="1" dirty="0"/>
                  <a:t>Example</a:t>
                </a:r>
                <a:r>
                  <a:rPr lang="en-US" dirty="0"/>
                  <a:t>: 4x3 Grid World with a linear combination of state features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learn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 from observed data.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1C3DEC-7634-2F42-9A4C-17B7C8C56F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00201"/>
                <a:ext cx="10515600" cy="2379666"/>
              </a:xfrm>
              <a:blipFill>
                <a:blip r:embed="rId3"/>
                <a:stretch>
                  <a:fillRect l="-174" t="-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657CB876-F819-AA29-5D73-C92AD00C59E5}"/>
              </a:ext>
            </a:extLst>
          </p:cNvPr>
          <p:cNvGrpSpPr/>
          <p:nvPr/>
        </p:nvGrpSpPr>
        <p:grpSpPr>
          <a:xfrm>
            <a:off x="1090718" y="3886200"/>
            <a:ext cx="9871125" cy="2499740"/>
            <a:chOff x="1090718" y="3886200"/>
            <a:chExt cx="9871125" cy="249974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A62AC91-D48A-B5B5-E4CC-F02B53AACE1C}"/>
                </a:ext>
              </a:extLst>
            </p:cNvPr>
            <p:cNvGrpSpPr/>
            <p:nvPr/>
          </p:nvGrpSpPr>
          <p:grpSpPr>
            <a:xfrm>
              <a:off x="1090718" y="3886200"/>
              <a:ext cx="9871125" cy="2499740"/>
              <a:chOff x="1090718" y="3831516"/>
              <a:chExt cx="9871125" cy="2554424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DFEF8AF5-2189-20FB-16F4-A522FB50F8AF}"/>
                  </a:ext>
                </a:extLst>
              </p:cNvPr>
              <p:cNvGrpSpPr/>
              <p:nvPr/>
            </p:nvGrpSpPr>
            <p:grpSpPr>
              <a:xfrm>
                <a:off x="1090718" y="3831516"/>
                <a:ext cx="9871125" cy="2554424"/>
                <a:chOff x="1090718" y="3831516"/>
                <a:chExt cx="9871125" cy="2554424"/>
              </a:xfrm>
            </p:grpSpPr>
            <p:grpSp>
              <p:nvGrpSpPr>
                <p:cNvPr id="10" name="Group 9">
                  <a:extLst>
                    <a:ext uri="{FF2B5EF4-FFF2-40B4-BE49-F238E27FC236}">
                      <a16:creationId xmlns:a16="http://schemas.microsoft.com/office/drawing/2014/main" id="{8C25FA15-E697-A632-2B44-487FAB6F865A}"/>
                    </a:ext>
                  </a:extLst>
                </p:cNvPr>
                <p:cNvGrpSpPr/>
                <p:nvPr/>
              </p:nvGrpSpPr>
              <p:grpSpPr>
                <a:xfrm>
                  <a:off x="7467600" y="4831330"/>
                  <a:ext cx="3494243" cy="1359049"/>
                  <a:chOff x="7467600" y="4831330"/>
                  <a:chExt cx="3494243" cy="1359049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" name="TextBox 10">
                        <a:extLst>
                          <a:ext uri="{FF2B5EF4-FFF2-40B4-BE49-F238E27FC236}">
                            <a16:creationId xmlns:a16="http://schemas.microsoft.com/office/drawing/2014/main" id="{7EE2D84F-4056-4208-4323-3DC8F7452DB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467600" y="4831330"/>
                        <a:ext cx="3325204" cy="385012"/>
                      </a:xfrm>
                      <a:prstGeom prst="rect">
                        <a:avLst/>
                      </a:prstGeom>
                    </p:spPr>
                    <p:style>
                      <a:lnRef idx="3">
                        <a:schemeClr val="lt1"/>
                      </a:lnRef>
                      <a:fillRef idx="1">
                        <a:schemeClr val="accent3"/>
                      </a:fillRef>
                      <a:effectRef idx="1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𝑈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oMath>
                          </m:oMathPara>
                        </a14:m>
                        <a:endParaRPr lang="en-US" dirty="0"/>
                      </a:p>
                    </p:txBody>
                  </p:sp>
                </mc:Choice>
                <mc:Fallback xmlns="">
                  <p:sp>
                    <p:nvSpPr>
                      <p:cNvPr id="11" name="TextBox 10">
                        <a:extLst>
                          <a:ext uri="{FF2B5EF4-FFF2-40B4-BE49-F238E27FC236}">
                            <a16:creationId xmlns:a16="http://schemas.microsoft.com/office/drawing/2014/main" id="{7EE2D84F-4056-4208-4323-3DC8F7452DB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467600" y="4831330"/>
                        <a:ext cx="3325204" cy="385012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" name="TextBox 3">
                        <a:extLst>
                          <a:ext uri="{FF2B5EF4-FFF2-40B4-BE49-F238E27FC236}">
                            <a16:creationId xmlns:a16="http://schemas.microsoft.com/office/drawing/2014/main" id="{AA30E349-ECB3-964A-60AA-E1811149372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706346" y="5341203"/>
                        <a:ext cx="3255497" cy="849176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14:m>
                          <m:oMath xmlns:m="http://schemas.openxmlformats.org/officeDocument/2006/math"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𝜽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=(</m:t>
                            </m:r>
                            <m:sSub>
                              <m:sSub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a14:m>
                        <a:r>
                          <a:rPr lang="en-US" sz="1600" dirty="0"/>
                          <a:t> can be updated iteratively after each new observed reward using gradient descent.</a:t>
                        </a:r>
                      </a:p>
                    </p:txBody>
                  </p:sp>
                </mc:Choice>
                <mc:Fallback xmlns="">
                  <p:sp>
                    <p:nvSpPr>
                      <p:cNvPr id="4" name="TextBox 3">
                        <a:extLst>
                          <a:ext uri="{FF2B5EF4-FFF2-40B4-BE49-F238E27FC236}">
                            <a16:creationId xmlns:a16="http://schemas.microsoft.com/office/drawing/2014/main" id="{AA30E349-ECB3-964A-60AA-E1811149372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706346" y="5341203"/>
                        <a:ext cx="3255497" cy="849176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l="-936" t="-2206" b="-8824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6" name="Group 5">
                  <a:extLst>
                    <a:ext uri="{FF2B5EF4-FFF2-40B4-BE49-F238E27FC236}">
                      <a16:creationId xmlns:a16="http://schemas.microsoft.com/office/drawing/2014/main" id="{00B8D1A3-03A3-FD07-5185-52887B23E20A}"/>
                    </a:ext>
                  </a:extLst>
                </p:cNvPr>
                <p:cNvGrpSpPr/>
                <p:nvPr/>
              </p:nvGrpSpPr>
              <p:grpSpPr>
                <a:xfrm>
                  <a:off x="1090718" y="3831516"/>
                  <a:ext cx="3100383" cy="2554424"/>
                  <a:chOff x="1090718" y="3831516"/>
                  <a:chExt cx="3100383" cy="2554424"/>
                </a:xfrm>
              </p:grpSpPr>
              <p:pic>
                <p:nvPicPr>
                  <p:cNvPr id="5" name="Picture 4">
                    <a:extLst>
                      <a:ext uri="{FF2B5EF4-FFF2-40B4-BE49-F238E27FC236}">
                        <a16:creationId xmlns:a16="http://schemas.microsoft.com/office/drawing/2014/main" id="{B79E81CF-2921-8452-2486-6E9A31C6F1E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175657" y="4336064"/>
                    <a:ext cx="2786074" cy="2010277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8" name="TextBox 7">
                        <a:extLst>
                          <a:ext uri="{FF2B5EF4-FFF2-40B4-BE49-F238E27FC236}">
                            <a16:creationId xmlns:a16="http://schemas.microsoft.com/office/drawing/2014/main" id="{062C056B-67A1-C999-FF1E-354FEE12DC30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782260" y="3831516"/>
                        <a:ext cx="1662763" cy="4924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 algn="ctr"/>
                        <a:r>
                          <a:rPr lang="en-US" sz="1600" b="0" dirty="0"/>
                          <a:t>Value function </a:t>
                        </a:r>
                        <a14:m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  <m:d>
                              <m:d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oMath>
                        </a14:m>
                        <a:br>
                          <a:rPr lang="en-US" sz="1600" dirty="0"/>
                        </a:br>
                        <a:r>
                          <a:rPr lang="en-US" sz="1600" dirty="0"/>
                          <a:t>Stored as a table</a:t>
                        </a:r>
                      </a:p>
                    </p:txBody>
                  </p:sp>
                </mc:Choice>
                <mc:Fallback xmlns="">
                  <p:sp>
                    <p:nvSpPr>
                      <p:cNvPr id="8" name="TextBox 7">
                        <a:extLst>
                          <a:ext uri="{FF2B5EF4-FFF2-40B4-BE49-F238E27FC236}">
                            <a16:creationId xmlns:a16="http://schemas.microsoft.com/office/drawing/2014/main" id="{062C056B-67A1-C999-FF1E-354FEE12DC3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782260" y="3831516"/>
                        <a:ext cx="1662763" cy="492443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l="-6960" t="-13924" b="-2658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7" name="Straight Arrow Connector 6">
                    <a:extLst>
                      <a:ext uri="{FF2B5EF4-FFF2-40B4-BE49-F238E27FC236}">
                        <a16:creationId xmlns:a16="http://schemas.microsoft.com/office/drawing/2014/main" id="{E2B7C27F-8A41-F345-69FB-AC7CD88903BF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481126" y="6096000"/>
                    <a:ext cx="2480605" cy="0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" name="Straight Arrow Connector 12">
                    <a:extLst>
                      <a:ext uri="{FF2B5EF4-FFF2-40B4-BE49-F238E27FC236}">
                        <a16:creationId xmlns:a16="http://schemas.microsoft.com/office/drawing/2014/main" id="{6EAC0BD3-D37A-727D-9881-FC891701CDB0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1481126" y="4157965"/>
                    <a:ext cx="5763" cy="1938035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8" name="TextBox 17">
                        <a:extLst>
                          <a:ext uri="{FF2B5EF4-FFF2-40B4-BE49-F238E27FC236}">
                            <a16:creationId xmlns:a16="http://schemas.microsoft.com/office/drawing/2014/main" id="{16F31A7D-1842-EEE8-9088-75F7E641C352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732361" y="6016608"/>
                        <a:ext cx="458740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oMath>
                          </m:oMathPara>
                        </a14:m>
                        <a:endParaRPr lang="en-US" dirty="0"/>
                      </a:p>
                    </p:txBody>
                  </p:sp>
                </mc:Choice>
                <mc:Fallback xmlns="">
                  <p:sp>
                    <p:nvSpPr>
                      <p:cNvPr id="18" name="TextBox 17">
                        <a:extLst>
                          <a:ext uri="{FF2B5EF4-FFF2-40B4-BE49-F238E27FC236}">
                            <a16:creationId xmlns:a16="http://schemas.microsoft.com/office/drawing/2014/main" id="{16F31A7D-1842-EEE8-9088-75F7E641C35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732361" y="6016608"/>
                        <a:ext cx="458740" cy="369332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1" name="TextBox 20">
                        <a:extLst>
                          <a:ext uri="{FF2B5EF4-FFF2-40B4-BE49-F238E27FC236}">
                            <a16:creationId xmlns:a16="http://schemas.microsoft.com/office/drawing/2014/main" id="{95F7DF00-8D57-22C1-0E3F-03E7704FF952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90718" y="3992551"/>
                        <a:ext cx="458740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oMath>
                          </m:oMathPara>
                        </a14:m>
                        <a:endParaRPr lang="en-US" dirty="0"/>
                      </a:p>
                    </p:txBody>
                  </p:sp>
                </mc:Choice>
                <mc:Fallback xmlns="">
                  <p:sp>
                    <p:nvSpPr>
                      <p:cNvPr id="21" name="TextBox 20">
                        <a:extLst>
                          <a:ext uri="{FF2B5EF4-FFF2-40B4-BE49-F238E27FC236}">
                            <a16:creationId xmlns:a16="http://schemas.microsoft.com/office/drawing/2014/main" id="{95F7DF00-8D57-22C1-0E3F-03E7704FF95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90718" y="3992551"/>
                        <a:ext cx="458740" cy="369332"/>
                      </a:xfrm>
                      <a:prstGeom prst="rect">
                        <a:avLst/>
                      </a:prstGeom>
                      <a:blipFill>
                        <a:blip r:embed="rId11"/>
                        <a:stretch>
                          <a:fillRect b="-491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7E51BFA3-799B-3467-22C6-A9BBBBEFF570}"/>
                      </a:ext>
                    </a:extLst>
                  </p:cNvPr>
                  <p:cNvSpPr txBox="1"/>
                  <p:nvPr/>
                </p:nvSpPr>
                <p:spPr>
                  <a:xfrm>
                    <a:off x="7391400" y="4157965"/>
                    <a:ext cx="3255497" cy="59756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600" b="1" dirty="0"/>
                      <a:t>Example</a:t>
                    </a:r>
                    <a:r>
                      <a:rPr lang="en-US" sz="1600" dirty="0"/>
                      <a:t>: Linear approximation </a:t>
                    </a:r>
                    <a:br>
                      <a:rPr lang="en-US" sz="1600" dirty="0"/>
                    </a:br>
                    <a:r>
                      <a:rPr lang="en-US" sz="1600" dirty="0"/>
                      <a:t>using state features (</a:t>
                    </a:r>
                    <a14:m>
                      <m:oMath xmlns:m="http://schemas.openxmlformats.org/officeDocument/2006/math"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600" i="1" dirty="0" err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i="1" dirty="0" err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a14:m>
                    <a:r>
                      <a:rPr lang="en-US" sz="1600" dirty="0"/>
                      <a:t>)</a:t>
                    </a:r>
                  </a:p>
                </p:txBody>
              </p:sp>
            </mc:Choice>
            <mc:Fallback xmlns="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7E51BFA3-799B-3467-22C6-A9BBBBEFF57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91400" y="4157965"/>
                    <a:ext cx="3255497" cy="59756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t="-3125" b="-12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Arrow: Left-Right 16">
                  <a:extLst>
                    <a:ext uri="{FF2B5EF4-FFF2-40B4-BE49-F238E27FC236}">
                      <a16:creationId xmlns:a16="http://schemas.microsoft.com/office/drawing/2014/main" id="{76187655-A272-7256-4B2C-6C3AA921FBD3}"/>
                    </a:ext>
                  </a:extLst>
                </p:cNvPr>
                <p:cNvSpPr/>
                <p:nvPr/>
              </p:nvSpPr>
              <p:spPr>
                <a:xfrm>
                  <a:off x="4153930" y="4704144"/>
                  <a:ext cx="2948375" cy="689635"/>
                </a:xfrm>
                <a:prstGeom prst="leftRightArrow">
                  <a:avLst>
                    <a:gd name="adj1" fmla="val 62403"/>
                    <a:gd name="adj2" fmla="val 50593"/>
                  </a:avLst>
                </a:prstGeom>
              </p:spPr>
              <p:style>
                <a:lnRef idx="3">
                  <a:schemeClr val="lt1"/>
                </a:lnRef>
                <a:fillRef idx="1">
                  <a:schemeClr val="accent3"/>
                </a:fillRef>
                <a:effectRef idx="1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Table vs. approximate </a:t>
                  </a:r>
                  <a14:m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1600" dirty="0"/>
                    <a:t> </a:t>
                  </a:r>
                </a:p>
              </p:txBody>
            </p:sp>
          </mc:Choice>
          <mc:Fallback xmlns="">
            <p:sp>
              <p:nvSpPr>
                <p:cNvPr id="17" name="Arrow: Left-Right 16">
                  <a:extLst>
                    <a:ext uri="{FF2B5EF4-FFF2-40B4-BE49-F238E27FC236}">
                      <a16:creationId xmlns:a16="http://schemas.microsoft.com/office/drawing/2014/main" id="{76187655-A272-7256-4B2C-6C3AA921FB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3930" y="4704144"/>
                  <a:ext cx="2948375" cy="689635"/>
                </a:xfrm>
                <a:prstGeom prst="leftRightArrow">
                  <a:avLst>
                    <a:gd name="adj1" fmla="val 62403"/>
                    <a:gd name="adj2" fmla="val 50593"/>
                  </a:avLst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92576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72A8A02-00F5-B4C2-52FA-2210204A8D8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/>
        </p:nvSpPr>
        <p:spPr>
          <a:xfrm>
            <a:off x="838200" y="432756"/>
            <a:ext cx="4114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Traditional Tabular Q-Learning</a:t>
            </a:r>
          </a:p>
        </p:txBody>
      </p:sp>
      <p:grpSp>
        <p:nvGrpSpPr>
          <p:cNvPr id="2" name="Group 1" descr="The Q-Learning Algorithm.">
            <a:extLst>
              <a:ext uri="{FF2B5EF4-FFF2-40B4-BE49-F238E27FC236}">
                <a16:creationId xmlns:a16="http://schemas.microsoft.com/office/drawing/2014/main" id="{A1B3247E-E4B5-D3AE-E55A-4E20275D359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GrpSpPr/>
          <p:nvPr/>
        </p:nvGrpSpPr>
        <p:grpSpPr>
          <a:xfrm>
            <a:off x="5167199" y="280356"/>
            <a:ext cx="6809382" cy="2895998"/>
            <a:chOff x="5167199" y="280356"/>
            <a:chExt cx="6809382" cy="2895998"/>
          </a:xfrm>
        </p:grpSpPr>
        <p:grpSp>
          <p:nvGrpSpPr>
            <p:cNvPr id="190" name="Group 189">
              <a:extLst>
                <a:ext uri="{FF2B5EF4-FFF2-40B4-BE49-F238E27FC236}">
                  <a16:creationId xmlns:a16="http://schemas.microsoft.com/office/drawing/2014/main" id="{B74DAAE3-EE9A-77B1-B476-709FCDB0DA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5167199" y="280356"/>
              <a:ext cx="6809382" cy="2895998"/>
              <a:chOff x="6934915" y="1470919"/>
              <a:chExt cx="6809382" cy="2895998"/>
            </a:xfrm>
          </p:grpSpPr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AC5424B3-B894-F884-C2A4-0188E3F77CF1}"/>
                  </a:ext>
                </a:extLst>
              </p:cNvPr>
              <p:cNvSpPr/>
              <p:nvPr/>
            </p:nvSpPr>
            <p:spPr>
              <a:xfrm>
                <a:off x="6934915" y="1470919"/>
                <a:ext cx="6809382" cy="2895998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88" name="Picture 187">
                <a:extLst>
                  <a:ext uri="{FF2B5EF4-FFF2-40B4-BE49-F238E27FC236}">
                    <a16:creationId xmlns:a16="http://schemas.microsoft.com/office/drawing/2014/main" id="{6CA99177-D5BE-FCEA-AE52-C9B895C5763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r="2964" b="6008"/>
              <a:stretch/>
            </p:blipFill>
            <p:spPr>
              <a:xfrm>
                <a:off x="7021489" y="1608692"/>
                <a:ext cx="6617315" cy="2548030"/>
              </a:xfrm>
              <a:prstGeom prst="rect">
                <a:avLst/>
              </a:prstGeom>
            </p:spPr>
          </p:pic>
        </p:grp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294667CD-5912-6F20-AA27-018B5AB28F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808461" y="2192434"/>
              <a:ext cx="621539" cy="240012"/>
            </a:xfrm>
            <a:prstGeom prst="rect">
              <a:avLst/>
            </a:prstGeom>
            <a:noFill/>
            <a:ln w="28575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1" name="Straight Connector 200">
              <a:extLst>
                <a:ext uri="{FF2B5EF4-FFF2-40B4-BE49-F238E27FC236}">
                  <a16:creationId xmlns:a16="http://schemas.microsoft.com/office/drawing/2014/main" id="{35AFA839-585E-943B-16DE-AE29100E95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>
              <a:off x="8686800" y="2451927"/>
              <a:ext cx="1752600" cy="0"/>
            </a:xfrm>
            <a:prstGeom prst="line">
              <a:avLst/>
            </a:prstGeom>
          </p:spPr>
          <p:style>
            <a:lnRef idx="3">
              <a:schemeClr val="accent5"/>
            </a:lnRef>
            <a:fillRef idx="0">
              <a:schemeClr val="accent5"/>
            </a:fillRef>
            <a:effectRef idx="2">
              <a:schemeClr val="accent5"/>
            </a:effectRef>
            <a:fontRef idx="minor">
              <a:schemeClr val="tx1"/>
            </a:fontRef>
          </p:style>
        </p:cxn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57084D53-0D1E-3AEC-E455-B617326D7C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9067800" y="1863075"/>
              <a:ext cx="7559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1"/>
                  </a:solidFill>
                </a:rPr>
                <a:t>target</a:t>
              </a:r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BF6ACC1D-2546-C6E3-33E3-5DAA38AA0F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10546630" y="1818775"/>
              <a:ext cx="11615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prediction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431D8026-A8C5-A9A2-66B1-EDB065BC717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02329720"/>
                  </p:ext>
                </p:extLst>
              </p:nvPr>
            </p:nvGraphicFramePr>
            <p:xfrm>
              <a:off x="1950845" y="1002909"/>
              <a:ext cx="1698372" cy="13411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326771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364851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006750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2271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600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600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227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0.7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227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0.3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227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431D8026-A8C5-A9A2-66B1-EDB065BC717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02329720"/>
                  </p:ext>
                </p:extLst>
              </p:nvPr>
            </p:nvGraphicFramePr>
            <p:xfrm>
              <a:off x="1950845" y="1002909"/>
              <a:ext cx="1698372" cy="13411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326771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364851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006750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352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704" t="-1818" r="-424074" b="-32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93333" t="-1818" r="-281667" b="-32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0303" t="-1818" r="-2424" b="-32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0.7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0.3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91EB5440-AACF-1E9B-C0F0-D850E3EFB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048875" y="1303176"/>
            <a:ext cx="4122774" cy="1440024"/>
            <a:chOff x="1048875" y="1303176"/>
            <a:chExt cx="4122774" cy="144002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B6D7941-8C9C-7728-BE39-ABB7486AD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2308370" y="2373868"/>
              <a:ext cx="1295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Q-Table</a:t>
              </a:r>
            </a:p>
          </p:txBody>
        </p:sp>
        <p:sp>
          <p:nvSpPr>
            <p:cNvPr id="15" name="Arrow: Right 14">
              <a:extLst>
                <a:ext uri="{FF2B5EF4-FFF2-40B4-BE49-F238E27FC236}">
                  <a16:creationId xmlns:a16="http://schemas.microsoft.com/office/drawing/2014/main" id="{7BA65B55-B166-B783-6C17-12474C3375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61648" y="1478279"/>
              <a:ext cx="425911" cy="533400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Arrow: Right 15">
              <a:extLst>
                <a:ext uri="{FF2B5EF4-FFF2-40B4-BE49-F238E27FC236}">
                  <a16:creationId xmlns:a16="http://schemas.microsoft.com/office/drawing/2014/main" id="{E41B854A-B26F-A867-5576-E92AB8B13F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931233" y="1379376"/>
              <a:ext cx="384215" cy="533400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A799EDA-F1CF-21FA-2460-16B5DF1A3F8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048875" y="1562817"/>
                  <a:ext cx="34971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A799EDA-F1CF-21FA-2460-16B5DF1A3F8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8875" y="1562817"/>
                  <a:ext cx="349711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9BD8F4E-CB61-901A-EF8B-ADA93188C07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4246909" y="1428214"/>
                  <a:ext cx="9247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9BD8F4E-CB61-901A-EF8B-ADA93188C07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6909" y="1428214"/>
                  <a:ext cx="924740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2" name="Right Brace 191">
              <a:extLst>
                <a:ext uri="{FF2B5EF4-FFF2-40B4-BE49-F238E27FC236}">
                  <a16:creationId xmlns:a16="http://schemas.microsoft.com/office/drawing/2014/main" id="{CF49E2AF-5889-16D1-A24E-24DE87EDB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41891" y="1303176"/>
              <a:ext cx="70612" cy="628973"/>
            </a:xfrm>
            <a:prstGeom prst="rightBrac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03B38412-4F9E-C68B-578A-4C6B34FB81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29787" y="3714030"/>
            <a:ext cx="3920629" cy="2298411"/>
            <a:chOff x="1129787" y="3714030"/>
            <a:chExt cx="3920629" cy="229841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F55DD91-1925-A223-381C-4413B11527A3}"/>
                </a:ext>
                <a:ext uri="{C183D7F6-B498-43B3-948B-1728B52AA6E4}">
                  <adec:decorative xmlns:adec="http://schemas.microsoft.com/office/drawing/2017/decorative" val="0"/>
                </a:ext>
              </a:extLst>
            </p:cNvPr>
            <p:cNvSpPr txBox="1"/>
            <p:nvPr/>
          </p:nvSpPr>
          <p:spPr>
            <a:xfrm>
              <a:off x="1865224" y="5366110"/>
              <a:ext cx="19119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Q-Table as a Deep Q-Network (DQN)</a:t>
              </a:r>
            </a:p>
          </p:txBody>
        </p: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69FE2C4B-640F-E78C-BFDC-18CC2E3126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2124428" y="4079165"/>
              <a:ext cx="1295400" cy="1235724"/>
              <a:chOff x="4410942" y="4599774"/>
              <a:chExt cx="1577400" cy="1648626"/>
            </a:xfrm>
          </p:grpSpPr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54A3E51F-FFF9-14E6-8294-B95AD655F75F}"/>
                  </a:ext>
                </a:extLst>
              </p:cNvPr>
              <p:cNvSpPr/>
              <p:nvPr/>
            </p:nvSpPr>
            <p:spPr>
              <a:xfrm>
                <a:off x="4889892" y="4752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DA896806-4F22-709F-2945-82251EECCCF1}"/>
                  </a:ext>
                </a:extLst>
              </p:cNvPr>
              <p:cNvSpPr/>
              <p:nvPr/>
            </p:nvSpPr>
            <p:spPr>
              <a:xfrm>
                <a:off x="4889892" y="5007830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F79CAD54-8116-1EC5-8378-408672670F5F}"/>
                  </a:ext>
                </a:extLst>
              </p:cNvPr>
              <p:cNvSpPr/>
              <p:nvPr/>
            </p:nvSpPr>
            <p:spPr>
              <a:xfrm>
                <a:off x="4889892" y="52855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8176A9EE-739E-EE2A-F1D5-B62D39BC6FCF}"/>
                  </a:ext>
                </a:extLst>
              </p:cNvPr>
              <p:cNvSpPr/>
              <p:nvPr/>
            </p:nvSpPr>
            <p:spPr>
              <a:xfrm>
                <a:off x="4889892" y="55903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F577F11A-11D0-A734-5EC2-93355CB042D7}"/>
                  </a:ext>
                </a:extLst>
              </p:cNvPr>
              <p:cNvSpPr/>
              <p:nvPr/>
            </p:nvSpPr>
            <p:spPr>
              <a:xfrm>
                <a:off x="5347092" y="49045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71FDFB93-056C-77A5-B41E-B24A1E72F658}"/>
                  </a:ext>
                </a:extLst>
              </p:cNvPr>
              <p:cNvSpPr/>
              <p:nvPr/>
            </p:nvSpPr>
            <p:spPr>
              <a:xfrm>
                <a:off x="5347092" y="5133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22890B2B-2FE6-7312-445D-A92688A998FE}"/>
                  </a:ext>
                </a:extLst>
              </p:cNvPr>
              <p:cNvSpPr/>
              <p:nvPr/>
            </p:nvSpPr>
            <p:spPr>
              <a:xfrm>
                <a:off x="5347092" y="54379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1BA6B438-917F-ABCE-C0A4-2907E6D90F3D}"/>
                  </a:ext>
                </a:extLst>
              </p:cNvPr>
              <p:cNvSpPr/>
              <p:nvPr/>
            </p:nvSpPr>
            <p:spPr>
              <a:xfrm>
                <a:off x="5835942" y="4752949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524FECAC-8FEA-9F8F-47BC-B66D459AB483}"/>
                  </a:ext>
                </a:extLst>
              </p:cNvPr>
              <p:cNvSpPr/>
              <p:nvPr/>
            </p:nvSpPr>
            <p:spPr>
              <a:xfrm>
                <a:off x="5835942" y="50306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7AE2977A-7560-27AE-4617-2A627DD0CFA7}"/>
                  </a:ext>
                </a:extLst>
              </p:cNvPr>
              <p:cNvSpPr/>
              <p:nvPr/>
            </p:nvSpPr>
            <p:spPr>
              <a:xfrm>
                <a:off x="5835942" y="53354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0977BC3C-A10B-4B10-738D-AE0FD67AFF90}"/>
                  </a:ext>
                </a:extLst>
              </p:cNvPr>
              <p:cNvSpPr/>
              <p:nvPr/>
            </p:nvSpPr>
            <p:spPr>
              <a:xfrm>
                <a:off x="5835942" y="56402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A51C7C72-72C0-F1AE-2813-0C674D1FD123}"/>
                  </a:ext>
                </a:extLst>
              </p:cNvPr>
              <p:cNvSpPr/>
              <p:nvPr/>
            </p:nvSpPr>
            <p:spPr>
              <a:xfrm>
                <a:off x="4889892" y="5895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8DF222A6-72E3-AE99-6B32-04D62CAF011B}"/>
                  </a:ext>
                </a:extLst>
              </p:cNvPr>
              <p:cNvSpPr/>
              <p:nvPr/>
            </p:nvSpPr>
            <p:spPr>
              <a:xfrm>
                <a:off x="5347092" y="5742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D2F1B649-D751-F414-7939-C68ED4D7FC9C}"/>
                  </a:ext>
                </a:extLst>
              </p:cNvPr>
              <p:cNvSpPr/>
              <p:nvPr/>
            </p:nvSpPr>
            <p:spPr>
              <a:xfrm>
                <a:off x="5835942" y="59450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BAA4B345-C95D-E4B9-D157-F13FC9C5B46D}"/>
                  </a:ext>
                </a:extLst>
              </p:cNvPr>
              <p:cNvCxnSpPr>
                <a:cxnSpLocks/>
                <a:stCxn id="26" idx="6"/>
                <a:endCxn id="30" idx="1"/>
              </p:cNvCxnSpPr>
              <p:nvPr/>
            </p:nvCxnSpPr>
            <p:spPr>
              <a:xfrm>
                <a:off x="5042292" y="4841902"/>
                <a:ext cx="327118" cy="889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4E2EA9B5-6F5E-07F4-0050-6D098DD74992}"/>
                  </a:ext>
                </a:extLst>
              </p:cNvPr>
              <p:cNvCxnSpPr>
                <a:cxnSpLocks/>
                <a:stCxn id="27" idx="6"/>
                <a:endCxn id="30" idx="2"/>
              </p:cNvCxnSpPr>
              <p:nvPr/>
            </p:nvCxnSpPr>
            <p:spPr>
              <a:xfrm flipV="1">
                <a:off x="5042292" y="4994302"/>
                <a:ext cx="304800" cy="103256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EA2D0B20-B47D-85EF-ED4D-7F686F7BBEEB}"/>
                  </a:ext>
                </a:extLst>
              </p:cNvPr>
              <p:cNvCxnSpPr>
                <a:cxnSpLocks/>
                <a:stCxn id="28" idx="6"/>
                <a:endCxn id="31" idx="2"/>
              </p:cNvCxnSpPr>
              <p:nvPr/>
            </p:nvCxnSpPr>
            <p:spPr>
              <a:xfrm flipV="1">
                <a:off x="5042292" y="52229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4BE80925-4E41-72C5-3AD8-A5B17ADA3319}"/>
                  </a:ext>
                </a:extLst>
              </p:cNvPr>
              <p:cNvCxnSpPr>
                <a:cxnSpLocks/>
                <a:stCxn id="27" idx="6"/>
                <a:endCxn id="31" idx="2"/>
              </p:cNvCxnSpPr>
              <p:nvPr/>
            </p:nvCxnSpPr>
            <p:spPr>
              <a:xfrm>
                <a:off x="5042292" y="5097558"/>
                <a:ext cx="304800" cy="1253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17824EBB-76AE-DDBB-54CE-48C43EF5893F}"/>
                  </a:ext>
                </a:extLst>
              </p:cNvPr>
              <p:cNvCxnSpPr>
                <a:cxnSpLocks/>
                <a:stCxn id="29" idx="6"/>
                <a:endCxn id="32" idx="2"/>
              </p:cNvCxnSpPr>
              <p:nvPr/>
            </p:nvCxnSpPr>
            <p:spPr>
              <a:xfrm flipV="1">
                <a:off x="5042292" y="55277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9AA655ED-EFD0-8122-0DEF-51E1C8659686}"/>
                  </a:ext>
                </a:extLst>
              </p:cNvPr>
              <p:cNvCxnSpPr>
                <a:cxnSpLocks/>
                <a:stCxn id="28" idx="6"/>
                <a:endCxn id="32" idx="2"/>
              </p:cNvCxnSpPr>
              <p:nvPr/>
            </p:nvCxnSpPr>
            <p:spPr>
              <a:xfrm>
                <a:off x="5042293" y="5375303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8A80259B-EFE5-D00C-F9F0-6D54A4A20A70}"/>
                  </a:ext>
                </a:extLst>
              </p:cNvPr>
              <p:cNvCxnSpPr>
                <a:cxnSpLocks/>
                <a:stCxn id="29" idx="6"/>
                <a:endCxn id="38" idx="2"/>
              </p:cNvCxnSpPr>
              <p:nvPr/>
            </p:nvCxnSpPr>
            <p:spPr>
              <a:xfrm>
                <a:off x="5042292" y="56801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76D027A7-ED7B-859E-E7D5-BF3F927507FB}"/>
                  </a:ext>
                </a:extLst>
              </p:cNvPr>
              <p:cNvCxnSpPr>
                <a:cxnSpLocks/>
                <a:stCxn id="37" idx="6"/>
                <a:endCxn id="38" idx="2"/>
              </p:cNvCxnSpPr>
              <p:nvPr/>
            </p:nvCxnSpPr>
            <p:spPr>
              <a:xfrm flipV="1">
                <a:off x="5042292" y="58325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36035168-DDDD-60D4-28C4-B28AC830FAEA}"/>
                  </a:ext>
                </a:extLst>
              </p:cNvPr>
              <p:cNvCxnSpPr>
                <a:cxnSpLocks/>
                <a:stCxn id="37" idx="6"/>
                <a:endCxn id="32" idx="2"/>
              </p:cNvCxnSpPr>
              <p:nvPr/>
            </p:nvCxnSpPr>
            <p:spPr>
              <a:xfrm flipV="1">
                <a:off x="5042292" y="5527702"/>
                <a:ext cx="30480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1E6E32E3-0834-B7F0-12AE-97BFDBE3E4C0}"/>
                  </a:ext>
                </a:extLst>
              </p:cNvPr>
              <p:cNvCxnSpPr>
                <a:cxnSpLocks/>
                <a:stCxn id="29" idx="6"/>
                <a:endCxn id="31" idx="3"/>
              </p:cNvCxnSpPr>
              <p:nvPr/>
            </p:nvCxnSpPr>
            <p:spPr>
              <a:xfrm flipV="1">
                <a:off x="5042292" y="5286349"/>
                <a:ext cx="327118" cy="3937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9227B438-EFF2-A736-5EE9-88EA958E537A}"/>
                  </a:ext>
                </a:extLst>
              </p:cNvPr>
              <p:cNvCxnSpPr>
                <a:cxnSpLocks/>
                <a:stCxn id="28" idx="6"/>
                <a:endCxn id="30" idx="3"/>
              </p:cNvCxnSpPr>
              <p:nvPr/>
            </p:nvCxnSpPr>
            <p:spPr>
              <a:xfrm flipV="1">
                <a:off x="5042292" y="5057749"/>
                <a:ext cx="327118" cy="3175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14F89684-5118-5401-DD30-AA0770FEC919}"/>
                  </a:ext>
                </a:extLst>
              </p:cNvPr>
              <p:cNvCxnSpPr>
                <a:cxnSpLocks/>
                <a:stCxn id="26" idx="6"/>
                <a:endCxn id="31" idx="1"/>
              </p:cNvCxnSpPr>
              <p:nvPr/>
            </p:nvCxnSpPr>
            <p:spPr>
              <a:xfrm>
                <a:off x="5042292" y="4841902"/>
                <a:ext cx="327118" cy="3175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8E8BF0CB-B4D5-30C1-0361-54F081971711}"/>
                  </a:ext>
                </a:extLst>
              </p:cNvPr>
              <p:cNvCxnSpPr>
                <a:cxnSpLocks/>
                <a:stCxn id="28" idx="6"/>
                <a:endCxn id="38" idx="2"/>
              </p:cNvCxnSpPr>
              <p:nvPr/>
            </p:nvCxnSpPr>
            <p:spPr>
              <a:xfrm>
                <a:off x="5042292" y="5375302"/>
                <a:ext cx="30480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7D331FA7-72C3-7AAA-A557-126FFC1765C3}"/>
                  </a:ext>
                </a:extLst>
              </p:cNvPr>
              <p:cNvCxnSpPr>
                <a:cxnSpLocks/>
                <a:stCxn id="30" idx="6"/>
                <a:endCxn id="33" idx="2"/>
              </p:cNvCxnSpPr>
              <p:nvPr/>
            </p:nvCxnSpPr>
            <p:spPr>
              <a:xfrm flipV="1">
                <a:off x="5499492" y="4842677"/>
                <a:ext cx="336450" cy="1516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BCF71931-0D92-EE36-7DA4-B347E8CBAFDB}"/>
                  </a:ext>
                </a:extLst>
              </p:cNvPr>
              <p:cNvCxnSpPr>
                <a:cxnSpLocks/>
                <a:stCxn id="31" idx="6"/>
                <a:endCxn id="33" idx="2"/>
              </p:cNvCxnSpPr>
              <p:nvPr/>
            </p:nvCxnSpPr>
            <p:spPr>
              <a:xfrm flipV="1">
                <a:off x="5499492" y="4842677"/>
                <a:ext cx="336450" cy="3802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1EB37A87-DDED-ED18-BD50-BFC9AA9E6DE1}"/>
                  </a:ext>
                </a:extLst>
              </p:cNvPr>
              <p:cNvCxnSpPr>
                <a:cxnSpLocks/>
                <a:stCxn id="32" idx="6"/>
                <a:endCxn id="34" idx="2"/>
              </p:cNvCxnSpPr>
              <p:nvPr/>
            </p:nvCxnSpPr>
            <p:spPr>
              <a:xfrm flipV="1">
                <a:off x="5499492" y="5120421"/>
                <a:ext cx="336450" cy="4072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48711D31-7FF9-36E2-94D6-05B23FAEB79B}"/>
                  </a:ext>
                </a:extLst>
              </p:cNvPr>
              <p:cNvCxnSpPr>
                <a:cxnSpLocks/>
                <a:stCxn id="38" idx="6"/>
                <a:endCxn id="35" idx="2"/>
              </p:cNvCxnSpPr>
              <p:nvPr/>
            </p:nvCxnSpPr>
            <p:spPr>
              <a:xfrm flipV="1">
                <a:off x="5499492" y="5425221"/>
                <a:ext cx="336450" cy="4072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2D9B20E3-2313-31A3-B9AD-360C449EEAC7}"/>
                  </a:ext>
                </a:extLst>
              </p:cNvPr>
              <p:cNvCxnSpPr>
                <a:cxnSpLocks/>
                <a:stCxn id="38" idx="6"/>
                <a:endCxn id="39" idx="1"/>
              </p:cNvCxnSpPr>
              <p:nvPr/>
            </p:nvCxnSpPr>
            <p:spPr>
              <a:xfrm>
                <a:off x="5499492" y="5832502"/>
                <a:ext cx="358768" cy="138872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8" name="Straight Connector 77">
                <a:extLst>
                  <a:ext uri="{FF2B5EF4-FFF2-40B4-BE49-F238E27FC236}">
                    <a16:creationId xmlns:a16="http://schemas.microsoft.com/office/drawing/2014/main" id="{554F237F-A050-4DD1-9F7C-4066BE3E90D2}"/>
                  </a:ext>
                </a:extLst>
              </p:cNvPr>
              <p:cNvCxnSpPr>
                <a:cxnSpLocks/>
                <a:stCxn id="38" idx="6"/>
                <a:endCxn id="36" idx="2"/>
              </p:cNvCxnSpPr>
              <p:nvPr/>
            </p:nvCxnSpPr>
            <p:spPr>
              <a:xfrm flipV="1">
                <a:off x="5499492" y="5730021"/>
                <a:ext cx="336450" cy="1024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AD8807E0-1ABB-9E1B-509F-6901CB0848E2}"/>
                  </a:ext>
                </a:extLst>
              </p:cNvPr>
              <p:cNvCxnSpPr>
                <a:cxnSpLocks/>
                <a:stCxn id="32" idx="6"/>
                <a:endCxn id="35" idx="2"/>
              </p:cNvCxnSpPr>
              <p:nvPr/>
            </p:nvCxnSpPr>
            <p:spPr>
              <a:xfrm flipV="1">
                <a:off x="5499492" y="5425221"/>
                <a:ext cx="336450" cy="1024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D1EF2E97-2286-1307-B568-615126BC8BD4}"/>
                  </a:ext>
                </a:extLst>
              </p:cNvPr>
              <p:cNvCxnSpPr>
                <a:cxnSpLocks/>
                <a:stCxn id="30" idx="6"/>
                <a:endCxn id="34" idx="2"/>
              </p:cNvCxnSpPr>
              <p:nvPr/>
            </p:nvCxnSpPr>
            <p:spPr>
              <a:xfrm>
                <a:off x="5499493" y="4994303"/>
                <a:ext cx="336449" cy="1261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19929270-F1F2-FE68-D26E-E9C4668B1DC5}"/>
                  </a:ext>
                </a:extLst>
              </p:cNvPr>
              <p:cNvCxnSpPr>
                <a:cxnSpLocks/>
                <a:stCxn id="31" idx="6"/>
                <a:endCxn id="35" idx="2"/>
              </p:cNvCxnSpPr>
              <p:nvPr/>
            </p:nvCxnSpPr>
            <p:spPr>
              <a:xfrm>
                <a:off x="5499492" y="5222902"/>
                <a:ext cx="336450" cy="2023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9C333F51-CEEB-AA76-CC9E-E2AC8097CF32}"/>
                  </a:ext>
                </a:extLst>
              </p:cNvPr>
              <p:cNvCxnSpPr>
                <a:cxnSpLocks/>
                <a:stCxn id="32" idx="6"/>
                <a:endCxn id="36" idx="2"/>
              </p:cNvCxnSpPr>
              <p:nvPr/>
            </p:nvCxnSpPr>
            <p:spPr>
              <a:xfrm>
                <a:off x="5499492" y="5527702"/>
                <a:ext cx="336450" cy="2023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B8C0FFA5-06FC-07B2-8369-88953584CD29}"/>
                  </a:ext>
                </a:extLst>
              </p:cNvPr>
              <p:cNvCxnSpPr>
                <a:cxnSpLocks/>
                <a:stCxn id="30" idx="6"/>
                <a:endCxn id="35" idx="2"/>
              </p:cNvCxnSpPr>
              <p:nvPr/>
            </p:nvCxnSpPr>
            <p:spPr>
              <a:xfrm>
                <a:off x="5499492" y="4994302"/>
                <a:ext cx="336450" cy="4309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C9F89BA8-6BFE-902C-908B-C916C511F7DE}"/>
                  </a:ext>
                </a:extLst>
              </p:cNvPr>
              <p:cNvCxnSpPr>
                <a:cxnSpLocks/>
                <a:stCxn id="32" idx="6"/>
                <a:endCxn id="33" idx="2"/>
              </p:cNvCxnSpPr>
              <p:nvPr/>
            </p:nvCxnSpPr>
            <p:spPr>
              <a:xfrm flipV="1">
                <a:off x="5499492" y="4842677"/>
                <a:ext cx="336450" cy="6850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93" name="Straight Connector 92">
                <a:extLst>
                  <a:ext uri="{FF2B5EF4-FFF2-40B4-BE49-F238E27FC236}">
                    <a16:creationId xmlns:a16="http://schemas.microsoft.com/office/drawing/2014/main" id="{17A96BDC-9D99-CC10-2860-04713095AC4D}"/>
                  </a:ext>
                </a:extLst>
              </p:cNvPr>
              <p:cNvCxnSpPr>
                <a:cxnSpLocks/>
                <a:stCxn id="32" idx="6"/>
                <a:endCxn id="39" idx="1"/>
              </p:cNvCxnSpPr>
              <p:nvPr/>
            </p:nvCxnSpPr>
            <p:spPr>
              <a:xfrm>
                <a:off x="5499492" y="5527702"/>
                <a:ext cx="358768" cy="443672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95" name="Straight Connector 94">
                <a:extLst>
                  <a:ext uri="{FF2B5EF4-FFF2-40B4-BE49-F238E27FC236}">
                    <a16:creationId xmlns:a16="http://schemas.microsoft.com/office/drawing/2014/main" id="{19BB5CC4-BE17-7255-1985-26EB528A1D36}"/>
                  </a:ext>
                </a:extLst>
              </p:cNvPr>
              <p:cNvCxnSpPr>
                <a:cxnSpLocks/>
                <a:stCxn id="38" idx="6"/>
                <a:endCxn id="34" idx="2"/>
              </p:cNvCxnSpPr>
              <p:nvPr/>
            </p:nvCxnSpPr>
            <p:spPr>
              <a:xfrm flipV="1">
                <a:off x="5499492" y="5120421"/>
                <a:ext cx="336450" cy="7120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sp>
            <p:nvSpPr>
              <p:cNvPr id="111" name="Oval 110">
                <a:extLst>
                  <a:ext uri="{FF2B5EF4-FFF2-40B4-BE49-F238E27FC236}">
                    <a16:creationId xmlns:a16="http://schemas.microsoft.com/office/drawing/2014/main" id="{C10DCC4D-0511-9D7B-4B0A-A858A308AB82}"/>
                  </a:ext>
                </a:extLst>
              </p:cNvPr>
              <p:cNvSpPr/>
              <p:nvPr/>
            </p:nvSpPr>
            <p:spPr>
              <a:xfrm>
                <a:off x="4410942" y="4599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04BC0327-C156-AC32-077B-ED75F583F19F}"/>
                  </a:ext>
                </a:extLst>
              </p:cNvPr>
              <p:cNvSpPr/>
              <p:nvPr/>
            </p:nvSpPr>
            <p:spPr>
              <a:xfrm>
                <a:off x="4410942" y="4855430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D4E10286-BF8B-9F7E-CBB8-95A50FAABBAB}"/>
                  </a:ext>
                </a:extLst>
              </p:cNvPr>
              <p:cNvSpPr/>
              <p:nvPr/>
            </p:nvSpPr>
            <p:spPr>
              <a:xfrm>
                <a:off x="4410942" y="5133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Oval 113">
                <a:extLst>
                  <a:ext uri="{FF2B5EF4-FFF2-40B4-BE49-F238E27FC236}">
                    <a16:creationId xmlns:a16="http://schemas.microsoft.com/office/drawing/2014/main" id="{ADE25434-178A-766D-2DE6-4D9C3CBD46C7}"/>
                  </a:ext>
                </a:extLst>
              </p:cNvPr>
              <p:cNvSpPr/>
              <p:nvPr/>
            </p:nvSpPr>
            <p:spPr>
              <a:xfrm>
                <a:off x="4410942" y="54379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Oval 114">
                <a:extLst>
                  <a:ext uri="{FF2B5EF4-FFF2-40B4-BE49-F238E27FC236}">
                    <a16:creationId xmlns:a16="http://schemas.microsoft.com/office/drawing/2014/main" id="{3DE472A4-728E-2D31-3D2A-C24FFACE438B}"/>
                  </a:ext>
                </a:extLst>
              </p:cNvPr>
              <p:cNvSpPr/>
              <p:nvPr/>
            </p:nvSpPr>
            <p:spPr>
              <a:xfrm>
                <a:off x="4410942" y="5742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Oval 115">
                <a:extLst>
                  <a:ext uri="{FF2B5EF4-FFF2-40B4-BE49-F238E27FC236}">
                    <a16:creationId xmlns:a16="http://schemas.microsoft.com/office/drawing/2014/main" id="{C47324E1-9CB0-9CEE-559E-2D431F74E744}"/>
                  </a:ext>
                </a:extLst>
              </p:cNvPr>
              <p:cNvSpPr/>
              <p:nvPr/>
            </p:nvSpPr>
            <p:spPr>
              <a:xfrm>
                <a:off x="4419600" y="606894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E77B832A-2D0D-C2BD-6C39-7E635D7CCA65}"/>
                  </a:ext>
                </a:extLst>
              </p:cNvPr>
              <p:cNvCxnSpPr>
                <a:cxnSpLocks/>
                <a:stCxn id="111" idx="6"/>
                <a:endCxn id="26" idx="2"/>
              </p:cNvCxnSpPr>
              <p:nvPr/>
            </p:nvCxnSpPr>
            <p:spPr>
              <a:xfrm>
                <a:off x="4563342" y="46895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46" name="Straight Connector 145">
                <a:extLst>
                  <a:ext uri="{FF2B5EF4-FFF2-40B4-BE49-F238E27FC236}">
                    <a16:creationId xmlns:a16="http://schemas.microsoft.com/office/drawing/2014/main" id="{B0A83919-CAE2-DA56-5674-15363AB9D2E6}"/>
                  </a:ext>
                </a:extLst>
              </p:cNvPr>
              <p:cNvCxnSpPr>
                <a:cxnSpLocks/>
                <a:stCxn id="112" idx="6"/>
                <a:endCxn id="27" idx="2"/>
              </p:cNvCxnSpPr>
              <p:nvPr/>
            </p:nvCxnSpPr>
            <p:spPr>
              <a:xfrm>
                <a:off x="4563342" y="4945158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47" name="Straight Connector 146">
                <a:extLst>
                  <a:ext uri="{FF2B5EF4-FFF2-40B4-BE49-F238E27FC236}">
                    <a16:creationId xmlns:a16="http://schemas.microsoft.com/office/drawing/2014/main" id="{35FAA2D4-1425-2D3C-B243-FCDAF49F4FC6}"/>
                  </a:ext>
                </a:extLst>
              </p:cNvPr>
              <p:cNvCxnSpPr>
                <a:cxnSpLocks/>
                <a:stCxn id="113" idx="6"/>
                <a:endCxn id="28" idx="2"/>
              </p:cNvCxnSpPr>
              <p:nvPr/>
            </p:nvCxnSpPr>
            <p:spPr>
              <a:xfrm>
                <a:off x="4563342" y="52229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48" name="Straight Connector 147">
                <a:extLst>
                  <a:ext uri="{FF2B5EF4-FFF2-40B4-BE49-F238E27FC236}">
                    <a16:creationId xmlns:a16="http://schemas.microsoft.com/office/drawing/2014/main" id="{1609BAA6-23C0-AF4C-EC18-7B0A71D18708}"/>
                  </a:ext>
                </a:extLst>
              </p:cNvPr>
              <p:cNvCxnSpPr>
                <a:cxnSpLocks/>
                <a:stCxn id="114" idx="6"/>
                <a:endCxn id="29" idx="2"/>
              </p:cNvCxnSpPr>
              <p:nvPr/>
            </p:nvCxnSpPr>
            <p:spPr>
              <a:xfrm>
                <a:off x="4563342" y="55277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49" name="Straight Connector 148">
                <a:extLst>
                  <a:ext uri="{FF2B5EF4-FFF2-40B4-BE49-F238E27FC236}">
                    <a16:creationId xmlns:a16="http://schemas.microsoft.com/office/drawing/2014/main" id="{C65A7D68-073B-3EB6-D491-6B0FB719126D}"/>
                  </a:ext>
                </a:extLst>
              </p:cNvPr>
              <p:cNvCxnSpPr>
                <a:cxnSpLocks/>
                <a:stCxn id="115" idx="6"/>
                <a:endCxn id="37" idx="2"/>
              </p:cNvCxnSpPr>
              <p:nvPr/>
            </p:nvCxnSpPr>
            <p:spPr>
              <a:xfrm>
                <a:off x="4563342" y="58325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50" name="Straight Connector 149">
                <a:extLst>
                  <a:ext uri="{FF2B5EF4-FFF2-40B4-BE49-F238E27FC236}">
                    <a16:creationId xmlns:a16="http://schemas.microsoft.com/office/drawing/2014/main" id="{14173032-4FE4-3E3B-5528-9241D69129ED}"/>
                  </a:ext>
                </a:extLst>
              </p:cNvPr>
              <p:cNvCxnSpPr>
                <a:cxnSpLocks/>
                <a:stCxn id="116" idx="6"/>
                <a:endCxn id="37" idx="2"/>
              </p:cNvCxnSpPr>
              <p:nvPr/>
            </p:nvCxnSpPr>
            <p:spPr>
              <a:xfrm flipV="1">
                <a:off x="4572000" y="5984902"/>
                <a:ext cx="317892" cy="17377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44B07F69-4700-1F74-A113-9AD96EF9019A}"/>
                  </a:ext>
                </a:extLst>
              </p:cNvPr>
              <p:cNvCxnSpPr>
                <a:cxnSpLocks/>
                <a:stCxn id="115" idx="6"/>
                <a:endCxn id="29" idx="2"/>
              </p:cNvCxnSpPr>
              <p:nvPr/>
            </p:nvCxnSpPr>
            <p:spPr>
              <a:xfrm flipV="1">
                <a:off x="4563342" y="56801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64" name="Straight Connector 163">
                <a:extLst>
                  <a:ext uri="{FF2B5EF4-FFF2-40B4-BE49-F238E27FC236}">
                    <a16:creationId xmlns:a16="http://schemas.microsoft.com/office/drawing/2014/main" id="{4B2CF9F2-ADB9-1BCD-8E8E-5A8F1CED39F1}"/>
                  </a:ext>
                </a:extLst>
              </p:cNvPr>
              <p:cNvCxnSpPr>
                <a:cxnSpLocks/>
                <a:stCxn id="113" idx="6"/>
                <a:endCxn id="27" idx="2"/>
              </p:cNvCxnSpPr>
              <p:nvPr/>
            </p:nvCxnSpPr>
            <p:spPr>
              <a:xfrm flipV="1">
                <a:off x="4563342" y="5097558"/>
                <a:ext cx="326550" cy="1253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65" name="Straight Connector 164">
                <a:extLst>
                  <a:ext uri="{FF2B5EF4-FFF2-40B4-BE49-F238E27FC236}">
                    <a16:creationId xmlns:a16="http://schemas.microsoft.com/office/drawing/2014/main" id="{533EC859-D0AA-998E-6E31-65A1ABD2FEF5}"/>
                  </a:ext>
                </a:extLst>
              </p:cNvPr>
              <p:cNvCxnSpPr>
                <a:cxnSpLocks/>
                <a:stCxn id="112" idx="6"/>
                <a:endCxn id="26" idx="2"/>
              </p:cNvCxnSpPr>
              <p:nvPr/>
            </p:nvCxnSpPr>
            <p:spPr>
              <a:xfrm flipV="1">
                <a:off x="4563342" y="4841902"/>
                <a:ext cx="326550" cy="103256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72" name="Straight Connector 171">
                <a:extLst>
                  <a:ext uri="{FF2B5EF4-FFF2-40B4-BE49-F238E27FC236}">
                    <a16:creationId xmlns:a16="http://schemas.microsoft.com/office/drawing/2014/main" id="{96D7EA12-6548-BC55-AF96-D2AED5005AF2}"/>
                  </a:ext>
                </a:extLst>
              </p:cNvPr>
              <p:cNvCxnSpPr>
                <a:cxnSpLocks/>
                <a:stCxn id="114" idx="6"/>
                <a:endCxn id="37" idx="2"/>
              </p:cNvCxnSpPr>
              <p:nvPr/>
            </p:nvCxnSpPr>
            <p:spPr>
              <a:xfrm>
                <a:off x="4563342" y="5527702"/>
                <a:ext cx="32655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75" name="Straight Connector 174">
                <a:extLst>
                  <a:ext uri="{FF2B5EF4-FFF2-40B4-BE49-F238E27FC236}">
                    <a16:creationId xmlns:a16="http://schemas.microsoft.com/office/drawing/2014/main" id="{1F3FEE69-F73C-8668-422D-C10AE1AF7B33}"/>
                  </a:ext>
                </a:extLst>
              </p:cNvPr>
              <p:cNvCxnSpPr>
                <a:cxnSpLocks/>
                <a:stCxn id="112" idx="6"/>
                <a:endCxn id="29" idx="2"/>
              </p:cNvCxnSpPr>
              <p:nvPr/>
            </p:nvCxnSpPr>
            <p:spPr>
              <a:xfrm>
                <a:off x="4563342" y="4945158"/>
                <a:ext cx="326550" cy="7349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78" name="Straight Connector 177">
                <a:extLst>
                  <a:ext uri="{FF2B5EF4-FFF2-40B4-BE49-F238E27FC236}">
                    <a16:creationId xmlns:a16="http://schemas.microsoft.com/office/drawing/2014/main" id="{58B1E627-5652-BE9E-808C-2E35761FF2B3}"/>
                  </a:ext>
                </a:extLst>
              </p:cNvPr>
              <p:cNvCxnSpPr>
                <a:cxnSpLocks/>
                <a:stCxn id="114" idx="6"/>
                <a:endCxn id="26" idx="2"/>
              </p:cNvCxnSpPr>
              <p:nvPr/>
            </p:nvCxnSpPr>
            <p:spPr>
              <a:xfrm flipV="1">
                <a:off x="4563342" y="4841902"/>
                <a:ext cx="326550" cy="6858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81" name="Straight Connector 180">
                <a:extLst>
                  <a:ext uri="{FF2B5EF4-FFF2-40B4-BE49-F238E27FC236}">
                    <a16:creationId xmlns:a16="http://schemas.microsoft.com/office/drawing/2014/main" id="{9AC8B26F-D949-A74B-8F73-1A16923E0FA1}"/>
                  </a:ext>
                </a:extLst>
              </p:cNvPr>
              <p:cNvCxnSpPr>
                <a:cxnSpLocks/>
                <a:stCxn id="116" idx="6"/>
                <a:endCxn id="29" idx="2"/>
              </p:cNvCxnSpPr>
              <p:nvPr/>
            </p:nvCxnSpPr>
            <p:spPr>
              <a:xfrm flipV="1">
                <a:off x="4572000" y="5680102"/>
                <a:ext cx="317892" cy="47857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84" name="Straight Connector 183">
                <a:extLst>
                  <a:ext uri="{FF2B5EF4-FFF2-40B4-BE49-F238E27FC236}">
                    <a16:creationId xmlns:a16="http://schemas.microsoft.com/office/drawing/2014/main" id="{DCFFB572-2A5B-3E14-D403-71B87449E622}"/>
                  </a:ext>
                </a:extLst>
              </p:cNvPr>
              <p:cNvCxnSpPr>
                <a:cxnSpLocks/>
                <a:stCxn id="115" idx="6"/>
                <a:endCxn id="28" idx="2"/>
              </p:cNvCxnSpPr>
              <p:nvPr/>
            </p:nvCxnSpPr>
            <p:spPr>
              <a:xfrm flipV="1">
                <a:off x="4563342" y="5375302"/>
                <a:ext cx="32655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</p:grpSp>
        <p:sp>
          <p:nvSpPr>
            <p:cNvPr id="193" name="Arrow: Right 192">
              <a:extLst>
                <a:ext uri="{FF2B5EF4-FFF2-40B4-BE49-F238E27FC236}">
                  <a16:creationId xmlns:a16="http://schemas.microsoft.com/office/drawing/2014/main" id="{8E65D35A-1ECF-0E2C-A4A5-5890724A7E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42560" y="4430327"/>
              <a:ext cx="425911" cy="533400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5FAAFD66-2140-E45A-471D-39F874312E3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29787" y="4514865"/>
                  <a:ext cx="34971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5FAAFD66-2140-E45A-471D-39F874312E3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9787" y="4514865"/>
                  <a:ext cx="349711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5" name="Arrow: Right 194">
              <a:extLst>
                <a:ext uri="{FF2B5EF4-FFF2-40B4-BE49-F238E27FC236}">
                  <a16:creationId xmlns:a16="http://schemas.microsoft.com/office/drawing/2014/main" id="{DD001ABC-E7CD-0F96-4DFA-AFC8781B66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10000" y="4491358"/>
              <a:ext cx="384215" cy="503703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TextBox 195">
                  <a:extLst>
                    <a:ext uri="{FF2B5EF4-FFF2-40B4-BE49-F238E27FC236}">
                      <a16:creationId xmlns:a16="http://schemas.microsoft.com/office/drawing/2014/main" id="{D64E343A-1D3A-216C-1B9D-C48B77179E8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4125676" y="4556563"/>
                  <a:ext cx="9247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6" name="TextBox 195">
                  <a:extLst>
                    <a:ext uri="{FF2B5EF4-FFF2-40B4-BE49-F238E27FC236}">
                      <a16:creationId xmlns:a16="http://schemas.microsoft.com/office/drawing/2014/main" id="{D64E343A-1D3A-216C-1B9D-C48B77179E8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25676" y="4556563"/>
                  <a:ext cx="924740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5BA0203-B417-18D9-5155-AC948C3DB14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994915" y="3714030"/>
                  <a:ext cx="3638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5BA0203-B417-18D9-5155-AC948C3DB14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4915" y="3714030"/>
                  <a:ext cx="363881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8" name="TextBox 197">
                  <a:extLst>
                    <a:ext uri="{FF2B5EF4-FFF2-40B4-BE49-F238E27FC236}">
                      <a16:creationId xmlns:a16="http://schemas.microsoft.com/office/drawing/2014/main" id="{5F8BBD95-CC36-0F7B-4420-D48D811414F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3182394" y="3851318"/>
                  <a:ext cx="38568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8" name="TextBox 197">
                  <a:extLst>
                    <a:ext uri="{FF2B5EF4-FFF2-40B4-BE49-F238E27FC236}">
                      <a16:creationId xmlns:a16="http://schemas.microsoft.com/office/drawing/2014/main" id="{5F8BBD95-CC36-0F7B-4420-D48D811414F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2394" y="3851318"/>
                  <a:ext cx="385683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9" name="Right Brace 198">
              <a:extLst>
                <a:ext uri="{FF2B5EF4-FFF2-40B4-BE49-F238E27FC236}">
                  <a16:creationId xmlns:a16="http://schemas.microsoft.com/office/drawing/2014/main" id="{2CED8BA6-1D19-AFA2-F027-213217C7AE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15217" y="4209556"/>
              <a:ext cx="113460" cy="1038077"/>
            </a:xfrm>
            <a:prstGeom prst="rightBrac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" name="Title 18">
            <a:extLst>
              <a:ext uri="{FF2B5EF4-FFF2-40B4-BE49-F238E27FC236}">
                <a16:creationId xmlns:a16="http://schemas.microsoft.com/office/drawing/2014/main" id="{7162CF55-34C6-5FDF-6233-58FC26BED32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312822" y="3339801"/>
            <a:ext cx="3203615" cy="461665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Deep 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661019AB-21E0-632C-A823-4C1DCDB3D188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/>
              <p:nvPr/>
            </p:nvSpPr>
            <p:spPr>
              <a:xfrm>
                <a:off x="5171649" y="3368889"/>
                <a:ext cx="6849555" cy="28623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Target networks</a:t>
                </a:r>
                <a:r>
                  <a:rPr lang="en-US" dirty="0"/>
                  <a:t>: It turns out that the Q-Network is unstable if the same network is used to estimate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also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Deep Q-Learning uses a second target network for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that is updated with the prediction network every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steps. </a:t>
                </a:r>
              </a:p>
              <a:p>
                <a:endParaRPr lang="en-US" dirty="0"/>
              </a:p>
              <a:p>
                <a:r>
                  <a:rPr lang="en-US" b="1" dirty="0"/>
                  <a:t>Experience replay</a:t>
                </a:r>
                <a:r>
                  <a:rPr lang="en-US" dirty="0"/>
                  <a:t>:  To reduce instability more, generate actions using the current network and store the experience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</m:oMath>
                </a14:m>
                <a:r>
                  <a:rPr lang="en-US" dirty="0"/>
                  <a:t> in a table. Regularly use samples from the table to update the networks..</a:t>
                </a:r>
              </a:p>
              <a:p>
                <a:endParaRPr lang="en-US" dirty="0"/>
              </a:p>
              <a:p>
                <a:r>
                  <a:rPr lang="en-US" b="1" dirty="0"/>
                  <a:t>Loss function</a:t>
                </a:r>
                <a:r>
                  <a:rPr lang="en-US" dirty="0"/>
                  <a:t>: squared difference between prediction and target.</a:t>
                </a:r>
              </a:p>
            </p:txBody>
          </p:sp>
        </mc:Choice>
        <mc:Fallback xmlns=""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661019AB-21E0-632C-A823-4C1DCDB3D188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1649" y="3368889"/>
                <a:ext cx="6849555" cy="2862322"/>
              </a:xfrm>
              <a:prstGeom prst="rect">
                <a:avLst/>
              </a:prstGeom>
              <a:blipFill>
                <a:blip r:embed="rId10"/>
                <a:stretch>
                  <a:fillRect l="-712" t="-1279" b="-25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0" name="TextBox 209">
            <a:extLst>
              <a:ext uri="{FF2B5EF4-FFF2-40B4-BE49-F238E27FC236}">
                <a16:creationId xmlns:a16="http://schemas.microsoft.com/office/drawing/2014/main" id="{13ACAB3D-4D78-A729-56A7-99CD629A1E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655438" y="6400800"/>
            <a:ext cx="11277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 Volodymyr </a:t>
            </a:r>
            <a:r>
              <a:rPr lang="en-US" sz="1600" dirty="0" err="1"/>
              <a:t>Mni</a:t>
            </a:r>
            <a:r>
              <a:rPr lang="en-US" sz="1600" dirty="0"/>
              <a:t> et al., </a:t>
            </a:r>
            <a:r>
              <a:rPr lang="en-US" sz="1600" dirty="0">
                <a:hlinkClick r:id="rId11"/>
              </a:rPr>
              <a:t>Playing Atari with Deep Reinforcement Learning</a:t>
            </a:r>
            <a:r>
              <a:rPr lang="en-US" sz="1600" dirty="0"/>
              <a:t>, NIPS Deep Learning Workshop 2013.</a:t>
            </a:r>
          </a:p>
        </p:txBody>
      </p:sp>
      <p:cxnSp>
        <p:nvCxnSpPr>
          <p:cNvPr id="217" name="Straight Connector 216">
            <a:extLst>
              <a:ext uri="{FF2B5EF4-FFF2-40B4-BE49-F238E27FC236}">
                <a16:creationId xmlns:a16="http://schemas.microsoft.com/office/drawing/2014/main" id="{4A1F4D61-07A5-6F97-2DBF-72C76CFB1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655438" y="3260990"/>
            <a:ext cx="11321143" cy="5505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8469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2" grpId="0"/>
      <p:bldP spid="210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A0C159-0907-04B2-8FF7-F84FE5FDF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1877" r="2" b="2"/>
          <a:stretch/>
        </p:blipFill>
        <p:spPr>
          <a:xfrm>
            <a:off x="-1" y="-2"/>
            <a:ext cx="5410198" cy="6858002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4D26AE-3199-489F-5DCA-D4C988B41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en-US" sz="4000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08F8A-7021-1A3C-45A3-0CEB86474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9" y="2531178"/>
            <a:ext cx="5484285" cy="4081643"/>
          </a:xfrm>
        </p:spPr>
        <p:txBody>
          <a:bodyPr anchor="ctr">
            <a:normAutofit/>
          </a:bodyPr>
          <a:lstStyle/>
          <a:p>
            <a:r>
              <a:rPr lang="en-US" sz="1800" dirty="0"/>
              <a:t>Agents can learn the value of being in a state from </a:t>
            </a:r>
            <a:r>
              <a:rPr lang="en-US" sz="1800" b="1" dirty="0"/>
              <a:t>reward signals</a:t>
            </a:r>
            <a:r>
              <a:rPr lang="en-US" sz="1800" dirty="0"/>
              <a:t>.</a:t>
            </a:r>
          </a:p>
          <a:p>
            <a:r>
              <a:rPr lang="en-US" sz="1800" dirty="0"/>
              <a:t>Rewards can be delayed (e.g., at the end of a game).</a:t>
            </a:r>
          </a:p>
          <a:p>
            <a:r>
              <a:rPr lang="en-US" sz="1800" b="1" dirty="0"/>
              <a:t>Unknown transition models </a:t>
            </a:r>
            <a:r>
              <a:rPr lang="en-US" sz="1800" dirty="0"/>
              <a:t>lead to the need for exploration by trying actions (model-free methods such as Q-Learning).</a:t>
            </a:r>
          </a:p>
          <a:p>
            <a:r>
              <a:rPr lang="en-US" sz="1800" dirty="0"/>
              <a:t>All RL problems are computationally very expensive and often can only be solved by </a:t>
            </a:r>
            <a:r>
              <a:rPr lang="en-US" sz="1800" b="1" dirty="0"/>
              <a:t>approximation</a:t>
            </a:r>
            <a:r>
              <a:rPr lang="en-US" sz="1800" dirty="0"/>
              <a:t>. The state-of-the-art approach is to use deep artificial neural networks for function approximation. </a:t>
            </a:r>
          </a:p>
          <a:p>
            <a:r>
              <a:rPr lang="en-US" sz="1800" dirty="0"/>
              <a:t>Not covered here: Not being able to </a:t>
            </a:r>
            <a:r>
              <a:rPr lang="en-US" sz="1800" b="1" dirty="0"/>
              <a:t>fully observe the state </a:t>
            </a:r>
            <a:r>
              <a:rPr lang="en-US" sz="1800" dirty="0"/>
              <a:t>makes the problem more difficult and leads to Partially Observable MDPs.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821275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EFAULTFONTSIZE" val="10"/>
  <p:tag name="DEFAULTWIDTH" val="592"/>
  <p:tag name="DEFAULTHEIGHT" val="422"/>
</p:tagLst>
</file>

<file path=ppt/theme/theme1.xml><?xml version="1.0" encoding="utf-8"?>
<a:theme xmlns:a="http://schemas.openxmlformats.org/drawingml/2006/main" name="Office Theme">
  <a:themeElements>
    <a:clrScheme name="AI_high_contrast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BE4D14"/>
      </a:accent2>
      <a:accent3>
        <a:srgbClr val="196B24"/>
      </a:accent3>
      <a:accent4>
        <a:srgbClr val="0F9ED5"/>
      </a:accent4>
      <a:accent5>
        <a:srgbClr val="A02B93"/>
      </a:accent5>
      <a:accent6>
        <a:srgbClr val="377620"/>
      </a:accent6>
      <a:hlink>
        <a:srgbClr val="467886"/>
      </a:hlink>
      <a:folHlink>
        <a:srgbClr val="96607D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10836</TotalTime>
  <Words>2778</Words>
  <Application>Microsoft Office PowerPoint</Application>
  <PresentationFormat>Widescreen</PresentationFormat>
  <Paragraphs>405</Paragraphs>
  <Slides>22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Calibri Light</vt:lpstr>
      <vt:lpstr>Cambria Math</vt:lpstr>
      <vt:lpstr>Office Theme</vt:lpstr>
      <vt:lpstr>CS 5/7320  Artificial Intelligence  Reinforcement Learning AIMA Chapter 17+22</vt:lpstr>
      <vt:lpstr>From Chapter 2:  Agents That Learn</vt:lpstr>
      <vt:lpstr>Making Complex Decisions: Sequential Decision Making</vt:lpstr>
      <vt:lpstr>Remember Chapter 16:  Making Simple Decisions</vt:lpstr>
      <vt:lpstr>Sequential Decision Problems</vt:lpstr>
      <vt:lpstr>An Environment Model:  Markov Decision Process (MDP)</vt:lpstr>
      <vt:lpstr>Example: 4x3 Grid World</vt:lpstr>
      <vt:lpstr>Value Function</vt:lpstr>
      <vt:lpstr>Planning: Finding the Optimal Policy</vt:lpstr>
      <vt:lpstr>Example Solution: 4x3 Grid World </vt:lpstr>
      <vt:lpstr>Q-Function</vt:lpstr>
      <vt:lpstr>Value Iteration: Estimate the Optimal Value Function U^(π^∗ )</vt:lpstr>
      <vt:lpstr>Policy Iteration: Find the Optimal Policy π^∗</vt:lpstr>
      <vt:lpstr>Playing a Game as a Sequential Decision Problem: Tic-Tac-Toe</vt:lpstr>
      <vt:lpstr>Partially Observable Markov Decision Process (POMDP)</vt:lpstr>
      <vt:lpstr>(Model-Free) Reinforcement Learning</vt:lpstr>
      <vt:lpstr>Model-based vs. Model-free Reinforcement Learning (RL)</vt:lpstr>
      <vt:lpstr>Reinforcement Learning (RL)</vt:lpstr>
      <vt:lpstr>Q-Learning</vt:lpstr>
      <vt:lpstr>Tabular Methods vs. Value Function Approximation</vt:lpstr>
      <vt:lpstr>Deep Q-Learning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 5/7320 Artificial Intelligence</dc:title>
  <dc:creator>michael</dc:creator>
  <cp:lastModifiedBy>Hahsler, Michael</cp:lastModifiedBy>
  <cp:revision>109</cp:revision>
  <dcterms:created xsi:type="dcterms:W3CDTF">2020-11-16T22:49:03Z</dcterms:created>
  <dcterms:modified xsi:type="dcterms:W3CDTF">2025-12-02T00:26:31Z</dcterms:modified>
</cp:coreProperties>
</file>