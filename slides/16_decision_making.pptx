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71" r:id="rId3"/>
    <p:sldId id="372" r:id="rId4"/>
    <p:sldId id="367" r:id="rId5"/>
    <p:sldId id="369" r:id="rId6"/>
    <p:sldId id="260" r:id="rId7"/>
    <p:sldId id="261" r:id="rId8"/>
    <p:sldId id="355" r:id="rId9"/>
    <p:sldId id="366" r:id="rId10"/>
    <p:sldId id="360" r:id="rId11"/>
    <p:sldId id="324" r:id="rId12"/>
    <p:sldId id="300" r:id="rId13"/>
    <p:sldId id="325" r:id="rId14"/>
    <p:sldId id="3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9CCBBF-DF0D-4924-961F-3B4895462959}">
          <p14:sldIdLst>
            <p14:sldId id="256"/>
            <p14:sldId id="371"/>
            <p14:sldId id="372"/>
            <p14:sldId id="367"/>
            <p14:sldId id="369"/>
            <p14:sldId id="260"/>
          </p14:sldIdLst>
        </p14:section>
        <p14:section name="Decision Networks" id="{0385A3CB-0A88-4DB5-AA15-C0C431811CB5}">
          <p14:sldIdLst>
            <p14:sldId id="261"/>
            <p14:sldId id="355"/>
            <p14:sldId id="366"/>
            <p14:sldId id="360"/>
            <p14:sldId id="324"/>
            <p14:sldId id="300"/>
            <p14:sldId id="32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591" autoAdjust="0"/>
  </p:normalViewPr>
  <p:slideViewPr>
    <p:cSldViewPr snapToGrid="0">
      <p:cViewPr varScale="1">
        <p:scale>
          <a:sx n="91" d="100"/>
          <a:sy n="91" d="100"/>
        </p:scale>
        <p:origin x="796" y="4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A66AB-4E13-45E4-A78F-850A4110FE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3F6169-AF8C-41D4-AA32-B395F657D917}">
      <dgm:prSet custT="1"/>
      <dgm:spPr/>
      <dgm:t>
        <a:bodyPr/>
        <a:lstStyle/>
        <a:p>
          <a:pPr algn="l"/>
          <a:r>
            <a:rPr lang="en-US" sz="2000" dirty="0"/>
            <a:t>Decision theory = </a:t>
          </a:r>
          <a:br>
            <a:rPr lang="en-US" sz="2000" dirty="0"/>
          </a:br>
          <a:r>
            <a:rPr lang="en-US" sz="2000" dirty="0"/>
            <a:t>            Probability theory </a:t>
          </a:r>
          <a:r>
            <a:rPr lang="en-US" sz="1100" dirty="0"/>
            <a:t>(evidence &amp; belief) </a:t>
          </a:r>
          <a:br>
            <a:rPr lang="en-US" sz="2000" dirty="0"/>
          </a:br>
          <a:r>
            <a:rPr lang="en-US" sz="2000" dirty="0"/>
            <a:t>                              +</a:t>
          </a:r>
          <a:br>
            <a:rPr lang="en-US" sz="2000" dirty="0"/>
          </a:br>
          <a:r>
            <a:rPr lang="en-US" sz="2000" dirty="0"/>
            <a:t>                   Utility theory   </a:t>
          </a:r>
          <a:r>
            <a:rPr lang="en-US" sz="1050" dirty="0"/>
            <a:t>(want)   </a:t>
          </a:r>
          <a:endParaRPr lang="en-US" sz="2000" dirty="0"/>
        </a:p>
      </dgm:t>
    </dgm:pt>
    <dgm:pt modelId="{39EE2D99-3E96-4FB9-89F1-A1AEB417283A}" type="parTrans" cxnId="{40732D54-86CE-4ED1-91AE-68A5EC4A2DB4}">
      <dgm:prSet/>
      <dgm:spPr/>
      <dgm:t>
        <a:bodyPr/>
        <a:lstStyle/>
        <a:p>
          <a:endParaRPr lang="en-US"/>
        </a:p>
      </dgm:t>
    </dgm:pt>
    <dgm:pt modelId="{8F487C6E-FE1C-458F-A3D4-158516ADB642}" type="sibTrans" cxnId="{40732D54-86CE-4ED1-91AE-68A5EC4A2DB4}">
      <dgm:prSet/>
      <dgm:spPr/>
      <dgm:t>
        <a:bodyPr/>
        <a:lstStyle/>
        <a:p>
          <a:endParaRPr lang="en-US"/>
        </a:p>
      </dgm:t>
    </dgm:pt>
    <dgm:pt modelId="{A5BFB635-7BC1-46FA-83AC-07ECAED4CA93}" type="pres">
      <dgm:prSet presAssocID="{EBFA66AB-4E13-45E4-A78F-850A4110FE58}" presName="linear" presStyleCnt="0">
        <dgm:presLayoutVars>
          <dgm:animLvl val="lvl"/>
          <dgm:resizeHandles val="exact"/>
        </dgm:presLayoutVars>
      </dgm:prSet>
      <dgm:spPr/>
    </dgm:pt>
    <dgm:pt modelId="{E03ED346-3F6C-4C54-AEDB-C2619BEA4A2D}" type="pres">
      <dgm:prSet presAssocID="{D83F6169-AF8C-41D4-AA32-B395F657D917}" presName="parentText" presStyleLbl="node1" presStyleIdx="0" presStyleCnt="1" custScaleX="60941" custScaleY="100365" custLinFactNeighborX="11240" custLinFactNeighborY="-1256">
        <dgm:presLayoutVars>
          <dgm:chMax val="0"/>
          <dgm:bulletEnabled val="1"/>
        </dgm:presLayoutVars>
      </dgm:prSet>
      <dgm:spPr/>
    </dgm:pt>
  </dgm:ptLst>
  <dgm:cxnLst>
    <dgm:cxn modelId="{40732D54-86CE-4ED1-91AE-68A5EC4A2DB4}" srcId="{EBFA66AB-4E13-45E4-A78F-850A4110FE58}" destId="{D83F6169-AF8C-41D4-AA32-B395F657D917}" srcOrd="0" destOrd="0" parTransId="{39EE2D99-3E96-4FB9-89F1-A1AEB417283A}" sibTransId="{8F487C6E-FE1C-458F-A3D4-158516ADB642}"/>
    <dgm:cxn modelId="{EF804998-E1EA-4448-942C-C34424412F6B}" type="presOf" srcId="{EBFA66AB-4E13-45E4-A78F-850A4110FE58}" destId="{A5BFB635-7BC1-46FA-83AC-07ECAED4CA93}" srcOrd="0" destOrd="0" presId="urn:microsoft.com/office/officeart/2005/8/layout/vList2"/>
    <dgm:cxn modelId="{318CF1CB-21DA-4E82-A9C2-14EE5D97447A}" type="presOf" srcId="{D83F6169-AF8C-41D4-AA32-B395F657D917}" destId="{E03ED346-3F6C-4C54-AEDB-C2619BEA4A2D}" srcOrd="0" destOrd="0" presId="urn:microsoft.com/office/officeart/2005/8/layout/vList2"/>
    <dgm:cxn modelId="{F5AB0982-9263-4316-937F-0688B6B74167}" type="presParOf" srcId="{A5BFB635-7BC1-46FA-83AC-07ECAED4CA93}" destId="{E03ED346-3F6C-4C54-AEDB-C2619BEA4A2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ED346-3F6C-4C54-AEDB-C2619BEA4A2D}">
      <dsp:nvSpPr>
        <dsp:cNvPr id="0" name=""/>
        <dsp:cNvSpPr/>
      </dsp:nvSpPr>
      <dsp:spPr>
        <a:xfrm>
          <a:off x="2041106" y="98335"/>
          <a:ext cx="4042544" cy="1412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Decision theory = </a:t>
          </a:r>
          <a:br>
            <a:rPr lang="en-US" sz="2000" kern="1200" dirty="0"/>
          </a:br>
          <a:r>
            <a:rPr lang="en-US" sz="2000" kern="1200" dirty="0"/>
            <a:t>            Probability theory </a:t>
          </a:r>
          <a:r>
            <a:rPr lang="en-US" sz="1100" kern="1200" dirty="0"/>
            <a:t>(evidence &amp; belief) </a:t>
          </a:r>
          <a:br>
            <a:rPr lang="en-US" sz="2000" kern="1200" dirty="0"/>
          </a:br>
          <a:r>
            <a:rPr lang="en-US" sz="2000" kern="1200" dirty="0"/>
            <a:t>                              +</a:t>
          </a:r>
          <a:br>
            <a:rPr lang="en-US" sz="2000" kern="1200" dirty="0"/>
          </a:br>
          <a:r>
            <a:rPr lang="en-US" sz="2000" kern="1200" dirty="0"/>
            <a:t>                   Utility theory   </a:t>
          </a:r>
          <a:r>
            <a:rPr lang="en-US" sz="1050" kern="1200" dirty="0"/>
            <a:t>(want)   </a:t>
          </a:r>
          <a:endParaRPr lang="en-US" sz="2000" kern="1200" dirty="0"/>
        </a:p>
      </dsp:txBody>
      <dsp:txXfrm>
        <a:off x="2110037" y="167266"/>
        <a:ext cx="3904682" cy="12741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B1A35-FCF7-4D0C-AE83-400D24256912}" type="datetimeFigureOut">
              <a:rPr lang="en-US" smtClean="0"/>
              <a:t>11/20/2025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B403C-2C5F-49E9-8B82-2DC3ACA22DC6}" type="slidenum">
              <a:rPr lang="en-US" smtClean="0"/>
              <a:t>‹#›</a:t>
            </a:fld>
            <a:endParaRPr lang="en-US"/>
          </a:p>
        </p:txBody>
      </p:sp>
    </p:spTree>
    <p:extLst>
      <p:ext uri="{BB962C8B-B14F-4D97-AF65-F5344CB8AC3E}">
        <p14:creationId xmlns:p14="http://schemas.microsoft.com/office/powerpoint/2010/main" val="383927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B403C-2C5F-49E9-8B82-2DC3ACA22DC6}" type="slidenum">
              <a:rPr lang="en-US" smtClean="0"/>
              <a:t>1</a:t>
            </a:fld>
            <a:endParaRPr lang="en-US"/>
          </a:p>
        </p:txBody>
      </p:sp>
    </p:spTree>
    <p:extLst>
      <p:ext uri="{BB962C8B-B14F-4D97-AF65-F5344CB8AC3E}">
        <p14:creationId xmlns:p14="http://schemas.microsoft.com/office/powerpoint/2010/main" val="47015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8</a:t>
            </a:fld>
            <a:endParaRPr lang="en-US" sz="13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9</a:t>
            </a:fld>
            <a:endParaRPr lang="en-US" sz="13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10</a:t>
            </a:fld>
            <a:endParaRPr lang="en-US" sz="13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2DC8-6013-440E-A5C3-9A28A4C31E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273193-ECE1-4D97-9D5C-5036A64B0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865869-DF42-4FAE-993E-E44C6DE92A30}"/>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8CA2495C-51B2-430B-AA12-C567EC90E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CC6E8-C22D-4900-923F-D2899225E8C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1930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9A4F-1ADC-470E-B3F3-DE7816ACAE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5372D-B767-499F-A6A4-42CFBA0097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2575F3-5C6E-4203-998B-117F9FBB2BD2}"/>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E4A5E037-345E-4353-AECB-D63957C54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62ED5-7756-496C-AAD1-5B94F9DFE888}"/>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908376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5478-43B2-4DFF-A93A-3B982AB816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0C41C3-4F75-4F38-BB44-F955186F2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3AE88-53DE-46D3-B5F4-4073EA40D681}"/>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8B3083A1-9ADD-4DA6-9A68-2C28A6657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54B83-0616-4450-A1F2-106F5895B7D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81609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ED975-1924-43F9-97AD-3F5E1679EB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2C8E0-8840-4C07-9DFF-C3B0A26E7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6E872D-F004-4C7A-93A5-B831FAA80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B8D361-F175-4D6B-99F6-38CF7CF94F78}"/>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6" name="Footer Placeholder 5">
            <a:extLst>
              <a:ext uri="{FF2B5EF4-FFF2-40B4-BE49-F238E27FC236}">
                <a16:creationId xmlns:a16="http://schemas.microsoft.com/office/drawing/2014/main" id="{0922681F-EB7C-4EED-A5F6-1C3D15CB4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DD1535-2DEB-4094-9D11-3C4C40DAB1A0}"/>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66939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34CC-AAE6-44EF-A7B8-A79310A64F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9D4E0-5A0C-4B20-877F-D3965DB32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A143D6-6CFA-4725-A599-C5DE208E35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ACA74-615F-4D29-A28B-5624260CF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32056-878F-4889-A402-3D711ABF5D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336A5D-23C0-4A04-863D-64C9FB32E9D6}"/>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8" name="Footer Placeholder 7">
            <a:extLst>
              <a:ext uri="{FF2B5EF4-FFF2-40B4-BE49-F238E27FC236}">
                <a16:creationId xmlns:a16="http://schemas.microsoft.com/office/drawing/2014/main" id="{64B30184-0B50-413E-B583-EA32B599BE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DCB51E-415D-41DD-9AAD-036E846472B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713082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837C-E113-4255-AE8F-EE598092C6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F83116-E1D0-4E8C-906C-6CA1AD6EE3FA}"/>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4" name="Footer Placeholder 3">
            <a:extLst>
              <a:ext uri="{FF2B5EF4-FFF2-40B4-BE49-F238E27FC236}">
                <a16:creationId xmlns:a16="http://schemas.microsoft.com/office/drawing/2014/main" id="{391DD229-DADE-42AF-9A03-100066E1C6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D70A57-2681-4717-90B5-A42A38829C7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84023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9B99B-15ED-43B9-A76D-0A21BD8A022C}"/>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3" name="Footer Placeholder 2">
            <a:extLst>
              <a:ext uri="{FF2B5EF4-FFF2-40B4-BE49-F238E27FC236}">
                <a16:creationId xmlns:a16="http://schemas.microsoft.com/office/drawing/2014/main" id="{545D4F5B-BC87-4DA5-901E-7C26198B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51F5E8-69AA-4001-A581-08933E606B7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2230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F062-57DF-4787-AA7C-463180E908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C1FB43-7A40-41C0-9AE5-AAEA93E8F0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A0C495-CE35-4694-A043-460B7E9BC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10D10-9C0B-41D3-B6D2-728B3FED0C43}"/>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6" name="Footer Placeholder 5">
            <a:extLst>
              <a:ext uri="{FF2B5EF4-FFF2-40B4-BE49-F238E27FC236}">
                <a16:creationId xmlns:a16="http://schemas.microsoft.com/office/drawing/2014/main" id="{CC072D48-D426-44BB-8207-BC98C6F5D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BE1CB-80F2-46EB-AF5D-7154C60D841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794308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0E47-7EA9-4FC5-A34B-B42177299F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570FFE-6F5B-494F-9F82-943A5B659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5FC19E-5FCC-47CA-B8C3-7AE76DE76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4B57C-D120-44FC-8668-23054E844648}"/>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6" name="Footer Placeholder 5">
            <a:extLst>
              <a:ext uri="{FF2B5EF4-FFF2-40B4-BE49-F238E27FC236}">
                <a16:creationId xmlns:a16="http://schemas.microsoft.com/office/drawing/2014/main" id="{FFB09498-B00F-4353-A5E2-761003510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62925-6248-44B7-8434-6E8BB220660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605390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4708-3103-4594-B9F3-953A947CB1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864D6F-89A2-496D-9449-125DFEDD34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FD702-F0EE-4086-BAB9-341F84A930B5}"/>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97CB482C-54DA-4568-A790-82F65FE94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4132D-AA0F-4C1C-8F2C-1EB562CDF9E3}"/>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15328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087AC-A253-419E-AEF5-F63D86FC1F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5A933E-C826-4145-80CE-26D4BF1DC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760795-FABE-4BEF-947E-89048982B240}"/>
              </a:ext>
            </a:extLst>
          </p:cNvPr>
          <p:cNvSpPr>
            <a:spLocks noGrp="1"/>
          </p:cNvSpPr>
          <p:nvPr>
            <p:ph type="dt" sz="half" idx="10"/>
          </p:nvPr>
        </p:nvSpPr>
        <p:spPr/>
        <p:txBody>
          <a:body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90D8C514-6916-4E63-BB98-EC06B4B99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3ED6-5264-423C-859C-8143B66FBE61}"/>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54571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E73F7-E8B3-476D-9186-BF2A9A10B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BE506-06D9-4E31-846B-7B5426A88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6E40C-9BA5-4DE7-B038-FE1B1BBF7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CD98-EF2C-4EFD-A320-0FD1E700AB34}" type="datetimeFigureOut">
              <a:rPr lang="en-US" smtClean="0"/>
              <a:t>11/20/2025</a:t>
            </a:fld>
            <a:endParaRPr lang="en-US"/>
          </a:p>
        </p:txBody>
      </p:sp>
      <p:sp>
        <p:nvSpPr>
          <p:cNvPr id="5" name="Footer Placeholder 4">
            <a:extLst>
              <a:ext uri="{FF2B5EF4-FFF2-40B4-BE49-F238E27FC236}">
                <a16:creationId xmlns:a16="http://schemas.microsoft.com/office/drawing/2014/main" id="{C9941916-3AFF-4C06-8F80-5AA7FB1A9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45F873-DD38-40FC-8BBF-FA0D24BE2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C6A71-5A9D-496B-85A4-382D652E28A0}" type="slidenum">
              <a:rPr lang="en-US" smtClean="0"/>
              <a:t>‹#›</a:t>
            </a:fld>
            <a:endParaRPr lang="en-US"/>
          </a:p>
        </p:txBody>
      </p:sp>
    </p:spTree>
    <p:extLst>
      <p:ext uri="{BB962C8B-B14F-4D97-AF65-F5344CB8AC3E}">
        <p14:creationId xmlns:p14="http://schemas.microsoft.com/office/powerpoint/2010/main" val="231448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10.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6.png"/><Relationship Id="rId3" Type="http://schemas.openxmlformats.org/officeDocument/2006/relationships/image" Target="../media/image18.png"/><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svg"/><Relationship Id="rId11" Type="http://schemas.openxmlformats.org/officeDocument/2006/relationships/image" Target="../media/image4.png"/><Relationship Id="rId5" Type="http://schemas.openxmlformats.org/officeDocument/2006/relationships/image" Target="../media/image21.png"/><Relationship Id="rId10" Type="http://schemas.openxmlformats.org/officeDocument/2006/relationships/image" Target="../media/image310.png"/><Relationship Id="rId4" Type="http://schemas.openxmlformats.org/officeDocument/2006/relationships/image" Target="../media/image19.sv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1.png"/><Relationship Id="rId7" Type="http://schemas.openxmlformats.org/officeDocument/2006/relationships/image" Target="../media/image1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2" Type="http://schemas.openxmlformats.org/officeDocument/2006/relationships/hyperlink" Target="http://ai.berkeley.edu/"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prove Your Decision-Making, Improve Your Leadership – Merit ...">
            <a:extLst>
              <a:ext uri="{FF2B5EF4-FFF2-40B4-BE49-F238E27FC236}">
                <a16:creationId xmlns:a16="http://schemas.microsoft.com/office/drawing/2014/main" id="{AA5C85F2-0790-4F64-ADC8-31BBA3666E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796"/>
          <a:stretch/>
        </p:blipFill>
        <p:spPr bwMode="auto">
          <a:xfrm>
            <a:off x="4971501" y="410620"/>
            <a:ext cx="7215097" cy="5708138"/>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01CAAD-275E-4803-9D12-85C93EFB0656}"/>
              </a:ext>
            </a:extLst>
          </p:cNvPr>
          <p:cNvSpPr>
            <a:spLocks noGrp="1"/>
          </p:cNvSpPr>
          <p:nvPr>
            <p:ph type="ctrTitle"/>
          </p:nvPr>
        </p:nvSpPr>
        <p:spPr>
          <a:xfrm>
            <a:off x="477979" y="1122363"/>
            <a:ext cx="4811279" cy="3204134"/>
          </a:xfrm>
        </p:spPr>
        <p:txBody>
          <a:bodyPr anchor="b">
            <a:noAutofit/>
          </a:bodyPr>
          <a:lstStyle/>
          <a:p>
            <a:pPr algn="l"/>
            <a:r>
              <a:rPr lang="en-US" sz="3200" b="1" dirty="0"/>
              <a:t>CS 5/7320 </a:t>
            </a:r>
            <a:br>
              <a:rPr lang="en-US" sz="3200" b="1" dirty="0"/>
            </a:br>
            <a:r>
              <a:rPr lang="en-US" sz="3200" b="1" dirty="0"/>
              <a:t>Artificial Intelligence </a:t>
            </a:r>
            <a:br>
              <a:rPr lang="en-US" sz="3200" b="1" dirty="0"/>
            </a:br>
            <a:br>
              <a:rPr lang="en-US" sz="3200" b="1" dirty="0"/>
            </a:br>
            <a:r>
              <a:rPr lang="en-US" sz="3200" b="1" dirty="0"/>
              <a:t>Making Simple Decisions:</a:t>
            </a:r>
            <a:br>
              <a:rPr lang="en-US" sz="3200" b="1" dirty="0"/>
            </a:br>
            <a:r>
              <a:rPr lang="en-US" sz="2800" b="1" dirty="0"/>
              <a:t>Decision Networks</a:t>
            </a:r>
            <a:br>
              <a:rPr lang="en-US" sz="3200" b="1" dirty="0"/>
            </a:br>
            <a:br>
              <a:rPr lang="en-US" sz="3200" b="1" dirty="0"/>
            </a:br>
            <a:r>
              <a:rPr lang="en-US" sz="3200" b="1" dirty="0"/>
              <a:t>AIMA Chapter 16</a:t>
            </a:r>
          </a:p>
        </p:txBody>
      </p:sp>
      <p:sp>
        <p:nvSpPr>
          <p:cNvPr id="3" name="Subtitle 2">
            <a:extLst>
              <a:ext uri="{FF2B5EF4-FFF2-40B4-BE49-F238E27FC236}">
                <a16:creationId xmlns:a16="http://schemas.microsoft.com/office/drawing/2014/main" id="{2B2A3490-0319-44DA-BDCE-5CFABA350CE0}"/>
              </a:ext>
            </a:extLst>
          </p:cNvPr>
          <p:cNvSpPr>
            <a:spLocks noGrp="1"/>
          </p:cNvSpPr>
          <p:nvPr>
            <p:ph type="subTitle" idx="1"/>
          </p:nvPr>
        </p:nvSpPr>
        <p:spPr>
          <a:xfrm>
            <a:off x="477980" y="4872922"/>
            <a:ext cx="4023359" cy="1208141"/>
          </a:xfrm>
        </p:spPr>
        <p:txBody>
          <a:bodyPr>
            <a:normAutofit/>
          </a:bodyPr>
          <a:lstStyle/>
          <a:p>
            <a:pPr algn="l"/>
            <a:r>
              <a:rPr lang="en-US" sz="1800" dirty="0"/>
              <a:t>Introduction slides by Michael Hahsler</a:t>
            </a:r>
          </a:p>
          <a:p>
            <a:pPr algn="l"/>
            <a:r>
              <a:rPr lang="en-US" sz="1800" dirty="0"/>
              <a:t>Decision network slides by </a:t>
            </a:r>
            <a:br>
              <a:rPr lang="en-US" sz="1800" dirty="0"/>
            </a:br>
            <a:r>
              <a:rPr lang="en-US" sz="1800" kern="1200" dirty="0">
                <a:solidFill>
                  <a:schemeClr val="tx1"/>
                </a:solidFill>
                <a:latin typeface="+mn-lt"/>
                <a:ea typeface="+mn-ea"/>
                <a:cs typeface="+mn-cs"/>
              </a:rPr>
              <a:t>Dan Klein and Pieter </a:t>
            </a:r>
            <a:r>
              <a:rPr lang="en-US" sz="1800" kern="1200" dirty="0" err="1">
                <a:solidFill>
                  <a:schemeClr val="tx1"/>
                </a:solidFill>
                <a:latin typeface="+mn-lt"/>
                <a:ea typeface="+mn-ea"/>
                <a:cs typeface="+mn-cs"/>
              </a:rPr>
              <a:t>Abbeel</a:t>
            </a:r>
            <a:endParaRPr lang="en-US" sz="1800" dirty="0"/>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3E93D495-25FD-06CE-2E00-F856937465C3}"/>
              </a:ext>
              <a:ext uri="{C183D7F6-B498-43B3-948B-1728B52AA6E4}">
                <adec:decorative xmlns:adec="http://schemas.microsoft.com/office/drawing/2017/decorative" val="1"/>
              </a:ext>
            </a:extLst>
          </p:cNvPr>
          <p:cNvGrpSpPr/>
          <p:nvPr/>
        </p:nvGrpSpPr>
        <p:grpSpPr>
          <a:xfrm>
            <a:off x="10616913" y="5113187"/>
            <a:ext cx="1209652" cy="1440289"/>
            <a:chOff x="7162800" y="4191000"/>
            <a:chExt cx="1676400" cy="1981200"/>
          </a:xfrm>
        </p:grpSpPr>
        <p:sp>
          <p:nvSpPr>
            <p:cNvPr id="5" name="Rectangle 4">
              <a:extLst>
                <a:ext uri="{FF2B5EF4-FFF2-40B4-BE49-F238E27FC236}">
                  <a16:creationId xmlns:a16="http://schemas.microsoft.com/office/drawing/2014/main" id="{9A363A38-967D-02D2-4734-2DEBEEAB1924}"/>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2625D29F-0F87-D54C-0271-A2CFBB417C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1DF60618-AD32-FC6C-98B1-8BCA0A5B3819}"/>
                </a:ext>
              </a:extLst>
            </p:cNvPr>
            <p:cNvSpPr/>
            <p:nvPr/>
          </p:nvSpPr>
          <p:spPr>
            <a:xfrm>
              <a:off x="7162800" y="5812970"/>
              <a:ext cx="1664628"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1" name="Group 10">
            <a:extLst>
              <a:ext uri="{FF2B5EF4-FFF2-40B4-BE49-F238E27FC236}">
                <a16:creationId xmlns:a16="http://schemas.microsoft.com/office/drawing/2014/main" id="{58331EDE-1CA8-E5FB-B708-E783259A1612}"/>
              </a:ext>
            </a:extLst>
          </p:cNvPr>
          <p:cNvGrpSpPr/>
          <p:nvPr/>
        </p:nvGrpSpPr>
        <p:grpSpPr>
          <a:xfrm>
            <a:off x="579853" y="6122589"/>
            <a:ext cx="3967260" cy="430887"/>
            <a:chOff x="269461" y="6324600"/>
            <a:chExt cx="3967260" cy="430887"/>
          </a:xfrm>
        </p:grpSpPr>
        <p:sp>
          <p:nvSpPr>
            <p:cNvPr id="12" name="TextBox 11">
              <a:extLst>
                <a:ext uri="{FF2B5EF4-FFF2-40B4-BE49-F238E27FC236}">
                  <a16:creationId xmlns:a16="http://schemas.microsoft.com/office/drawing/2014/main" id="{8A9BE7C4-74C8-EC01-0F16-5763EED2CDC7}"/>
                </a:ext>
              </a:extLst>
            </p:cNvPr>
            <p:cNvSpPr txBox="1"/>
            <p:nvPr/>
          </p:nvSpPr>
          <p:spPr>
            <a:xfrm>
              <a:off x="1219200" y="6324600"/>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13" name="Picture 2">
              <a:extLst>
                <a:ext uri="{FF2B5EF4-FFF2-40B4-BE49-F238E27FC236}">
                  <a16:creationId xmlns:a16="http://schemas.microsoft.com/office/drawing/2014/main" id="{0C27022D-8DAB-6367-BEDC-C4EE0B0FB4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461" y="6372959"/>
              <a:ext cx="888838" cy="31109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5007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Decision-theoretic Agents</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idx="1"/>
          </p:nvPr>
        </p:nvSpPr>
        <p:spPr>
          <a:xfrm>
            <a:off x="838200" y="1544321"/>
            <a:ext cx="5728855" cy="4607097"/>
          </a:xfrm>
        </p:spPr>
        <p:txBody>
          <a:bodyPr>
            <a:normAutofit fontScale="70000" lnSpcReduction="20000"/>
          </a:bodyPr>
          <a:lstStyle/>
          <a:p>
            <a:pPr lvl="0">
              <a:buNone/>
            </a:pPr>
            <a:r>
              <a:rPr lang="en-US" dirty="0"/>
              <a:t>Recap</a:t>
            </a:r>
          </a:p>
          <a:p>
            <a:r>
              <a:rPr lang="en-US" b="1" dirty="0"/>
              <a:t>A</a:t>
            </a:r>
            <a:r>
              <a:rPr lang="en-US" sz="2800" b="1" dirty="0"/>
              <a:t>gents based on logic</a:t>
            </a:r>
            <a:r>
              <a:rPr lang="en-US" sz="2800" dirty="0"/>
              <a:t>:  </a:t>
            </a:r>
            <a:r>
              <a:rPr lang="en-US" dirty="0"/>
              <a:t>Cannot deal with uncertainty, conflicting goals, etc.</a:t>
            </a:r>
          </a:p>
          <a:p>
            <a:r>
              <a:rPr lang="en-US" sz="2800" b="1" dirty="0"/>
              <a:t>Goal-based agents</a:t>
            </a:r>
            <a:r>
              <a:rPr lang="en-US" sz="2800" dirty="0"/>
              <a:t>: </a:t>
            </a:r>
            <a:r>
              <a:rPr lang="en-US" dirty="0"/>
              <a:t>Can only assign goal/not goal to states and find goal states.</a:t>
            </a:r>
          </a:p>
          <a:p>
            <a:endParaRPr lang="en-US" dirty="0"/>
          </a:p>
          <a:p>
            <a:r>
              <a:rPr lang="en-US" sz="2800" dirty="0"/>
              <a:t>A decision-theoretic agent is a special type of a </a:t>
            </a:r>
            <a:r>
              <a:rPr lang="en-US" sz="2800" b="1" dirty="0"/>
              <a:t>utility-based agent </a:t>
            </a:r>
            <a:r>
              <a:rPr lang="en-US" sz="2800" dirty="0"/>
              <a:t>based on decision theory.</a:t>
            </a:r>
            <a:br>
              <a:rPr lang="en-US" sz="2800" dirty="0"/>
            </a:br>
            <a:br>
              <a:rPr lang="en-US" sz="2800" dirty="0"/>
            </a:br>
            <a:r>
              <a:rPr lang="en-US" sz="2800" dirty="0"/>
              <a:t>Approach:</a:t>
            </a:r>
            <a:endParaRPr lang="en-US" sz="2800" b="1" dirty="0"/>
          </a:p>
          <a:p>
            <a:pPr lvl="1"/>
            <a:r>
              <a:rPr lang="en-US" dirty="0"/>
              <a:t>Assign a </a:t>
            </a:r>
            <a:r>
              <a:rPr lang="en-US" b="1" dirty="0"/>
              <a:t>utility</a:t>
            </a:r>
            <a:r>
              <a:rPr lang="en-US" dirty="0"/>
              <a:t> value to each state. </a:t>
            </a:r>
          </a:p>
          <a:p>
            <a:pPr lvl="1"/>
            <a:r>
              <a:rPr lang="en-US" dirty="0"/>
              <a:t>Utility is related to the external performance measure (in the PEAS description).</a:t>
            </a:r>
          </a:p>
          <a:p>
            <a:pPr lvl="1"/>
            <a:r>
              <a:rPr lang="en-US" dirty="0"/>
              <a:t>Uses </a:t>
            </a:r>
            <a:r>
              <a:rPr lang="en-US" b="1" dirty="0"/>
              <a:t>probabilities</a:t>
            </a:r>
            <a:r>
              <a:rPr lang="en-US" dirty="0"/>
              <a:t> to assess its current state (for partial observability) and the results of actions (for stochastic environments).</a:t>
            </a:r>
          </a:p>
          <a:p>
            <a:pPr lvl="1"/>
            <a:r>
              <a:rPr lang="en-US" dirty="0"/>
              <a:t>A rational agent optimizes the </a:t>
            </a:r>
            <a:r>
              <a:rPr lang="en-US" b="1" dirty="0"/>
              <a:t>expected utility</a:t>
            </a:r>
            <a:r>
              <a:rPr lang="en-US" dirty="0"/>
              <a:t>.</a:t>
            </a:r>
            <a:endParaRPr lang="en-US" sz="2800" dirty="0"/>
          </a:p>
          <a:p>
            <a:endParaRPr lang="en-US" dirty="0"/>
          </a:p>
          <a:p>
            <a:endParaRPr lang="en-US" dirty="0"/>
          </a:p>
          <a:p>
            <a:endParaRPr lang="en-US" sz="2800" dirty="0"/>
          </a:p>
          <a:p>
            <a:endParaRPr lang="en-US" dirty="0"/>
          </a:p>
        </p:txBody>
      </p:sp>
      <p:graphicFrame>
        <p:nvGraphicFramePr>
          <p:cNvPr id="7" name="Content Placeholder 3" descr="Decision theory is probability theory and utility theory used together.">
            <a:extLst>
              <a:ext uri="{FF2B5EF4-FFF2-40B4-BE49-F238E27FC236}">
                <a16:creationId xmlns:a16="http://schemas.microsoft.com/office/drawing/2014/main" id="{6E9CF8E8-6D7F-DAF8-BF9D-F2B1298F0147}"/>
              </a:ext>
            </a:extLst>
          </p:cNvPr>
          <p:cNvGraphicFramePr>
            <a:graphicFrameLocks/>
          </p:cNvGraphicFramePr>
          <p:nvPr>
            <p:extLst>
              <p:ext uri="{D42A27DB-BD31-4B8C-83A1-F6EECF244321}">
                <p14:modId xmlns:p14="http://schemas.microsoft.com/office/powerpoint/2010/main" val="504371900"/>
              </p:ext>
            </p:extLst>
          </p:nvPr>
        </p:nvGraphicFramePr>
        <p:xfrm>
          <a:off x="5643659" y="3429000"/>
          <a:ext cx="6633538" cy="164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133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Simple 				vs. 		Complex Decisions </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sz="half" idx="1"/>
          </p:nvPr>
        </p:nvSpPr>
        <p:spPr>
          <a:xfrm>
            <a:off x="778088" y="2808777"/>
            <a:ext cx="4844627" cy="3098588"/>
          </a:xfrm>
        </p:spPr>
        <p:txBody>
          <a:bodyPr>
            <a:normAutofit fontScale="70000" lnSpcReduction="20000"/>
          </a:bodyPr>
          <a:lstStyle/>
          <a:p>
            <a:pPr marL="0" indent="0">
              <a:buNone/>
            </a:pPr>
            <a:endParaRPr lang="en-US" dirty="0"/>
          </a:p>
          <a:p>
            <a:pPr marL="285750" indent="-285750">
              <a:buFont typeface="Arial" panose="020B0604020202020204" pitchFamily="34" charset="0"/>
              <a:buChar char="•"/>
            </a:pPr>
            <a:r>
              <a:rPr lang="en-US" dirty="0"/>
              <a:t>We make the same decision frequently + making it once does not affect future decisions. This means we have an </a:t>
            </a:r>
            <a:r>
              <a:rPr lang="en-US" b="1" dirty="0"/>
              <a:t>episodic environment</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have a </a:t>
            </a:r>
            <a:r>
              <a:rPr lang="en-US" b="1" dirty="0"/>
              <a:t>stochastic</a:t>
            </a:r>
            <a:r>
              <a:rPr lang="en-US" dirty="0"/>
              <a:t> environment (e.g., with non-deterministic actions or probabilistic transitions).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be </a:t>
            </a:r>
            <a:r>
              <a:rPr lang="en-US" b="1" dirty="0"/>
              <a:t>partially observable</a:t>
            </a:r>
            <a:r>
              <a:rPr lang="en-US" dirty="0"/>
              <a:t>.</a:t>
            </a:r>
          </a:p>
          <a:p>
            <a:pPr marL="0" indent="0">
              <a:buNone/>
            </a:pPr>
            <a:endParaRPr lang="en-US" dirty="0"/>
          </a:p>
          <a:p>
            <a:endParaRPr lang="en-US" sz="2800" dirty="0"/>
          </a:p>
          <a:p>
            <a:endParaRPr lang="en-US" dirty="0"/>
          </a:p>
        </p:txBody>
      </p:sp>
      <p:sp>
        <p:nvSpPr>
          <p:cNvPr id="6" name="TextBox 5">
            <a:extLst>
              <a:ext uri="{FF2B5EF4-FFF2-40B4-BE49-F238E27FC236}">
                <a16:creationId xmlns:a16="http://schemas.microsoft.com/office/drawing/2014/main" id="{12B81323-AADD-F620-C5DA-5481BE894B9F}"/>
              </a:ext>
            </a:extLst>
          </p:cNvPr>
          <p:cNvSpPr txBox="1"/>
          <p:nvPr/>
        </p:nvSpPr>
        <p:spPr>
          <a:xfrm>
            <a:off x="917786" y="5992297"/>
            <a:ext cx="4592320" cy="369332"/>
          </a:xfrm>
          <a:prstGeom prst="rect">
            <a:avLst/>
          </a:prstGeom>
          <a:noFill/>
        </p:spPr>
        <p:txBody>
          <a:bodyPr wrap="square" rtlCol="0">
            <a:spAutoFit/>
          </a:bodyPr>
          <a:lstStyle/>
          <a:p>
            <a:r>
              <a:rPr lang="en-US" b="1" dirty="0">
                <a:solidFill>
                  <a:schemeClr val="accent2"/>
                </a:solidFill>
              </a:rPr>
              <a:t>We focus on making simple decisions for now!</a:t>
            </a:r>
          </a:p>
        </p:txBody>
      </p:sp>
      <p:sp>
        <p:nvSpPr>
          <p:cNvPr id="3" name="Content Placeholder 2">
            <a:extLst>
              <a:ext uri="{FF2B5EF4-FFF2-40B4-BE49-F238E27FC236}">
                <a16:creationId xmlns:a16="http://schemas.microsoft.com/office/drawing/2014/main" id="{566237A1-B5AF-03E1-64E0-5224BA7922BB}"/>
              </a:ext>
            </a:extLst>
          </p:cNvPr>
          <p:cNvSpPr>
            <a:spLocks noGrp="1"/>
          </p:cNvSpPr>
          <p:nvPr>
            <p:ph sz="half" idx="2"/>
          </p:nvPr>
        </p:nvSpPr>
        <p:spPr>
          <a:xfrm>
            <a:off x="6152098" y="3090671"/>
            <a:ext cx="5181600" cy="3086291"/>
          </a:xfrm>
        </p:spPr>
        <p:txBody>
          <a:bodyPr>
            <a:normAutofit fontScale="70000" lnSpcReduction="20000"/>
          </a:bodyPr>
          <a:lstStyle/>
          <a:p>
            <a:r>
              <a:rPr lang="en-US" b="1" dirty="0"/>
              <a:t>Sequential decision making</a:t>
            </a:r>
            <a:r>
              <a:rPr lang="en-US" dirty="0"/>
              <a:t>: The agent’s utility depends on a sequence of decisions.</a:t>
            </a:r>
          </a:p>
          <a:p>
            <a:endParaRPr lang="en-US" dirty="0"/>
          </a:p>
          <a:p>
            <a:r>
              <a:rPr lang="en-US" dirty="0"/>
              <a:t>Search, planning, and playing games we have covered so far are examples of such problems.</a:t>
            </a:r>
          </a:p>
          <a:p>
            <a:endParaRPr lang="en-US" dirty="0"/>
          </a:p>
          <a:p>
            <a:r>
              <a:rPr lang="en-US" dirty="0"/>
              <a:t>To solve this with decision theory requires different methods: </a:t>
            </a:r>
            <a:r>
              <a:rPr lang="en-US" b="1" dirty="0"/>
              <a:t>Markov Decision Processes (MDP)</a:t>
            </a:r>
          </a:p>
        </p:txBody>
      </p:sp>
      <p:sp>
        <p:nvSpPr>
          <p:cNvPr id="5" name="TextBox 4">
            <a:extLst>
              <a:ext uri="{FF2B5EF4-FFF2-40B4-BE49-F238E27FC236}">
                <a16:creationId xmlns:a16="http://schemas.microsoft.com/office/drawing/2014/main" id="{94CB6756-1B32-A8FA-BB92-224E500864DA}"/>
              </a:ext>
              <a:ext uri="{C183D7F6-B498-43B3-948B-1728B52AA6E4}">
                <adec:decorative xmlns:adec="http://schemas.microsoft.com/office/drawing/2017/decorative" val="1"/>
              </a:ext>
            </a:extLst>
          </p:cNvPr>
          <p:cNvSpPr txBox="1"/>
          <p:nvPr/>
        </p:nvSpPr>
        <p:spPr>
          <a:xfrm>
            <a:off x="430690" y="1301949"/>
            <a:ext cx="5330613" cy="5059680"/>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p:txBody>
      </p:sp>
      <p:grpSp>
        <p:nvGrpSpPr>
          <p:cNvPr id="18" name="Group 17">
            <a:extLst>
              <a:ext uri="{FF2B5EF4-FFF2-40B4-BE49-F238E27FC236}">
                <a16:creationId xmlns:a16="http://schemas.microsoft.com/office/drawing/2014/main" id="{8E61F316-66BD-E882-10A3-E98145F5C3B8}"/>
              </a:ext>
              <a:ext uri="{C183D7F6-B498-43B3-948B-1728B52AA6E4}">
                <adec:decorative xmlns:adec="http://schemas.microsoft.com/office/drawing/2017/decorative" val="1"/>
              </a:ext>
            </a:extLst>
          </p:cNvPr>
          <p:cNvGrpSpPr/>
          <p:nvPr/>
        </p:nvGrpSpPr>
        <p:grpSpPr>
          <a:xfrm>
            <a:off x="1732312" y="1827989"/>
            <a:ext cx="2748279" cy="527666"/>
            <a:chOff x="1847426" y="5059150"/>
            <a:chExt cx="2748279" cy="527666"/>
          </a:xfrm>
        </p:grpSpPr>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52873D6D-58EF-CB70-2179-F503E5CB8773}"/>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8" name="Oval 7">
                  <a:extLst>
                    <a:ext uri="{FF2B5EF4-FFF2-40B4-BE49-F238E27FC236}">
                      <a16:creationId xmlns:a16="http://schemas.microsoft.com/office/drawing/2014/main" id="{52873D6D-58EF-CB70-2179-F503E5CB8773}"/>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2"/>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4DDC0610-D2B6-F25C-7A0F-2F3D26085341}"/>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0" name="Oval 9">
                  <a:extLst>
                    <a:ext uri="{FF2B5EF4-FFF2-40B4-BE49-F238E27FC236}">
                      <a16:creationId xmlns:a16="http://schemas.microsoft.com/office/drawing/2014/main" id="{4DDC0610-D2B6-F25C-7A0F-2F3D26085341}"/>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3"/>
                  <a:stretch>
                    <a:fillRect b="-8696"/>
                  </a:stretch>
                </a:blipFill>
                <a:ln>
                  <a:no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623EFFC-A1B1-B4F9-393F-84FC68A566FD}"/>
                </a:ext>
              </a:extLst>
            </p:cNvPr>
            <p:cNvCxnSpPr>
              <a:cxnSpLocks/>
              <a:stCxn id="8" idx="6"/>
              <a:endCxn id="10"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9A7A36D-22A3-4866-0CC7-67E1FA828E09}"/>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3" name="TextBox 12">
                  <a:extLst>
                    <a:ext uri="{FF2B5EF4-FFF2-40B4-BE49-F238E27FC236}">
                      <a16:creationId xmlns:a16="http://schemas.microsoft.com/office/drawing/2014/main" id="{A9A7A36D-22A3-4866-0CC7-67E1FA828E09}"/>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6F7D19-86E3-2122-4116-2221737EEA17}"/>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oMath>
                    </m:oMathPara>
                  </a14:m>
                  <a:endParaRPr lang="en-US" sz="1100" dirty="0"/>
                </a:p>
              </p:txBody>
            </p:sp>
          </mc:Choice>
          <mc:Fallback xmlns="">
            <p:sp>
              <p:nvSpPr>
                <p:cNvPr id="17" name="TextBox 16">
                  <a:extLst>
                    <a:ext uri="{FF2B5EF4-FFF2-40B4-BE49-F238E27FC236}">
                      <a16:creationId xmlns:a16="http://schemas.microsoft.com/office/drawing/2014/main" id="{B76F7D19-86E3-2122-4116-2221737EEA17}"/>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5"/>
                  <a:stretch>
                    <a:fillRect r="-9859" b="-4651"/>
                  </a:stretch>
                </a:blipFill>
                <a:ln>
                  <a:noFill/>
                </a:ln>
              </p:spPr>
              <p:txBody>
                <a:bodyPr/>
                <a:lstStyle/>
                <a:p>
                  <a:r>
                    <a:rPr lang="en-US">
                      <a:noFill/>
                    </a:rPr>
                    <a:t> </a:t>
                  </a:r>
                </a:p>
              </p:txBody>
            </p:sp>
          </mc:Fallback>
        </mc:AlternateContent>
      </p:grpSp>
      <p:grpSp>
        <p:nvGrpSpPr>
          <p:cNvPr id="47" name="Group 46">
            <a:extLst>
              <a:ext uri="{FF2B5EF4-FFF2-40B4-BE49-F238E27FC236}">
                <a16:creationId xmlns:a16="http://schemas.microsoft.com/office/drawing/2014/main" id="{4AB9DE76-99E0-B013-D03B-D59BBEA9F875}"/>
              </a:ext>
              <a:ext uri="{C183D7F6-B498-43B3-948B-1728B52AA6E4}">
                <adec:decorative xmlns:adec="http://schemas.microsoft.com/office/drawing/2017/decorative" val="1"/>
              </a:ext>
            </a:extLst>
          </p:cNvPr>
          <p:cNvGrpSpPr/>
          <p:nvPr/>
        </p:nvGrpSpPr>
        <p:grpSpPr>
          <a:xfrm>
            <a:off x="6760428" y="1690688"/>
            <a:ext cx="3964939" cy="632399"/>
            <a:chOff x="6972571" y="4920035"/>
            <a:chExt cx="3964939" cy="632399"/>
          </a:xfrm>
        </p:grpSpPr>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EC109ADD-3076-FE9B-0D2E-C88588DA3C0B}"/>
                    </a:ext>
                  </a:extLst>
                </p:cNvPr>
                <p:cNvSpPr/>
                <p:nvPr/>
              </p:nvSpPr>
              <p:spPr>
                <a:xfrm>
                  <a:off x="6972571" y="510505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Currentstate </a:t>
                  </a:r>
                  <a14:m>
                    <m:oMath xmlns:m="http://schemas.openxmlformats.org/officeDocument/2006/math">
                      <m:sSub>
                        <m:sSubPr>
                          <m:ctrlPr>
                            <a:rPr lang="en-US" sz="1050" b="1" i="1" dirty="0" smtClean="0">
                              <a:latin typeface="Cambria Math" panose="02040503050406030204" pitchFamily="18" charset="0"/>
                            </a:rPr>
                          </m:ctrlPr>
                        </m:sSubPr>
                        <m:e>
                          <m:r>
                            <a:rPr lang="en-US" sz="1050" b="1" i="1" dirty="0" smtClean="0">
                              <a:latin typeface="Cambria Math" panose="02040503050406030204" pitchFamily="18" charset="0"/>
                            </a:rPr>
                            <m:t>𝒔</m:t>
                          </m:r>
                        </m:e>
                        <m:sub>
                          <m:r>
                            <a:rPr lang="en-US" sz="1050" b="1" i="1" dirty="0" smtClean="0">
                              <a:latin typeface="Cambria Math" panose="02040503050406030204" pitchFamily="18" charset="0"/>
                            </a:rPr>
                            <m:t>𝟎</m:t>
                          </m:r>
                        </m:sub>
                      </m:sSub>
                    </m:oMath>
                  </a14:m>
                  <a:endParaRPr lang="en-US" sz="1050" b="1" dirty="0"/>
                </a:p>
              </p:txBody>
            </p:sp>
          </mc:Choice>
          <mc:Fallback xmlns="">
            <p:sp>
              <p:nvSpPr>
                <p:cNvPr id="20" name="Oval 19">
                  <a:extLst>
                    <a:ext uri="{FF2B5EF4-FFF2-40B4-BE49-F238E27FC236}">
                      <a16:creationId xmlns:a16="http://schemas.microsoft.com/office/drawing/2014/main" id="{EC109ADD-3076-FE9B-0D2E-C88588DA3C0B}"/>
                    </a:ext>
                  </a:extLst>
                </p:cNvPr>
                <p:cNvSpPr>
                  <a:spLocks noRot="1" noChangeAspect="1" noMove="1" noResize="1" noEditPoints="1" noAdjustHandles="1" noChangeArrowheads="1" noChangeShapeType="1" noTextEdit="1"/>
                </p:cNvSpPr>
                <p:nvPr/>
              </p:nvSpPr>
              <p:spPr>
                <a:xfrm>
                  <a:off x="6972571" y="5105059"/>
                  <a:ext cx="916093" cy="420477"/>
                </a:xfrm>
                <a:prstGeom prst="ellipse">
                  <a:avLst/>
                </a:prstGeom>
                <a:blipFill>
                  <a:blip r:embed="rId6"/>
                  <a:stretch>
                    <a:fillRect b="-724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7C42CB84-6575-D75A-520A-0BCB64127783}"/>
                    </a:ext>
                  </a:extLst>
                </p:cNvPr>
                <p:cNvSpPr/>
                <p:nvPr/>
              </p:nvSpPr>
              <p:spPr>
                <a:xfrm>
                  <a:off x="8143506" y="5105059"/>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𝟏</m:t>
                            </m:r>
                          </m:sub>
                        </m:sSub>
                      </m:oMath>
                    </m:oMathPara>
                  </a14:m>
                  <a:endParaRPr lang="en-US" sz="1050" b="1" dirty="0"/>
                </a:p>
              </p:txBody>
            </p:sp>
          </mc:Choice>
          <mc:Fallback xmlns="">
            <p:sp>
              <p:nvSpPr>
                <p:cNvPr id="21" name="Oval 20">
                  <a:extLst>
                    <a:ext uri="{FF2B5EF4-FFF2-40B4-BE49-F238E27FC236}">
                      <a16:creationId xmlns:a16="http://schemas.microsoft.com/office/drawing/2014/main" id="{7C42CB84-6575-D75A-520A-0BCB64127783}"/>
                    </a:ext>
                  </a:extLst>
                </p:cNvPr>
                <p:cNvSpPr>
                  <a:spLocks noRot="1" noChangeAspect="1" noMove="1" noResize="1" noEditPoints="1" noAdjustHandles="1" noChangeArrowheads="1" noChangeShapeType="1" noTextEdit="1"/>
                </p:cNvSpPr>
                <p:nvPr/>
              </p:nvSpPr>
              <p:spPr>
                <a:xfrm>
                  <a:off x="8143506" y="5105059"/>
                  <a:ext cx="469904" cy="420476"/>
                </a:xfrm>
                <a:prstGeom prst="ellipse">
                  <a:avLst/>
                </a:prstGeom>
                <a:blipFill>
                  <a:blip r:embed="rId7"/>
                  <a:stretch>
                    <a:fillRect/>
                  </a:stretch>
                </a:blipFill>
                <a:ln>
                  <a:no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CDDFFD92-D379-8979-6F60-A74001E38F7C}"/>
                </a:ext>
              </a:extLst>
            </p:cNvPr>
            <p:cNvCxnSpPr>
              <a:cxnSpLocks/>
              <a:stCxn id="20" idx="6"/>
              <a:endCxn id="21" idx="2"/>
            </p:cNvCxnSpPr>
            <p:nvPr/>
          </p:nvCxnSpPr>
          <p:spPr>
            <a:xfrm flipV="1">
              <a:off x="7888664" y="5315297"/>
              <a:ext cx="254842" cy="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FD02EE2-AD9F-C310-E791-F3A0BC4DEB29}"/>
                    </a:ext>
                  </a:extLst>
                </p:cNvPr>
                <p:cNvSpPr txBox="1"/>
                <p:nvPr/>
              </p:nvSpPr>
              <p:spPr>
                <a:xfrm>
                  <a:off x="7640164" y="504322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0</m:t>
                            </m:r>
                          </m:sub>
                        </m:sSub>
                      </m:oMath>
                    </m:oMathPara>
                  </a14:m>
                  <a:endParaRPr lang="en-US" sz="1000" dirty="0"/>
                </a:p>
              </p:txBody>
            </p:sp>
          </mc:Choice>
          <mc:Fallback xmlns="">
            <p:sp>
              <p:nvSpPr>
                <p:cNvPr id="23" name="TextBox 22">
                  <a:extLst>
                    <a:ext uri="{FF2B5EF4-FFF2-40B4-BE49-F238E27FC236}">
                      <a16:creationId xmlns:a16="http://schemas.microsoft.com/office/drawing/2014/main" id="{8FD02EE2-AD9F-C310-E791-F3A0BC4DEB29}"/>
                    </a:ext>
                  </a:extLst>
                </p:cNvPr>
                <p:cNvSpPr txBox="1">
                  <a:spLocks noRot="1" noChangeAspect="1" noMove="1" noResize="1" noEditPoints="1" noAdjustHandles="1" noChangeArrowheads="1" noChangeShapeType="1" noTextEdit="1"/>
                </p:cNvSpPr>
                <p:nvPr/>
              </p:nvSpPr>
              <p:spPr>
                <a:xfrm>
                  <a:off x="7640164" y="5043228"/>
                  <a:ext cx="751840" cy="24622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184B3153-E284-5373-1874-161F9BBBE2E6}"/>
                    </a:ext>
                  </a:extLst>
                </p:cNvPr>
                <p:cNvSpPr/>
                <p:nvPr/>
              </p:nvSpPr>
              <p:spPr>
                <a:xfrm>
                  <a:off x="9486319"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r>
                              <a:rPr lang="en-US" sz="1050" b="1" i="1" smtClean="0">
                                <a:latin typeface="Cambria Math" panose="02040503050406030204" pitchFamily="18" charset="0"/>
                              </a:rPr>
                              <m:t>−</m:t>
                            </m:r>
                            <m:r>
                              <a:rPr lang="en-US" sz="1050" b="1" i="1" smtClean="0">
                                <a:latin typeface="Cambria Math" panose="02040503050406030204" pitchFamily="18" charset="0"/>
                              </a:rPr>
                              <m:t>𝟏</m:t>
                            </m:r>
                          </m:sub>
                        </m:sSub>
                      </m:oMath>
                    </m:oMathPara>
                  </a14:m>
                  <a:endParaRPr lang="en-US" sz="1050" b="1" dirty="0"/>
                </a:p>
              </p:txBody>
            </p:sp>
          </mc:Choice>
          <mc:Fallback xmlns="">
            <p:sp>
              <p:nvSpPr>
                <p:cNvPr id="35" name="Oval 34">
                  <a:extLst>
                    <a:ext uri="{FF2B5EF4-FFF2-40B4-BE49-F238E27FC236}">
                      <a16:creationId xmlns:a16="http://schemas.microsoft.com/office/drawing/2014/main" id="{184B3153-E284-5373-1874-161F9BBBE2E6}"/>
                    </a:ext>
                  </a:extLst>
                </p:cNvPr>
                <p:cNvSpPr>
                  <a:spLocks noRot="1" noChangeAspect="1" noMove="1" noResize="1" noEditPoints="1" noAdjustHandles="1" noChangeArrowheads="1" noChangeShapeType="1" noTextEdit="1"/>
                </p:cNvSpPr>
                <p:nvPr/>
              </p:nvSpPr>
              <p:spPr>
                <a:xfrm>
                  <a:off x="9486319" y="5112043"/>
                  <a:ext cx="469904" cy="420476"/>
                </a:xfrm>
                <a:prstGeom prst="ellipse">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B233F091-222B-2527-E8FD-32E3F96A23D2}"/>
                    </a:ext>
                  </a:extLst>
                </p:cNvPr>
                <p:cNvSpPr/>
                <p:nvPr/>
              </p:nvSpPr>
              <p:spPr>
                <a:xfrm>
                  <a:off x="10248324"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sub>
                        </m:sSub>
                      </m:oMath>
                    </m:oMathPara>
                  </a14:m>
                  <a:endParaRPr lang="en-US" sz="1050" b="1" dirty="0"/>
                </a:p>
              </p:txBody>
            </p:sp>
          </mc:Choice>
          <mc:Fallback xmlns="">
            <p:sp>
              <p:nvSpPr>
                <p:cNvPr id="36" name="Oval 35">
                  <a:extLst>
                    <a:ext uri="{FF2B5EF4-FFF2-40B4-BE49-F238E27FC236}">
                      <a16:creationId xmlns:a16="http://schemas.microsoft.com/office/drawing/2014/main" id="{B233F091-222B-2527-E8FD-32E3F96A23D2}"/>
                    </a:ext>
                  </a:extLst>
                </p:cNvPr>
                <p:cNvSpPr>
                  <a:spLocks noRot="1" noChangeAspect="1" noMove="1" noResize="1" noEditPoints="1" noAdjustHandles="1" noChangeArrowheads="1" noChangeShapeType="1" noTextEdit="1"/>
                </p:cNvSpPr>
                <p:nvPr/>
              </p:nvSpPr>
              <p:spPr>
                <a:xfrm>
                  <a:off x="10248324" y="5112043"/>
                  <a:ext cx="469904" cy="420476"/>
                </a:xfrm>
                <a:prstGeom prst="ellipse">
                  <a:avLst/>
                </a:prstGeom>
                <a:blipFill>
                  <a:blip r:embed="rId10"/>
                  <a:stretch>
                    <a:fillRect/>
                  </a:stretch>
                </a:blipFill>
                <a:ln>
                  <a:noFill/>
                </a:ln>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A85A7D0-5C1E-5AC3-7ACB-67EBF19F590F}"/>
                </a:ext>
              </a:extLst>
            </p:cNvPr>
            <p:cNvCxnSpPr>
              <a:cxnSpLocks/>
            </p:cNvCxnSpPr>
            <p:nvPr/>
          </p:nvCxnSpPr>
          <p:spPr>
            <a:xfrm>
              <a:off x="8613410" y="5315297"/>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02C2B0E3-5A75-14EE-15EC-D81012CCCEA8}"/>
                </a:ext>
              </a:extLst>
            </p:cNvPr>
            <p:cNvCxnSpPr>
              <a:cxnSpLocks/>
            </p:cNvCxnSpPr>
            <p:nvPr/>
          </p:nvCxnSpPr>
          <p:spPr>
            <a:xfrm>
              <a:off x="9272957" y="5323898"/>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C368E45E-6ED4-797C-D053-BA50118526F6}"/>
                </a:ext>
              </a:extLst>
            </p:cNvPr>
            <p:cNvCxnSpPr>
              <a:cxnSpLocks/>
              <a:stCxn id="35" idx="6"/>
              <a:endCxn id="36" idx="2"/>
            </p:cNvCxnSpPr>
            <p:nvPr/>
          </p:nvCxnSpPr>
          <p:spPr>
            <a:xfrm>
              <a:off x="9956223" y="5322281"/>
              <a:ext cx="292101"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C5FB4C0-2AFF-0061-DC42-77516964BCD6}"/>
                    </a:ext>
                  </a:extLst>
                </p:cNvPr>
                <p:cNvSpPr txBox="1"/>
                <p:nvPr/>
              </p:nvSpPr>
              <p:spPr>
                <a:xfrm>
                  <a:off x="10528564" y="4969482"/>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sub>
                        </m:sSub>
                        <m:r>
                          <a:rPr lang="en-US" sz="1100" i="1" dirty="0" smtClean="0">
                            <a:latin typeface="Cambria Math" panose="02040503050406030204" pitchFamily="18" charset="0"/>
                          </a:rPr>
                          <m:t>)</m:t>
                        </m:r>
                      </m:oMath>
                    </m:oMathPara>
                  </a14:m>
                  <a:endParaRPr lang="en-US" sz="1100" dirty="0"/>
                </a:p>
              </p:txBody>
            </p:sp>
          </mc:Choice>
          <mc:Fallback xmlns="">
            <p:sp>
              <p:nvSpPr>
                <p:cNvPr id="24" name="TextBox 23">
                  <a:extLst>
                    <a:ext uri="{FF2B5EF4-FFF2-40B4-BE49-F238E27FC236}">
                      <a16:creationId xmlns:a16="http://schemas.microsoft.com/office/drawing/2014/main" id="{2C5FB4C0-2AFF-0061-DC42-77516964BCD6}"/>
                    </a:ext>
                  </a:extLst>
                </p:cNvPr>
                <p:cNvSpPr txBox="1">
                  <a:spLocks noRot="1" noChangeAspect="1" noMove="1" noResize="1" noEditPoints="1" noAdjustHandles="1" noChangeArrowheads="1" noChangeShapeType="1" noTextEdit="1"/>
                </p:cNvSpPr>
                <p:nvPr/>
              </p:nvSpPr>
              <p:spPr>
                <a:xfrm>
                  <a:off x="10528564" y="4969482"/>
                  <a:ext cx="408946" cy="261610"/>
                </a:xfrm>
                <a:prstGeom prst="rect">
                  <a:avLst/>
                </a:prstGeom>
                <a:blipFill>
                  <a:blip r:embed="rId11"/>
                  <a:stretch>
                    <a:fillRect l="-5970" r="-11940"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32754EB-B033-4FB2-C534-C6D6E72B9105}"/>
                    </a:ext>
                  </a:extLst>
                </p:cNvPr>
                <p:cNvSpPr txBox="1"/>
                <p:nvPr/>
              </p:nvSpPr>
              <p:spPr>
                <a:xfrm>
                  <a:off x="9751068" y="4955552"/>
                  <a:ext cx="49725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2" name="TextBox 41">
                  <a:extLst>
                    <a:ext uri="{FF2B5EF4-FFF2-40B4-BE49-F238E27FC236}">
                      <a16:creationId xmlns:a16="http://schemas.microsoft.com/office/drawing/2014/main" id="{E32754EB-B033-4FB2-C534-C6D6E72B9105}"/>
                    </a:ext>
                  </a:extLst>
                </p:cNvPr>
                <p:cNvSpPr txBox="1">
                  <a:spLocks noRot="1" noChangeAspect="1" noMove="1" noResize="1" noEditPoints="1" noAdjustHandles="1" noChangeArrowheads="1" noChangeShapeType="1" noTextEdit="1"/>
                </p:cNvSpPr>
                <p:nvPr/>
              </p:nvSpPr>
              <p:spPr>
                <a:xfrm>
                  <a:off x="9751068" y="4955552"/>
                  <a:ext cx="497256" cy="261610"/>
                </a:xfrm>
                <a:prstGeom prst="rect">
                  <a:avLst/>
                </a:prstGeom>
                <a:blipFill>
                  <a:blip r:embed="rId12"/>
                  <a:stretch>
                    <a:fillRect l="-8642" r="-14815"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CC8E0D5-87F4-1E5F-FD8E-76FE513D5157}"/>
                    </a:ext>
                  </a:extLst>
                </p:cNvPr>
                <p:cNvSpPr txBox="1"/>
                <p:nvPr/>
              </p:nvSpPr>
              <p:spPr>
                <a:xfrm>
                  <a:off x="8452280" y="4932015"/>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3" name="TextBox 42">
                  <a:extLst>
                    <a:ext uri="{FF2B5EF4-FFF2-40B4-BE49-F238E27FC236}">
                      <a16:creationId xmlns:a16="http://schemas.microsoft.com/office/drawing/2014/main" id="{7CC8E0D5-87F4-1E5F-FD8E-76FE513D5157}"/>
                    </a:ext>
                  </a:extLst>
                </p:cNvPr>
                <p:cNvSpPr txBox="1">
                  <a:spLocks noRot="1" noChangeAspect="1" noMove="1" noResize="1" noEditPoints="1" noAdjustHandles="1" noChangeArrowheads="1" noChangeShapeType="1" noTextEdit="1"/>
                </p:cNvSpPr>
                <p:nvPr/>
              </p:nvSpPr>
              <p:spPr>
                <a:xfrm>
                  <a:off x="8452280" y="4932015"/>
                  <a:ext cx="408946" cy="261610"/>
                </a:xfrm>
                <a:prstGeom prst="rect">
                  <a:avLst/>
                </a:prstGeom>
                <a:blipFill>
                  <a:blip r:embed="rId13"/>
                  <a:stretch>
                    <a:fillRect l="-2985" r="-8955" b="-6977"/>
                  </a:stretch>
                </a:blipFill>
                <a:ln>
                  <a:noFill/>
                </a:ln>
              </p:spPr>
              <p:txBody>
                <a:bodyPr/>
                <a:lstStyle/>
                <a:p>
                  <a:r>
                    <a:rPr lang="en-US">
                      <a:noFill/>
                    </a:rPr>
                    <a:t> </a:t>
                  </a:r>
                </a:p>
              </p:txBody>
            </p:sp>
          </mc:Fallback>
        </mc:AlternateContent>
        <p:sp>
          <p:nvSpPr>
            <p:cNvPr id="44" name="TextBox 43">
              <a:extLst>
                <a:ext uri="{FF2B5EF4-FFF2-40B4-BE49-F238E27FC236}">
                  <a16:creationId xmlns:a16="http://schemas.microsoft.com/office/drawing/2014/main" id="{46F619A4-05FE-7526-28A8-6DBF2977EAC4}"/>
                </a:ext>
              </a:extLst>
            </p:cNvPr>
            <p:cNvSpPr txBox="1"/>
            <p:nvPr/>
          </p:nvSpPr>
          <p:spPr>
            <a:xfrm>
              <a:off x="8825225" y="4920035"/>
              <a:ext cx="469904" cy="584775"/>
            </a:xfrm>
            <a:prstGeom prst="rect">
              <a:avLst/>
            </a:prstGeom>
            <a:noFill/>
          </p:spPr>
          <p:txBody>
            <a:bodyPr wrap="square" rtlCol="0">
              <a:spAutoFit/>
            </a:bodyPr>
            <a:lstStyle/>
            <a:p>
              <a:r>
                <a:rPr lang="en-US" sz="3200" dirty="0">
                  <a:solidFill>
                    <a:schemeClr val="accent6"/>
                  </a:solidFill>
                </a:rPr>
                <a:t>…</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33B1CCA-C8B1-69EB-A31D-77F6AAB3D55E}"/>
                    </a:ext>
                  </a:extLst>
                </p:cNvPr>
                <p:cNvSpPr txBox="1"/>
                <p:nvPr/>
              </p:nvSpPr>
              <p:spPr>
                <a:xfrm>
                  <a:off x="8327999" y="5306213"/>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1</m:t>
                            </m:r>
                          </m:sub>
                        </m:sSub>
                      </m:oMath>
                    </m:oMathPara>
                  </a14:m>
                  <a:endParaRPr lang="en-US" sz="1000" dirty="0"/>
                </a:p>
              </p:txBody>
            </p:sp>
          </mc:Choice>
          <mc:Fallback xmlns="">
            <p:sp>
              <p:nvSpPr>
                <p:cNvPr id="45" name="TextBox 44">
                  <a:extLst>
                    <a:ext uri="{FF2B5EF4-FFF2-40B4-BE49-F238E27FC236}">
                      <a16:creationId xmlns:a16="http://schemas.microsoft.com/office/drawing/2014/main" id="{733B1CCA-C8B1-69EB-A31D-77F6AAB3D55E}"/>
                    </a:ext>
                  </a:extLst>
                </p:cNvPr>
                <p:cNvSpPr txBox="1">
                  <a:spLocks noRot="1" noChangeAspect="1" noMove="1" noResize="1" noEditPoints="1" noAdjustHandles="1" noChangeArrowheads="1" noChangeShapeType="1" noTextEdit="1"/>
                </p:cNvSpPr>
                <p:nvPr/>
              </p:nvSpPr>
              <p:spPr>
                <a:xfrm>
                  <a:off x="8327999" y="5306213"/>
                  <a:ext cx="751840" cy="246221"/>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75A1CC5-FC8C-1421-4D61-DC8CE629E4A9}"/>
                    </a:ext>
                  </a:extLst>
                </p:cNvPr>
                <p:cNvSpPr txBox="1"/>
                <p:nvPr/>
              </p:nvSpPr>
              <p:spPr>
                <a:xfrm>
                  <a:off x="9726353" y="529975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𝑇</m:t>
                            </m:r>
                            <m:r>
                              <a:rPr lang="en-US" sz="1000" b="0" i="1" dirty="0" smtClean="0">
                                <a:latin typeface="Cambria Math" panose="02040503050406030204" pitchFamily="18" charset="0"/>
                              </a:rPr>
                              <m:t>−1</m:t>
                            </m:r>
                          </m:sub>
                        </m:sSub>
                      </m:oMath>
                    </m:oMathPara>
                  </a14:m>
                  <a:endParaRPr lang="en-US" sz="1000" dirty="0"/>
                </a:p>
              </p:txBody>
            </p:sp>
          </mc:Choice>
          <mc:Fallback xmlns="">
            <p:sp>
              <p:nvSpPr>
                <p:cNvPr id="46" name="TextBox 45">
                  <a:extLst>
                    <a:ext uri="{FF2B5EF4-FFF2-40B4-BE49-F238E27FC236}">
                      <a16:creationId xmlns:a16="http://schemas.microsoft.com/office/drawing/2014/main" id="{A75A1CC5-FC8C-1421-4D61-DC8CE629E4A9}"/>
                    </a:ext>
                  </a:extLst>
                </p:cNvPr>
                <p:cNvSpPr txBox="1">
                  <a:spLocks noRot="1" noChangeAspect="1" noMove="1" noResize="1" noEditPoints="1" noAdjustHandles="1" noChangeArrowheads="1" noChangeShapeType="1" noTextEdit="1"/>
                </p:cNvSpPr>
                <p:nvPr/>
              </p:nvSpPr>
              <p:spPr>
                <a:xfrm>
                  <a:off x="9726353" y="5299758"/>
                  <a:ext cx="751840" cy="246221"/>
                </a:xfrm>
                <a:prstGeom prst="rect">
                  <a:avLst/>
                </a:prstGeom>
                <a:blipFill>
                  <a:blip r:embed="rId1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32369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6" y="640080"/>
            <a:ext cx="4818888" cy="1481328"/>
          </a:xfrm>
        </p:spPr>
        <p:txBody>
          <a:bodyPr anchor="b">
            <a:normAutofit/>
          </a:bodyPr>
          <a:lstStyle/>
          <a:p>
            <a:r>
              <a:rPr lang="en-US" sz="5400" dirty="0"/>
              <a:t>Utility</a:t>
            </a:r>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2660904"/>
                <a:ext cx="5069474" cy="3807990"/>
              </a:xfrm>
            </p:spPr>
            <p:txBody>
              <a:bodyPr anchor="t">
                <a:normAutofit fontScale="92500" lnSpcReduction="20000"/>
              </a:bodyPr>
              <a:lstStyle/>
              <a:p>
                <a:r>
                  <a:rPr lang="en-US" sz="1800" dirty="0"/>
                  <a:t>A utility 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0">
                        <a:latin typeface="Cambria Math" panose="02040503050406030204" pitchFamily="18" charset="0"/>
                      </a:rPr>
                      <m:t> </m:t>
                    </m:r>
                  </m:oMath>
                </a14:m>
                <a:r>
                  <a:rPr lang="en-US" sz="1800" dirty="0"/>
                  <a:t> expresses the desirability of being in state </a:t>
                </a:r>
                <a14:m>
                  <m:oMath xmlns:m="http://schemas.openxmlformats.org/officeDocument/2006/math">
                    <m:r>
                      <a:rPr lang="en-US" sz="1800" i="1" dirty="0" smtClean="0">
                        <a:latin typeface="Cambria Math" panose="02040503050406030204" pitchFamily="18" charset="0"/>
                      </a:rPr>
                      <m:t>𝑠</m:t>
                    </m:r>
                  </m:oMath>
                </a14:m>
                <a:r>
                  <a:rPr lang="en-US" sz="1800" dirty="0"/>
                  <a:t>.</a:t>
                </a:r>
              </a:p>
              <a:p>
                <a:r>
                  <a:rPr lang="en-US" sz="1800" dirty="0"/>
                  <a:t>Utility functions are derived from preferences:</a:t>
                </a:r>
              </a:p>
              <a:p>
                <a:pPr marL="0" indent="0" algn="ctr">
                  <a:buNone/>
                </a:pPr>
                <a14:m>
                  <m:oMath xmlns:m="http://schemas.openxmlformats.org/officeDocument/2006/math">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𝐴</m:t>
                        </m:r>
                      </m:e>
                    </m:d>
                    <m:r>
                      <a:rPr lang="en-US" sz="1800" b="0" i="1">
                        <a:latin typeface="Cambria Math" panose="02040503050406030204" pitchFamily="18" charset="0"/>
                      </a:rPr>
                      <m:t>&gt;</m:t>
                    </m:r>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𝐵</m:t>
                        </m:r>
                      </m:e>
                    </m:d>
                    <m:groupChr>
                      <m:groupChrPr>
                        <m:chr m:val="⇔"/>
                        <m:pos m:val="top"/>
                        <m:ctrlPr>
                          <a:rPr lang="en-US" sz="1800" b="0" i="1">
                            <a:latin typeface="Cambria Math" panose="02040503050406030204" pitchFamily="18" charset="0"/>
                          </a:rPr>
                        </m:ctrlPr>
                      </m:groupChrPr>
                      <m:e/>
                    </m:groupChr>
                    <m:r>
                      <a:rPr lang="en-US" sz="1800" b="0" i="1">
                        <a:latin typeface="Cambria Math" panose="02040503050406030204" pitchFamily="18" charset="0"/>
                      </a:rPr>
                      <m:t>𝐴</m:t>
                    </m:r>
                    <m:r>
                      <a:rPr lang="en-US" sz="1800" b="0" i="1">
                        <a:latin typeface="Cambria Math" panose="02040503050406030204" pitchFamily="18" charset="0"/>
                        <a:ea typeface="Cambria Math" panose="02040503050406030204" pitchFamily="18" charset="0"/>
                      </a:rPr>
                      <m:t>≻</m:t>
                    </m:r>
                    <m:r>
                      <a:rPr lang="en-US" sz="1800" b="0" i="1">
                        <a:latin typeface="Cambria Math" panose="02040503050406030204" pitchFamily="18" charset="0"/>
                        <a:ea typeface="Cambria Math" panose="02040503050406030204" pitchFamily="18" charset="0"/>
                      </a:rPr>
                      <m:t>𝐵</m:t>
                    </m:r>
                  </m:oMath>
                </a14:m>
                <a:r>
                  <a:rPr lang="en-US" sz="1800" dirty="0"/>
                  <a:t>   … Preference </a:t>
                </a:r>
                <a:br>
                  <a:rPr lang="en-US" sz="1800" dirty="0"/>
                </a:br>
                <a:r>
                  <a:rPr lang="en-US" sz="1800" dirty="0"/>
                  <a:t> and      </a:t>
                </a:r>
                <a:br>
                  <a:rPr lang="en-US" sz="1800" dirty="0"/>
                </a:br>
                <a14:m>
                  <m:oMath xmlns:m="http://schemas.openxmlformats.org/officeDocument/2006/math">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𝐴</m:t>
                        </m:r>
                      </m:e>
                    </m:d>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𝐵</m:t>
                        </m:r>
                      </m:e>
                    </m:d>
                    <m:groupChr>
                      <m:groupChrPr>
                        <m:chr m:val="⇔"/>
                        <m:pos m:val="top"/>
                        <m:ctrlPr>
                          <a:rPr lang="en-US" sz="1800" i="1">
                            <a:latin typeface="Cambria Math" panose="02040503050406030204" pitchFamily="18" charset="0"/>
                            <a:ea typeface="Cambria Math" panose="02040503050406030204" pitchFamily="18" charset="0"/>
                          </a:rPr>
                        </m:ctrlPr>
                      </m:groupChrPr>
                      <m:e/>
                    </m:groupChr>
                    <m:r>
                      <a:rPr lang="en-US" sz="1800" i="1">
                        <a:latin typeface="Cambria Math" panose="02040503050406030204" pitchFamily="18" charset="0"/>
                        <a:ea typeface="Cambria Math" panose="02040503050406030204" pitchFamily="18" charset="0"/>
                      </a:rPr>
                      <m:t>𝐴</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𝐵</m:t>
                    </m:r>
                  </m:oMath>
                </a14:m>
                <a:r>
                  <a:rPr lang="en-US" sz="1800" dirty="0"/>
                  <a:t>     … Indifference</a:t>
                </a:r>
              </a:p>
              <a:p>
                <a:endParaRPr lang="en-US" sz="1800" dirty="0"/>
              </a:p>
              <a:p>
                <a:r>
                  <a:rPr lang="en-US" sz="1800" dirty="0"/>
                  <a:t>It is often enough to know an </a:t>
                </a:r>
                <a:r>
                  <a:rPr lang="en-US" sz="1800" b="1" dirty="0"/>
                  <a:t>ordinal utility function</a:t>
                </a:r>
                <a:r>
                  <a:rPr lang="en-US" sz="1800" dirty="0"/>
                  <a:t> representing a </a:t>
                </a:r>
                <a:r>
                  <a:rPr lang="en-US" sz="1800" b="1" dirty="0"/>
                  <a:t>ranking</a:t>
                </a:r>
                <a:r>
                  <a:rPr lang="en-US" sz="1800" dirty="0"/>
                  <a:t> of states to make decisions like moving to the better state.</a:t>
                </a:r>
              </a:p>
              <a:p>
                <a:r>
                  <a:rPr lang="en-US" sz="1800" dirty="0"/>
                  <a:t>To use expectation, we need a </a:t>
                </a:r>
                <a:r>
                  <a:rPr lang="en-US" sz="1800" b="1" dirty="0"/>
                  <a:t>cardinal utility function</a:t>
                </a:r>
                <a:r>
                  <a:rPr lang="en-US" sz="1800" dirty="0"/>
                  <a:t> where the number represents levels of absolute satisfaction. </a:t>
                </a:r>
                <a:br>
                  <a:rPr lang="en-US" sz="1800" dirty="0"/>
                </a:br>
                <a:r>
                  <a:rPr lang="en-US" sz="1800" dirty="0"/>
                  <a:t>That is: </a:t>
                </a:r>
              </a:p>
              <a:p>
                <a:pPr lvl="1"/>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U</m:t>
                    </m:r>
                    <m:d>
                      <m:dPr>
                        <m:ctrlPr>
                          <a:rPr lang="en-US" sz="1400" b="0" i="1" smtClean="0">
                            <a:latin typeface="Cambria Math" panose="02040503050406030204" pitchFamily="18" charset="0"/>
                            <a:ea typeface="Cambria Math" panose="02040503050406030204" pitchFamily="18" charset="0"/>
                          </a:rPr>
                        </m:ctrlPr>
                      </m:dPr>
                      <m:e>
                        <m:r>
                          <a:rPr lang="en-US" sz="1400" b="0" i="0" smtClean="0">
                            <a:latin typeface="Cambria Math" panose="02040503050406030204" pitchFamily="18" charset="0"/>
                            <a:ea typeface="Cambria Math" panose="02040503050406030204" pitchFamily="18" charset="0"/>
                          </a:rPr>
                          <m:t>0</m:t>
                        </m:r>
                      </m:e>
                    </m:d>
                    <m:r>
                      <a:rPr lang="en-US" sz="1400" b="0" i="0" smtClean="0">
                        <a:latin typeface="Cambria Math" panose="02040503050406030204" pitchFamily="18" charset="0"/>
                        <a:ea typeface="Cambria Math" panose="02040503050406030204" pitchFamily="18" charset="0"/>
                      </a:rPr>
                      <m:t> </m:t>
                    </m:r>
                    <m:r>
                      <a:rPr lang="en-US" sz="1400" i="1">
                        <a:latin typeface="Cambria Math" panose="02040503050406030204" pitchFamily="18" charset="0"/>
                        <a:ea typeface="Cambria Math" panose="02040503050406030204" pitchFamily="18" charset="0"/>
                      </a:rPr>
                      <m:t>~</m:t>
                    </m:r>
                    <m:r>
                      <m:rPr>
                        <m:nor/>
                      </m:rPr>
                      <a:rPr lang="en-US" sz="1400" b="0" i="0" smtClean="0">
                        <a:latin typeface="Cambria Math" panose="02040503050406030204" pitchFamily="18" charset="0"/>
                        <a:ea typeface="Cambria Math" panose="02040503050406030204" pitchFamily="18" charset="0"/>
                      </a:rPr>
                      <m:t> </m:t>
                    </m:r>
                    <m:r>
                      <m:rPr>
                        <m:nor/>
                      </m:rPr>
                      <a:rPr lang="en-US" sz="1400" b="0" i="0" smtClean="0">
                        <a:latin typeface="Cambria Math" panose="02040503050406030204" pitchFamily="18" charset="0"/>
                        <a:ea typeface="Cambria Math" panose="02040503050406030204" pitchFamily="18" charset="0"/>
                      </a:rPr>
                      <m:t>nothing</m:t>
                    </m:r>
                  </m:oMath>
                </a14:m>
                <a:r>
                  <a:rPr lang="en-US" sz="1400" dirty="0"/>
                  <a:t> </a:t>
                </a:r>
              </a:p>
              <a:p>
                <a:pPr lvl="1"/>
                <a14:m>
                  <m:oMath xmlns:m="http://schemas.openxmlformats.org/officeDocument/2006/math">
                    <m:r>
                      <a:rPr lang="en-US" sz="1400" i="1" dirty="0" smtClean="0">
                        <a:latin typeface="Cambria Math" panose="02040503050406030204" pitchFamily="18" charset="0"/>
                      </a:rPr>
                      <m:t>2</m:t>
                    </m:r>
                    <m:r>
                      <a:rPr lang="en-US" sz="1400" b="0" i="1" dirty="0" smtClean="0">
                        <a:latin typeface="Cambria Math" panose="02040503050406030204" pitchFamily="18" charset="0"/>
                      </a:rPr>
                      <m:t>×</m:t>
                    </m:r>
                    <m:r>
                      <a:rPr lang="en-US" sz="1400" i="1" dirty="0" smtClean="0">
                        <a:latin typeface="Cambria Math" panose="02040503050406030204" pitchFamily="18" charset="0"/>
                      </a:rPr>
                      <m:t>𝑈</m:t>
                    </m:r>
                  </m:oMath>
                </a14:m>
                <a:r>
                  <a:rPr lang="en-US" sz="1400" dirty="0"/>
                  <a:t> is twice as good as </a:t>
                </a:r>
                <a14:m>
                  <m:oMath xmlns:m="http://schemas.openxmlformats.org/officeDocument/2006/math">
                    <m:r>
                      <a:rPr lang="en-US" sz="1400" i="1" dirty="0" smtClean="0">
                        <a:latin typeface="Cambria Math" panose="02040503050406030204" pitchFamily="18" charset="0"/>
                      </a:rPr>
                      <m:t>𝑈</m:t>
                    </m:r>
                  </m:oMath>
                </a14:m>
                <a:endParaRPr lang="en-US" sz="1400" dirty="0"/>
              </a:p>
            </p:txBody>
          </p:sp>
        </mc:Choice>
        <mc:Fallback xmlns="">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2660904"/>
                <a:ext cx="5069474" cy="3807990"/>
              </a:xfrm>
              <a:blipFill>
                <a:blip r:embed="rId2"/>
                <a:stretch>
                  <a:fillRect l="-602" t="-2404" r="-120" b="-80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D33A57F-9A60-431B-5388-97822A30A13E}"/>
              </a:ext>
              <a:ext uri="{C183D7F6-B498-43B3-948B-1728B52AA6E4}">
                <adec:decorative xmlns:adec="http://schemas.microsoft.com/office/drawing/2017/decorative" val="1"/>
              </a:ext>
            </a:extLst>
          </p:cNvPr>
          <p:cNvGrpSpPr/>
          <p:nvPr/>
        </p:nvGrpSpPr>
        <p:grpSpPr>
          <a:xfrm>
            <a:off x="6052102" y="1024593"/>
            <a:ext cx="5708926" cy="5833407"/>
            <a:chOff x="6052102" y="1024593"/>
            <a:chExt cx="5708926" cy="5833407"/>
          </a:xfrm>
        </p:grpSpPr>
        <p:pic>
          <p:nvPicPr>
            <p:cNvPr id="6" name="Graphic 5" descr="Treasure chest with solid fill">
              <a:extLst>
                <a:ext uri="{FF2B5EF4-FFF2-40B4-BE49-F238E27FC236}">
                  <a16:creationId xmlns:a16="http://schemas.microsoft.com/office/drawing/2014/main" id="{49EEED46-F31F-8BE3-5EE6-139B460481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59885" y="3114102"/>
              <a:ext cx="3743898" cy="3743898"/>
            </a:xfrm>
            <a:prstGeom prst="rect">
              <a:avLst/>
            </a:prstGeom>
          </p:spPr>
        </p:pic>
        <p:pic>
          <p:nvPicPr>
            <p:cNvPr id="7" name="Graphic 6" descr="Treasure chest with solid fill">
              <a:extLst>
                <a:ext uri="{FF2B5EF4-FFF2-40B4-BE49-F238E27FC236}">
                  <a16:creationId xmlns:a16="http://schemas.microsoft.com/office/drawing/2014/main" id="{C8A45945-5B44-3875-D2CE-D0CC81AB05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52102" y="1024593"/>
              <a:ext cx="2802646" cy="2802646"/>
            </a:xfrm>
            <a:prstGeom prst="rect">
              <a:avLst/>
            </a:prstGeom>
          </p:spPr>
        </p:pic>
        <p:pic>
          <p:nvPicPr>
            <p:cNvPr id="8" name="Graphic 7" descr="Treasure chest with solid fill">
              <a:extLst>
                <a:ext uri="{FF2B5EF4-FFF2-40B4-BE49-F238E27FC236}">
                  <a16:creationId xmlns:a16="http://schemas.microsoft.com/office/drawing/2014/main" id="{875F3D4C-6172-B31E-0D70-8B551D0B4D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58382" y="1024593"/>
              <a:ext cx="2802646" cy="2802646"/>
            </a:xfrm>
            <a:prstGeom prst="rect">
              <a:avLst/>
            </a:prstGeom>
          </p:spPr>
        </p:pic>
        <p:sp>
          <p:nvSpPr>
            <p:cNvPr id="9" name="TextBox 8">
              <a:extLst>
                <a:ext uri="{FF2B5EF4-FFF2-40B4-BE49-F238E27FC236}">
                  <a16:creationId xmlns:a16="http://schemas.microsoft.com/office/drawing/2014/main" id="{281EC481-FB94-1823-223A-62E0FF3EDDAB}"/>
                </a:ext>
              </a:extLst>
            </p:cNvPr>
            <p:cNvSpPr txBox="1"/>
            <p:nvPr/>
          </p:nvSpPr>
          <p:spPr>
            <a:xfrm>
              <a:off x="8662748" y="2095309"/>
              <a:ext cx="591267" cy="923330"/>
            </a:xfrm>
            <a:prstGeom prst="rect">
              <a:avLst/>
            </a:prstGeom>
            <a:noFill/>
          </p:spPr>
          <p:txBody>
            <a:bodyPr wrap="square" rtlCol="0">
              <a:spAutoFit/>
            </a:bodyPr>
            <a:lstStyle/>
            <a:p>
              <a:r>
                <a:rPr lang="en-US" sz="5400" dirty="0"/>
                <a:t>+</a:t>
              </a:r>
            </a:p>
          </p:txBody>
        </p:sp>
        <p:sp>
          <p:nvSpPr>
            <p:cNvPr id="5" name="TextBox 4">
              <a:extLst>
                <a:ext uri="{FF2B5EF4-FFF2-40B4-BE49-F238E27FC236}">
                  <a16:creationId xmlns:a16="http://schemas.microsoft.com/office/drawing/2014/main" id="{873EE3D4-A3DA-6017-9C4C-627CD7DB9EC0}"/>
                </a:ext>
              </a:extLst>
            </p:cNvPr>
            <p:cNvSpPr txBox="1"/>
            <p:nvPr/>
          </p:nvSpPr>
          <p:spPr>
            <a:xfrm>
              <a:off x="7689273"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0" name="TextBox 9">
              <a:extLst>
                <a:ext uri="{FF2B5EF4-FFF2-40B4-BE49-F238E27FC236}">
                  <a16:creationId xmlns:a16="http://schemas.microsoft.com/office/drawing/2014/main" id="{C3FE5F88-524F-B3B8-B4CB-80FEC65986DB}"/>
                </a:ext>
              </a:extLst>
            </p:cNvPr>
            <p:cNvSpPr txBox="1"/>
            <p:nvPr/>
          </p:nvSpPr>
          <p:spPr>
            <a:xfrm>
              <a:off x="10639378"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1" name="TextBox 10">
              <a:extLst>
                <a:ext uri="{FF2B5EF4-FFF2-40B4-BE49-F238E27FC236}">
                  <a16:creationId xmlns:a16="http://schemas.microsoft.com/office/drawing/2014/main" id="{3D4D435E-CAF7-043D-EC86-C9C83DE248FC}"/>
                </a:ext>
              </a:extLst>
            </p:cNvPr>
            <p:cNvSpPr txBox="1"/>
            <p:nvPr/>
          </p:nvSpPr>
          <p:spPr>
            <a:xfrm>
              <a:off x="9644621" y="5602574"/>
              <a:ext cx="511864" cy="461665"/>
            </a:xfrm>
            <a:prstGeom prst="rect">
              <a:avLst/>
            </a:prstGeom>
            <a:noFill/>
          </p:spPr>
          <p:txBody>
            <a:bodyPr wrap="square" rtlCol="0">
              <a:spAutoFit/>
            </a:bodyPr>
            <a:lstStyle/>
            <a:p>
              <a:r>
                <a:rPr lang="en-US" sz="2400" b="1" dirty="0">
                  <a:solidFill>
                    <a:schemeClr val="bg1"/>
                  </a:solidFill>
                </a:rPr>
                <a:t>20</a:t>
              </a:r>
            </a:p>
          </p:txBody>
        </p:sp>
      </p:grpSp>
    </p:spTree>
    <p:extLst>
      <p:ext uri="{BB962C8B-B14F-4D97-AF65-F5344CB8AC3E}">
        <p14:creationId xmlns:p14="http://schemas.microsoft.com/office/powerpoint/2010/main" val="260501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5" y="640080"/>
            <a:ext cx="6162717" cy="1481328"/>
          </a:xfrm>
        </p:spPr>
        <p:txBody>
          <a:bodyPr anchor="b">
            <a:normAutofit fontScale="90000"/>
          </a:bodyPr>
          <a:lstStyle/>
          <a:p>
            <a:r>
              <a:rPr lang="en-US" sz="4800" dirty="0"/>
              <a:t>Expected Utility of an Action Under Uncertainty</a:t>
            </a:r>
          </a:p>
        </p:txBody>
      </p:sp>
      <p:sp>
        <p:nvSpPr>
          <p:cNvPr id="1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3327063"/>
                <a:ext cx="5458968" cy="3268580"/>
              </a:xfrm>
            </p:spPr>
            <p:txBody>
              <a:bodyPr anchor="t">
                <a:normAutofit fontScale="77500" lnSpcReduction="20000"/>
              </a:bodyPr>
              <a:lstStyle/>
              <a:p>
                <a:pPr marL="0" indent="0">
                  <a:buNone/>
                </a:pPr>
                <a:r>
                  <a:rPr lang="en-US" sz="1800" dirty="0"/>
                  <a:t>We need:</a:t>
                </a:r>
              </a:p>
              <a:p>
                <a:r>
                  <a:rPr lang="en-US" sz="1800" dirty="0"/>
                  <a:t>The probability distribution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oMath>
                </a14:m>
                <a:r>
                  <a:rPr lang="en-US" sz="1800" dirty="0"/>
                  <a:t>that the current state is </a:t>
                </a:r>
                <a14:m>
                  <m:oMath xmlns:m="http://schemas.openxmlformats.org/officeDocument/2006/math">
                    <m:r>
                      <a:rPr lang="en-US" sz="1800" i="1" dirty="0" smtClean="0">
                        <a:latin typeface="Cambria Math" panose="02040503050406030204" pitchFamily="18" charset="0"/>
                      </a:rPr>
                      <m:t>𝑠</m:t>
                    </m:r>
                    <m:r>
                      <a:rPr lang="en-US" sz="1800" i="1">
                        <a:latin typeface="Cambria Math" panose="02040503050406030204" pitchFamily="18" charset="0"/>
                      </a:rPr>
                      <m:t>.</m:t>
                    </m:r>
                  </m:oMath>
                </a14:m>
                <a:endParaRPr lang="en-US" sz="1800" dirty="0"/>
              </a:p>
              <a:p>
                <a:r>
                  <a:rPr lang="en-US" sz="1800" dirty="0"/>
                  <a:t>The transition model specified as transition probabilities </a:t>
                </a:r>
                <a14:m>
                  <m:oMath xmlns:m="http://schemas.openxmlformats.org/officeDocument/2006/math">
                    <m:r>
                      <a:rPr lang="en-US" sz="1800" i="1" smtClean="0">
                        <a:latin typeface="Cambria Math" panose="02040503050406030204" pitchFamily="18" charset="0"/>
                      </a:rPr>
                      <m:t>𝑃</m:t>
                    </m:r>
                    <m:r>
                      <a:rPr lang="en-US" sz="180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b="0" i="1" smtClean="0">
                        <a:latin typeface="Cambria Math" panose="02040503050406030204" pitchFamily="18" charset="0"/>
                      </a:rPr>
                      <m:t>)</m:t>
                    </m:r>
                  </m:oMath>
                </a14:m>
                <a:r>
                  <a:rPr lang="en-US" sz="1800" dirty="0"/>
                  <a:t> of getting from </a:t>
                </a:r>
                <a14:m>
                  <m:oMath xmlns:m="http://schemas.openxmlformats.org/officeDocument/2006/math">
                    <m:r>
                      <a:rPr lang="en-US" sz="1800" i="1" dirty="0" smtClean="0">
                        <a:latin typeface="Cambria Math" panose="02040503050406030204" pitchFamily="18" charset="0"/>
                      </a:rPr>
                      <m:t>𝑠</m:t>
                    </m:r>
                  </m:oMath>
                </a14:m>
                <a:r>
                  <a:rPr lang="en-US" sz="1800" dirty="0"/>
                  <a:t> to </a:t>
                </a:r>
                <a14:m>
                  <m:oMath xmlns:m="http://schemas.openxmlformats.org/officeDocument/2006/math">
                    <m:r>
                      <a:rPr lang="en-US" sz="1800" i="1" dirty="0" smtClean="0">
                        <a:latin typeface="Cambria Math" panose="02040503050406030204" pitchFamily="18" charset="0"/>
                      </a:rPr>
                      <m:t>𝑠</m:t>
                    </m:r>
                    <m:r>
                      <a:rPr lang="en-US" sz="1800" i="1" dirty="0" smtClean="0">
                        <a:latin typeface="Cambria Math" panose="02040503050406030204" pitchFamily="18" charset="0"/>
                      </a:rPr>
                      <m:t>’</m:t>
                    </m:r>
                  </m:oMath>
                </a14:m>
                <a:r>
                  <a:rPr lang="en-US" sz="1800" dirty="0"/>
                  <a:t> given action </a:t>
                </a:r>
                <a14:m>
                  <m:oMath xmlns:m="http://schemas.openxmlformats.org/officeDocument/2006/math">
                    <m:r>
                      <a:rPr lang="en-US" sz="1800" i="1" dirty="0" smtClean="0">
                        <a:latin typeface="Cambria Math" panose="02040503050406030204" pitchFamily="18" charset="0"/>
                      </a:rPr>
                      <m:t>𝑎</m:t>
                    </m:r>
                  </m:oMath>
                </a14:m>
                <a:r>
                  <a:rPr lang="en-US" sz="1800" dirty="0"/>
                  <a:t>. </a:t>
                </a:r>
              </a:p>
              <a:p>
                <a:r>
                  <a:rPr lang="en-US" sz="1800" dirty="0"/>
                  <a:t>A </a:t>
                </a:r>
                <a:r>
                  <a:rPr lang="en-US" sz="1800" b="1" dirty="0"/>
                  <a:t>cardinal utility </a:t>
                </a:r>
                <a:r>
                  <a:rPr lang="en-US" sz="1800" dirty="0"/>
                  <a:t>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b="0" i="1" smtClean="0">
                            <a:latin typeface="Cambria Math" panose="02040503050406030204" pitchFamily="18" charset="0"/>
                          </a:rPr>
                          <m:t>′</m:t>
                        </m:r>
                      </m:e>
                    </m:d>
                  </m:oMath>
                </a14:m>
                <a:r>
                  <a:rPr lang="en-US" sz="1800" dirty="0"/>
                  <a:t>.</a:t>
                </a:r>
              </a:p>
              <a:p>
                <a:pPr marL="0" indent="0">
                  <a:buNone/>
                </a:pPr>
                <a:endParaRPr lang="en-US" sz="1800" dirty="0"/>
              </a:p>
              <a:p>
                <a:pPr marL="0" indent="0">
                  <a:buNone/>
                </a:pPr>
                <a:r>
                  <a:rPr lang="en-US" sz="1800" dirty="0"/>
                  <a:t>The probability that action </a:t>
                </a:r>
                <a14:m>
                  <m:oMath xmlns:m="http://schemas.openxmlformats.org/officeDocument/2006/math">
                    <m:r>
                      <a:rPr lang="en-US" sz="1800" i="1" dirty="0" smtClean="0">
                        <a:latin typeface="Cambria Math" panose="02040503050406030204" pitchFamily="18" charset="0"/>
                      </a:rPr>
                      <m:t>𝑎</m:t>
                    </m:r>
                  </m:oMath>
                </a14:m>
                <a:r>
                  <a:rPr lang="en-US" sz="1800" dirty="0"/>
                  <a:t> will get us from </a:t>
                </a:r>
                <a14:m>
                  <m:oMath xmlns:m="http://schemas.openxmlformats.org/officeDocument/2006/math">
                    <m:r>
                      <a:rPr lang="en-US" sz="1800" i="1" dirty="0" smtClean="0">
                        <a:latin typeface="Cambria Math" panose="02040503050406030204" pitchFamily="18" charset="0"/>
                      </a:rPr>
                      <m:t>𝑠</m:t>
                    </m:r>
                  </m:oMath>
                </a14:m>
                <a:r>
                  <a:rPr lang="en-US" sz="1800" dirty="0"/>
                  <a:t> to a future state s’ is</a:t>
                </a:r>
              </a:p>
              <a:p>
                <a:pPr marL="0" indent="0">
                  <a:buNone/>
                </a:pP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oMath>
                  </m:oMathPara>
                </a14:m>
                <a:endParaRPr lang="en-US" sz="1800" dirty="0"/>
              </a:p>
              <a:p>
                <a:pPr marL="0" indent="0">
                  <a:buNone/>
                </a:pPr>
                <a:r>
                  <a:rPr lang="en-US" sz="1800" dirty="0"/>
                  <a:t>The expected utility of action </a:t>
                </a:r>
                <a14:m>
                  <m:oMath xmlns:m="http://schemas.openxmlformats.org/officeDocument/2006/math">
                    <m:r>
                      <a:rPr lang="en-US" sz="1800" i="1" dirty="0" smtClean="0">
                        <a:latin typeface="Cambria Math" panose="02040503050406030204" pitchFamily="18" charset="0"/>
                      </a:rPr>
                      <m:t>𝑎</m:t>
                    </m:r>
                  </m:oMath>
                </a14:m>
                <a:r>
                  <a:rPr lang="en-US" sz="1800" dirty="0"/>
                  <a:t> over all possible future states is</a:t>
                </a: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𝐸𝑈</m:t>
                      </m:r>
                      <m:d>
                        <m:dPr>
                          <m:ctrlPr>
                            <a:rPr lang="en-US" sz="1800" i="1">
                              <a:latin typeface="Cambria Math" panose="02040503050406030204" pitchFamily="18" charset="0"/>
                            </a:rPr>
                          </m:ctrlPr>
                        </m:dPr>
                        <m:e>
                          <m:r>
                            <a:rPr lang="en-US" sz="1800" i="1">
                              <a:latin typeface="Cambria Math" panose="02040503050406030204" pitchFamily="18" charset="0"/>
                            </a:rPr>
                            <m:t>𝑎</m:t>
                          </m:r>
                        </m:e>
                      </m:d>
                      <m:r>
                        <a:rPr lang="en-US" sz="1800" i="1">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b="0" i="1" smtClean="0">
                              <a:latin typeface="Cambria Math" panose="02040503050406030204" pitchFamily="18" charset="0"/>
                            </a:rPr>
                            <m:t> </m:t>
                          </m:r>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r>
                        <a:rPr lang="en-US" sz="1800" b="0" i="1" smtClean="0">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i="1">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oMath>
                  </m:oMathPara>
                </a14:m>
                <a:endParaRPr lang="en-US" sz="1800" dirty="0"/>
              </a:p>
            </p:txBody>
          </p:sp>
        </mc:Choice>
        <mc:Fallback xmlns="">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3327063"/>
                <a:ext cx="5458968" cy="3268580"/>
              </a:xfrm>
              <a:blipFill>
                <a:blip r:embed="rId2"/>
                <a:stretch>
                  <a:fillRect l="-335" t="-2052" r="-335" b="-28358"/>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889C7155-3CBF-415D-8E4E-49D1C4FFAFC4}"/>
              </a:ext>
              <a:ext uri="{C183D7F6-B498-43B3-948B-1728B52AA6E4}">
                <adec:decorative xmlns:adec="http://schemas.microsoft.com/office/drawing/2017/decorative" val="1"/>
              </a:ext>
            </a:extLst>
          </p:cNvPr>
          <p:cNvGrpSpPr/>
          <p:nvPr/>
        </p:nvGrpSpPr>
        <p:grpSpPr>
          <a:xfrm>
            <a:off x="6099049" y="655510"/>
            <a:ext cx="5458969" cy="5546979"/>
            <a:chOff x="6387377" y="640080"/>
            <a:chExt cx="5288335" cy="5373594"/>
          </a:xfrm>
        </p:grpSpPr>
        <p:grpSp>
          <p:nvGrpSpPr>
            <p:cNvPr id="7" name="Group 6">
              <a:extLst>
                <a:ext uri="{FF2B5EF4-FFF2-40B4-BE49-F238E27FC236}">
                  <a16:creationId xmlns:a16="http://schemas.microsoft.com/office/drawing/2014/main" id="{2E06B45E-7A75-44C4-9486-DC451D2A8DB4}"/>
                </a:ext>
              </a:extLst>
            </p:cNvPr>
            <p:cNvGrpSpPr/>
            <p:nvPr/>
          </p:nvGrpSpPr>
          <p:grpSpPr>
            <a:xfrm>
              <a:off x="6387377" y="640080"/>
              <a:ext cx="5288335" cy="5373594"/>
              <a:chOff x="5917930" y="521367"/>
              <a:chExt cx="5815266" cy="5815266"/>
            </a:xfrm>
          </p:grpSpPr>
          <p:pic>
            <p:nvPicPr>
              <p:cNvPr id="5" name="Graphic 4" descr="Treasure chest with solid fill">
                <a:extLst>
                  <a:ext uri="{FF2B5EF4-FFF2-40B4-BE49-F238E27FC236}">
                    <a16:creationId xmlns:a16="http://schemas.microsoft.com/office/drawing/2014/main" id="{2BBC9BFE-F444-4468-A129-D431DC3161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02179" y="1699910"/>
                <a:ext cx="1555744" cy="1555744"/>
              </a:xfrm>
              <a:prstGeom prst="rect">
                <a:avLst/>
              </a:prstGeom>
            </p:spPr>
          </p:pic>
          <p:pic>
            <p:nvPicPr>
              <p:cNvPr id="6" name="Graphic 5" descr="Thought outline">
                <a:extLst>
                  <a:ext uri="{FF2B5EF4-FFF2-40B4-BE49-F238E27FC236}">
                    <a16:creationId xmlns:a16="http://schemas.microsoft.com/office/drawing/2014/main" id="{F65E11F1-DD9B-4D0A-A896-0D9E6909CB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17930" y="521367"/>
                <a:ext cx="5815266" cy="5815266"/>
              </a:xfrm>
              <a:prstGeom prst="rect">
                <a:avLst/>
              </a:prstGeom>
            </p:spPr>
          </p:pic>
        </p:grpSp>
        <p:pic>
          <p:nvPicPr>
            <p:cNvPr id="9" name="Graphic 8" descr="Question Mark with solid fill">
              <a:extLst>
                <a:ext uri="{FF2B5EF4-FFF2-40B4-BE49-F238E27FC236}">
                  <a16:creationId xmlns:a16="http://schemas.microsoft.com/office/drawing/2014/main" id="{C11336C5-4572-4154-A6DB-DE79491570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92157" y="1705881"/>
              <a:ext cx="1484047" cy="1484047"/>
            </a:xfrm>
            <a:prstGeom prst="rect">
              <a:avLst/>
            </a:prstGeom>
          </p:spPr>
        </p:pic>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63E59B-E665-0112-770E-27E00CF9D727}"/>
                  </a:ext>
                </a:extLst>
              </p:cNvPr>
              <p:cNvSpPr txBox="1"/>
              <p:nvPr/>
            </p:nvSpPr>
            <p:spPr>
              <a:xfrm>
                <a:off x="8073186" y="1317833"/>
                <a:ext cx="2194062" cy="646331"/>
              </a:xfrm>
              <a:prstGeom prst="rect">
                <a:avLst/>
              </a:prstGeom>
              <a:noFill/>
            </p:spPr>
            <p:txBody>
              <a:bodyPr wrap="none" rtlCol="0">
                <a:spAutoFit/>
              </a:bodyPr>
              <a:lstStyle/>
              <a:p>
                <a:r>
                  <a:rPr lang="en-US" dirty="0"/>
                  <a:t>If I do action </a:t>
                </a:r>
                <a14:m>
                  <m:oMath xmlns:m="http://schemas.openxmlformats.org/officeDocument/2006/math">
                    <m:r>
                      <a:rPr lang="en-US" i="1" dirty="0" smtClean="0">
                        <a:latin typeface="Cambria Math" panose="02040503050406030204" pitchFamily="18" charset="0"/>
                      </a:rPr>
                      <m:t>𝑎</m:t>
                    </m:r>
                  </m:oMath>
                </a14:m>
                <a:r>
                  <a:rPr lang="en-US" dirty="0"/>
                  <a:t> then I </a:t>
                </a:r>
                <a:br>
                  <a:rPr lang="en-US" dirty="0"/>
                </a:br>
                <a:r>
                  <a:rPr lang="en-US" dirty="0"/>
                  <a:t>will have later have</a:t>
                </a:r>
              </a:p>
            </p:txBody>
          </p:sp>
        </mc:Choice>
        <mc:Fallback xmlns="">
          <p:sp>
            <p:nvSpPr>
              <p:cNvPr id="4" name="TextBox 3">
                <a:extLst>
                  <a:ext uri="{FF2B5EF4-FFF2-40B4-BE49-F238E27FC236}">
                    <a16:creationId xmlns:a16="http://schemas.microsoft.com/office/drawing/2014/main" id="{2E63E59B-E665-0112-770E-27E00CF9D727}"/>
                  </a:ext>
                </a:extLst>
              </p:cNvPr>
              <p:cNvSpPr txBox="1">
                <a:spLocks noRot="1" noChangeAspect="1" noMove="1" noResize="1" noEditPoints="1" noAdjustHandles="1" noChangeArrowheads="1" noChangeShapeType="1" noTextEdit="1"/>
              </p:cNvSpPr>
              <p:nvPr/>
            </p:nvSpPr>
            <p:spPr>
              <a:xfrm>
                <a:off x="8073186" y="1317833"/>
                <a:ext cx="2194062" cy="646331"/>
              </a:xfrm>
              <a:prstGeom prst="rect">
                <a:avLst/>
              </a:prstGeom>
              <a:blipFill>
                <a:blip r:embed="rId9"/>
                <a:stretch>
                  <a:fillRect l="-2222" t="-4717" r="-1667" b="-1415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B35AD90-3773-361B-BC70-E98652CD2E95}"/>
              </a:ext>
              <a:ext uri="{C183D7F6-B498-43B3-948B-1728B52AA6E4}">
                <adec:decorative xmlns:adec="http://schemas.microsoft.com/office/drawing/2017/decorative" val="1"/>
              </a:ext>
            </a:extLst>
          </p:cNvPr>
          <p:cNvGrpSpPr/>
          <p:nvPr/>
        </p:nvGrpSpPr>
        <p:grpSpPr>
          <a:xfrm>
            <a:off x="1601683" y="2656556"/>
            <a:ext cx="2748279" cy="527666"/>
            <a:chOff x="1847426" y="5059150"/>
            <a:chExt cx="2748279" cy="527666"/>
          </a:xfrm>
        </p:grpSpPr>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BB1274D0-3B06-3480-5474-73FF4CE28615}"/>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10" name="Oval 9">
                  <a:extLst>
                    <a:ext uri="{FF2B5EF4-FFF2-40B4-BE49-F238E27FC236}">
                      <a16:creationId xmlns:a16="http://schemas.microsoft.com/office/drawing/2014/main" id="{BB1274D0-3B06-3480-5474-73FF4CE28615}"/>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10"/>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0F677F90-A644-6BF1-FCFE-AFE6A334A4F4}"/>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2" name="Oval 11">
                  <a:extLst>
                    <a:ext uri="{FF2B5EF4-FFF2-40B4-BE49-F238E27FC236}">
                      <a16:creationId xmlns:a16="http://schemas.microsoft.com/office/drawing/2014/main" id="{0F677F90-A644-6BF1-FCFE-AFE6A334A4F4}"/>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11"/>
                  <a:stretch>
                    <a:fillRect b="-8696"/>
                  </a:stretch>
                </a:blipFill>
                <a:ln>
                  <a:noFill/>
                </a:ln>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69CBB393-D246-8A0C-5456-F8ABCBC8C228}"/>
                </a:ext>
              </a:extLst>
            </p:cNvPr>
            <p:cNvCxnSpPr>
              <a:cxnSpLocks/>
              <a:stCxn id="10" idx="6"/>
              <a:endCxn id="12"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B7EA328-46CE-97F7-4F4D-E0260C673214}"/>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4" name="TextBox 13">
                  <a:extLst>
                    <a:ext uri="{FF2B5EF4-FFF2-40B4-BE49-F238E27FC236}">
                      <a16:creationId xmlns:a16="http://schemas.microsoft.com/office/drawing/2014/main" id="{FB7EA328-46CE-97F7-4F4D-E0260C673214}"/>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12"/>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D6490A-4CCD-A7E5-A6B9-5622D6A57FF9}"/>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oMath>
                    </m:oMathPara>
                  </a14:m>
                  <a:endParaRPr lang="en-US" sz="1100" dirty="0"/>
                </a:p>
              </p:txBody>
            </p:sp>
          </mc:Choice>
          <mc:Fallback xmlns="">
            <p:sp>
              <p:nvSpPr>
                <p:cNvPr id="15" name="TextBox 14">
                  <a:extLst>
                    <a:ext uri="{FF2B5EF4-FFF2-40B4-BE49-F238E27FC236}">
                      <a16:creationId xmlns:a16="http://schemas.microsoft.com/office/drawing/2014/main" id="{64D6490A-4CCD-A7E5-A6B9-5622D6A57FF9}"/>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13"/>
                  <a:stretch>
                    <a:fillRect r="-9859" b="-4651"/>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22799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65CF40-403F-4D5C-83A9-FE59C85749EF}"/>
              </a:ext>
            </a:extLst>
          </p:cNvPr>
          <p:cNvSpPr>
            <a:spLocks noGrp="1"/>
          </p:cNvSpPr>
          <p:nvPr>
            <p:ph type="title"/>
          </p:nvPr>
        </p:nvSpPr>
        <p:spPr>
          <a:xfrm>
            <a:off x="630936" y="640080"/>
            <a:ext cx="4818888" cy="1481328"/>
          </a:xfrm>
        </p:spPr>
        <p:txBody>
          <a:bodyPr anchor="b">
            <a:normAutofit/>
          </a:bodyPr>
          <a:lstStyle/>
          <a:p>
            <a:r>
              <a:rPr lang="en-US" sz="3600" dirty="0"/>
              <a:t>Principle of Maximum </a:t>
            </a:r>
            <a:br>
              <a:rPr lang="en-US" sz="3600" dirty="0"/>
            </a:br>
            <a:r>
              <a:rPr lang="en-US" sz="3600" dirty="0"/>
              <a:t>Expected Utility (MEU)</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968958-DEBE-42D6-9E7A-549D0E34B8AD}"/>
                  </a:ext>
                </a:extLst>
              </p:cNvPr>
              <p:cNvSpPr>
                <a:spLocks noGrp="1"/>
              </p:cNvSpPr>
              <p:nvPr>
                <p:ph idx="1"/>
              </p:nvPr>
            </p:nvSpPr>
            <p:spPr>
              <a:xfrm>
                <a:off x="624841" y="2532488"/>
                <a:ext cx="5639772" cy="3767266"/>
              </a:xfrm>
            </p:spPr>
            <p:txBody>
              <a:bodyPr anchor="t">
                <a:normAutofit fontScale="92500" lnSpcReduction="10000"/>
              </a:bodyPr>
              <a:lstStyle/>
              <a:p>
                <a:pPr marL="0" indent="0">
                  <a:buNone/>
                </a:pPr>
                <a:r>
                  <a:rPr lang="en-US" sz="1600" dirty="0"/>
                  <a:t>Given the expected utility of an action</a:t>
                </a:r>
                <a:br>
                  <a:rPr lang="en-US" sz="1600" dirty="0"/>
                </a:b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𝐸𝑈</m:t>
                      </m:r>
                      <m:d>
                        <m:dPr>
                          <m:ctrlPr>
                            <a:rPr lang="en-US" sz="1600" b="0" i="1">
                              <a:latin typeface="Cambria Math" panose="02040503050406030204" pitchFamily="18" charset="0"/>
                            </a:rPr>
                          </m:ctrlPr>
                        </m:dPr>
                        <m:e>
                          <m:r>
                            <a:rPr lang="en-US" sz="1600" b="0" i="1">
                              <a:latin typeface="Cambria Math" panose="02040503050406030204" pitchFamily="18" charset="0"/>
                            </a:rPr>
                            <m:t>𝑎</m:t>
                          </m:r>
                        </m:e>
                      </m:d>
                      <m:r>
                        <a:rPr lang="en-US" sz="1600" b="0" i="1">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𝑠</m:t>
                          </m:r>
                          <m:r>
                            <a:rPr lang="en-US" sz="1600" i="1">
                              <a:latin typeface="Cambria Math" panose="02040503050406030204" pitchFamily="18" charset="0"/>
                            </a:rPr>
                            <m:t>′</m:t>
                          </m:r>
                        </m:sub>
                        <m:sup/>
                        <m:e>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𝑠</m:t>
                              </m:r>
                            </m:sub>
                            <m:sup/>
                            <m:e>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 </m:t>
                              </m:r>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nary>
                          <m:r>
                            <a:rPr lang="en-US" sz="1600" i="1">
                              <a:latin typeface="Cambria Math" panose="02040503050406030204" pitchFamily="18" charset="0"/>
                            </a:rPr>
                            <m:t>𝑈</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e>
                      </m:nary>
                    </m:oMath>
                  </m:oMathPara>
                </a14:m>
                <a:endParaRPr lang="en-US" sz="1600" dirty="0"/>
              </a:p>
              <a:p>
                <a:pPr marL="0" indent="0">
                  <a:buNone/>
                </a:pPr>
                <a:r>
                  <a:rPr lang="en-US" sz="1600" dirty="0"/>
                  <a:t>A decision-theoretic agent chooses the action that maximizes the expected utility:</a:t>
                </a:r>
                <a:br>
                  <a:rPr lang="en-US" sz="1600" dirty="0"/>
                </a:br>
                <a:br>
                  <a:rPr lang="en-US" sz="1600" dirty="0"/>
                </a:br>
                <a14:m>
                  <m:oMathPara xmlns:m="http://schemas.openxmlformats.org/officeDocument/2006/math">
                    <m:oMathParaPr>
                      <m:jc m:val="centerGroup"/>
                    </m:oMathParaPr>
                    <m:oMath xmlns:m="http://schemas.openxmlformats.org/officeDocument/2006/math">
                      <m:sSup>
                        <m:sSupPr>
                          <m:ctrlPr>
                            <a:rPr lang="en-US" sz="1600" b="0" i="1">
                              <a:latin typeface="Cambria Math" panose="02040503050406030204" pitchFamily="18" charset="0"/>
                            </a:rPr>
                          </m:ctrlPr>
                        </m:sSupPr>
                        <m:e>
                          <m:r>
                            <a:rPr lang="en-US" sz="1600" b="0" i="1">
                              <a:latin typeface="Cambria Math" panose="02040503050406030204" pitchFamily="18" charset="0"/>
                            </a:rPr>
                            <m:t>𝑎</m:t>
                          </m:r>
                        </m:e>
                        <m:sup>
                          <m:r>
                            <a:rPr lang="en-US" sz="1600" b="0" i="1">
                              <a:latin typeface="Cambria Math" panose="02040503050406030204" pitchFamily="18" charset="0"/>
                            </a:rPr>
                            <m:t>∗</m:t>
                          </m:r>
                        </m:sup>
                      </m:sSup>
                      <m:r>
                        <a:rPr lang="en-US" sz="1600" b="0" i="1">
                          <a:latin typeface="Cambria Math" panose="02040503050406030204" pitchFamily="18" charset="0"/>
                        </a:rPr>
                        <m:t>=</m:t>
                      </m:r>
                      <m:sSub>
                        <m:sSubPr>
                          <m:ctrlPr>
                            <a:rPr lang="en-US" sz="1600" b="0" i="1">
                              <a:latin typeface="Cambria Math" panose="02040503050406030204" pitchFamily="18" charset="0"/>
                            </a:rPr>
                          </m:ctrlPr>
                        </m:sSubPr>
                        <m:e>
                          <m:r>
                            <m:rPr>
                              <m:sty m:val="p"/>
                            </m:rPr>
                            <a:rPr lang="en-US" sz="1600" b="0" i="0">
                              <a:latin typeface="Cambria Math" panose="02040503050406030204" pitchFamily="18" charset="0"/>
                            </a:rPr>
                            <m:t>argmax</m:t>
                          </m:r>
                        </m:e>
                        <m:sub>
                          <m:r>
                            <a:rPr lang="en-US" sz="1600" b="0" i="1">
                              <a:latin typeface="Cambria Math" panose="02040503050406030204" pitchFamily="18" charset="0"/>
                            </a:rPr>
                            <m:t>𝑎</m:t>
                          </m:r>
                        </m:sub>
                      </m:sSub>
                      <m:r>
                        <a:rPr lang="en-US" sz="1600" b="0" i="1">
                          <a:latin typeface="Cambria Math" panose="02040503050406030204" pitchFamily="18" charset="0"/>
                        </a:rPr>
                        <m:t> </m:t>
                      </m:r>
                      <m:r>
                        <a:rPr lang="en-US" sz="1600" b="0" i="1">
                          <a:latin typeface="Cambria Math" panose="02040503050406030204" pitchFamily="18" charset="0"/>
                        </a:rPr>
                        <m:t>𝐸𝑈</m:t>
                      </m:r>
                      <m:r>
                        <a:rPr lang="en-US" sz="1600" b="0" i="1">
                          <a:latin typeface="Cambria Math" panose="02040503050406030204" pitchFamily="18" charset="0"/>
                        </a:rPr>
                        <m:t>(</m:t>
                      </m:r>
                      <m:r>
                        <a:rPr lang="en-US" sz="1600" b="0" i="1">
                          <a:latin typeface="Cambria Math" panose="02040503050406030204" pitchFamily="18" charset="0"/>
                        </a:rPr>
                        <m:t>𝑎</m:t>
                      </m:r>
                      <m:r>
                        <a:rPr lang="en-US" sz="1600" b="0" i="1">
                          <a:latin typeface="Cambria Math" panose="02040503050406030204" pitchFamily="18" charset="0"/>
                        </a:rPr>
                        <m:t>)</m:t>
                      </m:r>
                    </m:oMath>
                  </m:oMathPara>
                </a14:m>
                <a:endParaRPr lang="en-US" sz="1600" dirty="0"/>
              </a:p>
              <a:p>
                <a:pPr marL="0" indent="0">
                  <a:buNone/>
                </a:pPr>
                <a:endParaRPr lang="en-US" sz="1600" b="1" dirty="0"/>
              </a:p>
              <a:p>
                <a:pPr marL="0" indent="0">
                  <a:buNone/>
                </a:pPr>
                <a:r>
                  <a:rPr lang="en-US" sz="1600" b="1" dirty="0"/>
                  <a:t>Issue:</a:t>
                </a:r>
              </a:p>
              <a:p>
                <a14:m>
                  <m:oMath xmlns:m="http://schemas.openxmlformats.org/officeDocument/2006/math">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b="0" i="1" smtClean="0">
                        <a:latin typeface="Cambria Math" panose="02040503050406030204" pitchFamily="18" charset="0"/>
                      </a:rPr>
                      <m:t>)</m:t>
                    </m:r>
                  </m:oMath>
                </a14:m>
                <a:r>
                  <a:rPr lang="en-US" sz="1600" dirty="0"/>
                  <a:t> is a very large table if we have many states.</a:t>
                </a:r>
              </a:p>
              <a:p>
                <a:pPr marL="0" indent="0">
                  <a:buNone/>
                </a:pPr>
                <a:r>
                  <a:rPr lang="en-US" sz="1600" b="1" dirty="0"/>
                  <a:t>Possible solution:</a:t>
                </a:r>
              </a:p>
              <a:p>
                <a:r>
                  <a:rPr lang="en-US" sz="1600" dirty="0"/>
                  <a:t>Use a Bayesian network with a factored state representation considering conditional independence between random variables describing the state. This leads to </a:t>
                </a:r>
                <a:r>
                  <a:rPr lang="en-US" sz="1600" b="1" dirty="0"/>
                  <a:t>Decision Networks</a:t>
                </a:r>
                <a:r>
                  <a:rPr lang="en-US" sz="1600" dirty="0"/>
                  <a:t>. </a:t>
                </a:r>
              </a:p>
            </p:txBody>
          </p:sp>
        </mc:Choice>
        <mc:Fallback xmlns="">
          <p:sp>
            <p:nvSpPr>
              <p:cNvPr id="3" name="Content Placeholder 2">
                <a:extLst>
                  <a:ext uri="{FF2B5EF4-FFF2-40B4-BE49-F238E27FC236}">
                    <a16:creationId xmlns:a16="http://schemas.microsoft.com/office/drawing/2014/main" id="{02968958-DEBE-42D6-9E7A-549D0E34B8AD}"/>
                  </a:ext>
                </a:extLst>
              </p:cNvPr>
              <p:cNvSpPr>
                <a:spLocks noGrp="1" noRot="1" noChangeAspect="1" noMove="1" noResize="1" noEditPoints="1" noAdjustHandles="1" noChangeArrowheads="1" noChangeShapeType="1" noTextEdit="1"/>
              </p:cNvSpPr>
              <p:nvPr>
                <p:ph idx="1"/>
              </p:nvPr>
            </p:nvSpPr>
            <p:spPr>
              <a:xfrm>
                <a:off x="624841" y="2532488"/>
                <a:ext cx="5639772" cy="3767266"/>
              </a:xfrm>
              <a:blipFill>
                <a:blip r:embed="rId2"/>
                <a:stretch>
                  <a:fillRect l="-432" t="-15534"/>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D00D0827-C77C-4974-8BB2-38489C996F7D}"/>
              </a:ext>
              <a:ext uri="{C183D7F6-B498-43B3-948B-1728B52AA6E4}">
                <adec:decorative xmlns:adec="http://schemas.microsoft.com/office/drawing/2017/decorative" val="1"/>
              </a:ext>
            </a:extLst>
          </p:cNvPr>
          <p:cNvGrpSpPr/>
          <p:nvPr/>
        </p:nvGrpSpPr>
        <p:grpSpPr>
          <a:xfrm>
            <a:off x="6099048" y="655510"/>
            <a:ext cx="5458968" cy="5546980"/>
            <a:chOff x="6486528" y="593576"/>
            <a:chExt cx="5288334" cy="5373595"/>
          </a:xfrm>
        </p:grpSpPr>
        <p:pic>
          <p:nvPicPr>
            <p:cNvPr id="6" name="Graphic 5" descr="Thought outline">
              <a:extLst>
                <a:ext uri="{FF2B5EF4-FFF2-40B4-BE49-F238E27FC236}">
                  <a16:creationId xmlns:a16="http://schemas.microsoft.com/office/drawing/2014/main" id="{F15033A6-8632-4FEC-ABE3-2EDA91493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86528" y="593576"/>
              <a:ext cx="5288334" cy="5373595"/>
            </a:xfrm>
            <a:prstGeom prst="rect">
              <a:avLst/>
            </a:prstGeom>
          </p:spPr>
        </p:pic>
        <p:pic>
          <p:nvPicPr>
            <p:cNvPr id="5" name="Graphic 4" descr="Treasure chest with solid fill">
              <a:extLst>
                <a:ext uri="{FF2B5EF4-FFF2-40B4-BE49-F238E27FC236}">
                  <a16:creationId xmlns:a16="http://schemas.microsoft.com/office/drawing/2014/main" id="{33AA684B-1079-4097-BB46-77B52F7E9A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41137" y="1854258"/>
              <a:ext cx="1169692" cy="1188550"/>
            </a:xfrm>
            <a:prstGeom prst="rect">
              <a:avLst/>
            </a:prstGeom>
          </p:spPr>
        </p:pic>
        <p:sp>
          <p:nvSpPr>
            <p:cNvPr id="7" name="TextBox 6">
              <a:extLst>
                <a:ext uri="{FF2B5EF4-FFF2-40B4-BE49-F238E27FC236}">
                  <a16:creationId xmlns:a16="http://schemas.microsoft.com/office/drawing/2014/main" id="{38998DB1-58CE-491A-B978-AF6D6E21D2DE}"/>
                </a:ext>
              </a:extLst>
            </p:cNvPr>
            <p:cNvSpPr txBox="1"/>
            <p:nvPr/>
          </p:nvSpPr>
          <p:spPr>
            <a:xfrm>
              <a:off x="7895043" y="2048655"/>
              <a:ext cx="803425" cy="369332"/>
            </a:xfrm>
            <a:prstGeom prst="rect">
              <a:avLst/>
            </a:prstGeom>
            <a:noFill/>
          </p:spPr>
          <p:txBody>
            <a:bodyPr wrap="none" rtlCol="0">
              <a:normAutofit/>
            </a:bodyPr>
            <a:lstStyle/>
            <a:p>
              <a:pPr>
                <a:lnSpc>
                  <a:spcPct val="90000"/>
                </a:lnSpc>
                <a:spcAft>
                  <a:spcPts val="600"/>
                </a:spcAft>
              </a:pPr>
              <a:r>
                <a:rPr lang="en-US" sz="2000" b="1" dirty="0">
                  <a:solidFill>
                    <a:schemeClr val="accent2"/>
                  </a:solidFill>
                </a:rPr>
                <a:t>Action?</a:t>
              </a:r>
            </a:p>
          </p:txBody>
        </p:sp>
        <p:pic>
          <p:nvPicPr>
            <p:cNvPr id="8" name="Graphic 7" descr="Treasure chest with solid fill">
              <a:extLst>
                <a:ext uri="{FF2B5EF4-FFF2-40B4-BE49-F238E27FC236}">
                  <a16:creationId xmlns:a16="http://schemas.microsoft.com/office/drawing/2014/main" id="{30666806-9588-4F26-B3E4-86A989189D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20595" y="1424765"/>
              <a:ext cx="789000" cy="801720"/>
            </a:xfrm>
            <a:prstGeom prst="rect">
              <a:avLst/>
            </a:prstGeom>
          </p:spPr>
        </p:pic>
        <p:pic>
          <p:nvPicPr>
            <p:cNvPr id="9" name="Graphic 8" descr="Treasure chest with solid fill">
              <a:extLst>
                <a:ext uri="{FF2B5EF4-FFF2-40B4-BE49-F238E27FC236}">
                  <a16:creationId xmlns:a16="http://schemas.microsoft.com/office/drawing/2014/main" id="{D40CE17D-5C18-49CA-BA26-A4F8513C84E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74772" y="1289828"/>
              <a:ext cx="789000" cy="801720"/>
            </a:xfrm>
            <a:prstGeom prst="rect">
              <a:avLst/>
            </a:prstGeom>
          </p:spPr>
        </p:pic>
        <p:sp>
          <p:nvSpPr>
            <p:cNvPr id="10" name="Arrow: Right 9">
              <a:extLst>
                <a:ext uri="{FF2B5EF4-FFF2-40B4-BE49-F238E27FC236}">
                  <a16:creationId xmlns:a16="http://schemas.microsoft.com/office/drawing/2014/main" id="{A57B4DB8-0E58-4761-842B-1F42FE5DB6A8}"/>
                </a:ext>
              </a:extLst>
            </p:cNvPr>
            <p:cNvSpPr/>
            <p:nvPr/>
          </p:nvSpPr>
          <p:spPr>
            <a:xfrm rot="840393">
              <a:off x="8766414" y="2227041"/>
              <a:ext cx="355392" cy="330925"/>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1960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7D7C7B3-6D85-437F-9D4A-91F28B3C0238}"/>
              </a:ext>
            </a:extLst>
          </p:cNvPr>
          <p:cNvSpPr>
            <a:spLocks noGrp="1"/>
          </p:cNvSpPr>
          <p:nvPr>
            <p:ph type="title"/>
          </p:nvPr>
        </p:nvSpPr>
        <p:spPr>
          <a:xfrm>
            <a:off x="1285241" y="1008993"/>
            <a:ext cx="9231410" cy="3542045"/>
          </a:xfrm>
        </p:spPr>
        <p:txBody>
          <a:bodyPr vert="horz" lIns="91440" tIns="45720" rIns="91440" bIns="45720" rtlCol="0" anchor="b">
            <a:noAutofit/>
          </a:bodyPr>
          <a:lstStyle/>
          <a:p>
            <a:r>
              <a:rPr lang="en-US" sz="8800" kern="1200" dirty="0">
                <a:solidFill>
                  <a:schemeClr val="tx1"/>
                </a:solidFill>
                <a:latin typeface="+mj-lt"/>
                <a:ea typeface="+mj-ea"/>
                <a:cs typeface="+mj-cs"/>
              </a:rPr>
              <a:t>Decision Networks</a:t>
            </a:r>
            <a:br>
              <a:rPr lang="en-US" sz="8800" kern="1200" dirty="0">
                <a:solidFill>
                  <a:schemeClr val="tx1"/>
                </a:solidFill>
                <a:latin typeface="+mj-lt"/>
                <a:ea typeface="+mj-ea"/>
                <a:cs typeface="+mj-cs"/>
              </a:rPr>
            </a:br>
            <a:r>
              <a:rPr lang="en-US" sz="4400" dirty="0"/>
              <a:t>U</a:t>
            </a:r>
            <a:r>
              <a:rPr lang="en-US" sz="4400" kern="1200" dirty="0">
                <a:solidFill>
                  <a:schemeClr val="tx1"/>
                </a:solidFill>
                <a:latin typeface="+mj-lt"/>
                <a:ea typeface="+mj-ea"/>
                <a:cs typeface="+mj-cs"/>
              </a:rPr>
              <a:t>sing Bayesian Networks to calculate the Expected Utility of Actions</a:t>
            </a:r>
            <a:endParaRPr lang="en-US" sz="8800" kern="1200" dirty="0">
              <a:solidFill>
                <a:schemeClr val="tx1"/>
              </a:solidFill>
              <a:latin typeface="+mj-lt"/>
              <a:ea typeface="+mj-ea"/>
              <a:cs typeface="+mj-cs"/>
            </a:endParaRPr>
          </a:p>
        </p:txBody>
      </p:sp>
      <p:sp>
        <p:nvSpPr>
          <p:cNvPr id="5" name="Text Placeholder 4">
            <a:extLst>
              <a:ext uri="{FF2B5EF4-FFF2-40B4-BE49-F238E27FC236}">
                <a16:creationId xmlns:a16="http://schemas.microsoft.com/office/drawing/2014/main" id="{BC72F15B-D350-48DF-8CD6-C6711E851220}"/>
              </a:ext>
            </a:extLst>
          </p:cNvPr>
          <p:cNvSpPr>
            <a:spLocks noGrp="1"/>
          </p:cNvSpPr>
          <p:nvPr>
            <p:ph type="body" idx="1"/>
          </p:nvPr>
        </p:nvSpPr>
        <p:spPr>
          <a:xfrm>
            <a:off x="1285241" y="4582814"/>
            <a:ext cx="7132335" cy="1312657"/>
          </a:xfrm>
        </p:spPr>
        <p:txBody>
          <a:bodyPr vert="horz" lIns="91440" tIns="45720" rIns="91440" bIns="45720" rtlCol="0" anchor="t">
            <a:normAutofit/>
          </a:bodyPr>
          <a:lstStyle/>
          <a:p>
            <a:endParaRPr lang="en-US" sz="1900" kern="1200" dirty="0">
              <a:solidFill>
                <a:schemeClr val="tx1"/>
              </a:solidFill>
              <a:latin typeface="+mn-lt"/>
              <a:ea typeface="+mn-ea"/>
              <a:cs typeface="+mn-cs"/>
            </a:endParaRPr>
          </a:p>
          <a:p>
            <a:r>
              <a:rPr lang="en-US" sz="1900" kern="1200" dirty="0">
                <a:solidFill>
                  <a:schemeClr val="tx1"/>
                </a:solidFill>
                <a:latin typeface="+mn-lt"/>
                <a:ea typeface="+mn-ea"/>
                <a:cs typeface="+mn-cs"/>
              </a:rPr>
              <a:t>The slides are based </a:t>
            </a:r>
            <a:r>
              <a:rPr lang="en-US" sz="1900" dirty="0">
                <a:solidFill>
                  <a:schemeClr val="tx1"/>
                </a:solidFill>
              </a:rPr>
              <a:t>on slides by </a:t>
            </a:r>
            <a:r>
              <a:rPr lang="en-US" sz="1900" kern="1200" dirty="0">
                <a:solidFill>
                  <a:schemeClr val="tx1"/>
                </a:solidFill>
                <a:latin typeface="+mn-lt"/>
                <a:ea typeface="+mn-ea"/>
                <a:cs typeface="+mn-cs"/>
              </a:rPr>
              <a:t>Dan Klein, Pieter </a:t>
            </a:r>
            <a:r>
              <a:rPr lang="en-US" sz="1900" kern="1200" dirty="0" err="1">
                <a:solidFill>
                  <a:schemeClr val="tx1"/>
                </a:solidFill>
                <a:latin typeface="+mn-lt"/>
                <a:ea typeface="+mn-ea"/>
                <a:cs typeface="+mn-cs"/>
              </a:rPr>
              <a:t>Abbeel</a:t>
            </a:r>
            <a:r>
              <a:rPr lang="en-US" sz="1900" kern="1200" dirty="0">
                <a:solidFill>
                  <a:schemeClr val="tx1"/>
                </a:solidFill>
                <a:latin typeface="+mn-lt"/>
                <a:ea typeface="+mn-ea"/>
                <a:cs typeface="+mn-cs"/>
              </a:rPr>
              <a:t>, Sergey Levine, with some materials from A. Farhadi</a:t>
            </a:r>
            <a:r>
              <a:rPr lang="en-US" sz="1900" dirty="0">
                <a:solidFill>
                  <a:schemeClr val="tx1"/>
                </a:solidFill>
              </a:rPr>
              <a:t> (</a:t>
            </a:r>
            <a:r>
              <a:rPr lang="en-US" sz="1900" kern="1200" dirty="0">
                <a:solidFill>
                  <a:schemeClr val="tx1"/>
                </a:solidFill>
                <a:latin typeface="+mn-lt"/>
                <a:ea typeface="+mn-ea"/>
                <a:cs typeface="+mn-cs"/>
                <a:hlinkClick r:id="rId2"/>
              </a:rPr>
              <a:t>http://ai.berkeley.edu</a:t>
            </a:r>
            <a:r>
              <a:rPr lang="en-US" sz="1900" kern="1200" dirty="0">
                <a:solidFill>
                  <a:schemeClr val="tx1"/>
                </a:solidFill>
                <a:latin typeface="+mn-lt"/>
                <a:ea typeface="+mn-ea"/>
                <a:cs typeface="+mn-cs"/>
              </a:rPr>
              <a:t>)</a:t>
            </a:r>
          </a:p>
        </p:txBody>
      </p:sp>
    </p:spTree>
    <p:extLst>
      <p:ext uri="{BB962C8B-B14F-4D97-AF65-F5344CB8AC3E}">
        <p14:creationId xmlns:p14="http://schemas.microsoft.com/office/powerpoint/2010/main" val="384830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Definition: Decision Networks</a:t>
            </a:r>
          </a:p>
        </p:txBody>
      </p:sp>
      <p:sp>
        <p:nvSpPr>
          <p:cNvPr id="18" name="Rectangle 3"/>
          <p:cNvSpPr txBox="1">
            <a:spLocks noChangeArrowheads="1"/>
          </p:cNvSpPr>
          <p:nvPr/>
        </p:nvSpPr>
        <p:spPr bwMode="auto">
          <a:xfrm>
            <a:off x="919479" y="1653988"/>
            <a:ext cx="5795645" cy="4373563"/>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0" indent="0">
              <a:lnSpc>
                <a:spcPct val="80000"/>
              </a:lnSpc>
              <a:buNone/>
            </a:pPr>
            <a:r>
              <a:rPr lang="en-US" sz="2000" b="1" dirty="0">
                <a:solidFill>
                  <a:schemeClr val="tx1"/>
                </a:solidFill>
                <a:latin typeface="Calibri"/>
                <a:ea typeface="ＭＳ Ｐゴシック" pitchFamily="34" charset="-128"/>
                <a:cs typeface="Calibri"/>
              </a:rPr>
              <a:t>Decision networks</a:t>
            </a:r>
          </a:p>
          <a:p>
            <a:pPr lvl="3">
              <a:lnSpc>
                <a:spcPct val="80000"/>
              </a:lnSpc>
            </a:pPr>
            <a:endParaRPr lang="en-US" sz="400" dirty="0">
              <a:latin typeface="Calibri"/>
              <a:cs typeface="Calibri"/>
            </a:endParaRPr>
          </a:p>
          <a:p>
            <a:pPr lvl="3">
              <a:lnSpc>
                <a:spcPct val="80000"/>
              </a:lnSpc>
            </a:pPr>
            <a:endParaRPr lang="en-US" sz="400" dirty="0">
              <a:latin typeface="Calibri"/>
              <a:cs typeface="Calibri"/>
            </a:endParaRPr>
          </a:p>
          <a:p>
            <a:pPr lvl="1">
              <a:lnSpc>
                <a:spcPct val="80000"/>
              </a:lnSpc>
            </a:pPr>
            <a:r>
              <a:rPr lang="en-US" sz="1800" dirty="0">
                <a:latin typeface="Calibri"/>
                <a:cs typeface="Calibri"/>
              </a:rPr>
              <a:t>Bayesian network with additional nodes for utility and actions.</a:t>
            </a:r>
          </a:p>
          <a:p>
            <a:pPr lvl="1">
              <a:lnSpc>
                <a:spcPct val="80000"/>
              </a:lnSpc>
            </a:pPr>
            <a:r>
              <a:rPr lang="en-US" sz="1800" dirty="0">
                <a:latin typeface="Calibri"/>
                <a:cs typeface="Calibri"/>
              </a:rPr>
              <a:t>Allows to specify the joint probability in a compact way using conditional independence.</a:t>
            </a:r>
          </a:p>
          <a:p>
            <a:pPr lvl="1">
              <a:lnSpc>
                <a:spcPct val="80000"/>
              </a:lnSpc>
            </a:pPr>
            <a:r>
              <a:rPr lang="en-US" sz="1800" dirty="0">
                <a:latin typeface="Calibri"/>
                <a:cs typeface="Calibri"/>
              </a:rPr>
              <a:t> Calculate the expected utility for each possible action and select the best one.</a:t>
            </a:r>
            <a:endParaRPr lang="en-US" sz="1000" dirty="0">
              <a:latin typeface="Calibri"/>
              <a:cs typeface="Calibri"/>
            </a:endParaRPr>
          </a:p>
          <a:p>
            <a:pPr lvl="2">
              <a:lnSpc>
                <a:spcPct val="80000"/>
              </a:lnSpc>
            </a:pPr>
            <a:endParaRPr lang="en-US" sz="1400" dirty="0">
              <a:latin typeface="Calibri"/>
              <a:cs typeface="Calibri"/>
            </a:endParaRPr>
          </a:p>
          <a:p>
            <a:pPr marL="0" indent="0">
              <a:lnSpc>
                <a:spcPct val="80000"/>
              </a:lnSpc>
              <a:buNone/>
            </a:pPr>
            <a:r>
              <a:rPr lang="en-US" sz="2000" b="1" dirty="0">
                <a:solidFill>
                  <a:schemeClr val="tx1"/>
                </a:solidFill>
                <a:latin typeface="Calibri"/>
                <a:ea typeface="ＭＳ Ｐゴシック" pitchFamily="34" charset="-128"/>
                <a:cs typeface="Calibri"/>
              </a:rPr>
              <a:t>Node types</a:t>
            </a: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marL="857205" lvl="2" indent="0">
              <a:lnSpc>
                <a:spcPct val="80000"/>
              </a:lnSpc>
              <a:buNone/>
            </a:pPr>
            <a:r>
              <a:rPr lang="en-US" sz="1800" dirty="0">
                <a:latin typeface="Calibri"/>
                <a:cs typeface="Calibri"/>
              </a:rPr>
              <a:t>Chance nodes (oval): Random variables in BNs</a:t>
            </a:r>
          </a:p>
          <a:p>
            <a:pPr marL="3200240" lvl="7" indent="0">
              <a:lnSpc>
                <a:spcPct val="80000"/>
              </a:lnSpc>
              <a:buNone/>
            </a:pPr>
            <a:endParaRPr lang="en-US" sz="600" dirty="0">
              <a:latin typeface="Calibri"/>
              <a:cs typeface="Calibri"/>
            </a:endParaRPr>
          </a:p>
          <a:p>
            <a:pPr marL="3200240" lvl="7"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Action nodes (rectangle): Cannot have parents, act as observed evidence</a:t>
            </a:r>
          </a:p>
          <a:p>
            <a:pPr marL="2743063" lvl="6" indent="0">
              <a:lnSpc>
                <a:spcPct val="80000"/>
              </a:lnSpc>
              <a:buNone/>
            </a:pPr>
            <a:endParaRPr lang="en-US" sz="600" dirty="0">
              <a:latin typeface="Calibri"/>
              <a:cs typeface="Calibri"/>
            </a:endParaRPr>
          </a:p>
          <a:p>
            <a:pPr marL="2743063" lvl="6"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Utility node (diamond): Depends on action and chance nodes</a:t>
            </a:r>
          </a:p>
        </p:txBody>
      </p:sp>
      <p:grpSp>
        <p:nvGrpSpPr>
          <p:cNvPr id="2" name="Group 1" descr="A Decision network to decide if the agent should bring an umbrella given that the weather is uncertain.">
            <a:extLst>
              <a:ext uri="{FF2B5EF4-FFF2-40B4-BE49-F238E27FC236}">
                <a16:creationId xmlns:a16="http://schemas.microsoft.com/office/drawing/2014/main" id="{DBA2A2C3-9375-E35C-880F-0C6881BED107}"/>
              </a:ext>
            </a:extLst>
          </p:cNvPr>
          <p:cNvGrpSpPr/>
          <p:nvPr/>
        </p:nvGrpSpPr>
        <p:grpSpPr>
          <a:xfrm>
            <a:off x="7290782" y="1769082"/>
            <a:ext cx="3124200" cy="3810000"/>
            <a:chOff x="7724275" y="2343757"/>
            <a:chExt cx="3124200" cy="3810000"/>
          </a:xfrm>
        </p:grpSpPr>
        <p:cxnSp>
          <p:nvCxnSpPr>
            <p:cNvPr id="17411" name="AutoShape 4"/>
            <p:cNvCxnSpPr>
              <a:cxnSpLocks noChangeShapeType="1"/>
              <a:stCxn id="17412" idx="4"/>
              <a:endCxn id="17413" idx="0"/>
            </p:cNvCxnSpPr>
            <p:nvPr/>
          </p:nvCxnSpPr>
          <p:spPr bwMode="auto">
            <a:xfrm>
              <a:off x="8335463" y="4415445"/>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7724275" y="3826482"/>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Weather</a:t>
              </a:r>
            </a:p>
          </p:txBody>
        </p:sp>
        <p:sp>
          <p:nvSpPr>
            <p:cNvPr id="17413" name="Oval 6"/>
            <p:cNvSpPr>
              <a:spLocks noChangeArrowheads="1"/>
            </p:cNvSpPr>
            <p:nvPr/>
          </p:nvSpPr>
          <p:spPr bwMode="auto">
            <a:xfrm>
              <a:off x="7724275" y="5579082"/>
              <a:ext cx="1222375" cy="574675"/>
            </a:xfrm>
            <a:prstGeom prst="ellipse">
              <a:avLst/>
            </a:prstGeom>
            <a:solidFill>
              <a:schemeClr val="bg1"/>
            </a:solid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17414" name="Rectangle 7"/>
            <p:cNvSpPr>
              <a:spLocks noChangeArrowheads="1"/>
            </p:cNvSpPr>
            <p:nvPr/>
          </p:nvSpPr>
          <p:spPr bwMode="auto">
            <a:xfrm>
              <a:off x="7800475" y="2343757"/>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17415" name="Group 8"/>
            <p:cNvGrpSpPr>
              <a:grpSpLocks/>
            </p:cNvGrpSpPr>
            <p:nvPr/>
          </p:nvGrpSpPr>
          <p:grpSpPr bwMode="auto">
            <a:xfrm>
              <a:off x="10010275" y="3105757"/>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a:endCxn id="17422" idx="1"/>
            </p:cNvCxnSpPr>
            <p:nvPr/>
          </p:nvCxnSpPr>
          <p:spPr bwMode="auto">
            <a:xfrm>
              <a:off x="8957763" y="2610457"/>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8960938" y="3372457"/>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3" name="Group 2">
            <a:extLst>
              <a:ext uri="{FF2B5EF4-FFF2-40B4-BE49-F238E27FC236}">
                <a16:creationId xmlns:a16="http://schemas.microsoft.com/office/drawing/2014/main" id="{18719876-B200-24DA-138B-3A16F0C9AB00}"/>
              </a:ext>
            </a:extLst>
          </p:cNvPr>
          <p:cNvGrpSpPr/>
          <p:nvPr/>
        </p:nvGrpSpPr>
        <p:grpSpPr>
          <a:xfrm>
            <a:off x="1070949" y="4232480"/>
            <a:ext cx="609600" cy="1515279"/>
            <a:chOff x="1109049" y="4301611"/>
            <a:chExt cx="609600" cy="1515279"/>
          </a:xfrm>
        </p:grpSpPr>
        <p:sp>
          <p:nvSpPr>
            <p:cNvPr id="14" name="Oval 5">
              <a:extLst>
                <a:ext uri="{C183D7F6-B498-43B3-948B-1728B52AA6E4}">
                  <adec:decorative xmlns:adec="http://schemas.microsoft.com/office/drawing/2017/decorative" val="1"/>
                </a:ext>
              </a:extLst>
            </p:cNvPr>
            <p:cNvSpPr>
              <a:spLocks noChangeArrowheads="1"/>
            </p:cNvSpPr>
            <p:nvPr/>
          </p:nvSpPr>
          <p:spPr bwMode="auto">
            <a:xfrm>
              <a:off x="1109049" y="4301611"/>
              <a:ext cx="609600" cy="304800"/>
            </a:xfrm>
            <a:prstGeom prst="ellipse">
              <a:avLst/>
            </a:prstGeom>
            <a:solidFill>
              <a:schemeClr val="bg1"/>
            </a:solidFill>
            <a:ln w="28575">
              <a:solidFill>
                <a:schemeClr val="tx1"/>
              </a:solidFill>
              <a:round/>
              <a:headEnd/>
              <a:tailEnd/>
            </a:ln>
          </p:spPr>
          <p:txBody>
            <a:bodyPr wrap="none" anchor="ctr"/>
            <a:lstStyle/>
            <a:p>
              <a:pPr algn="ctr"/>
              <a:endParaRPr lang="en-US">
                <a:latin typeface="Calibri"/>
                <a:cs typeface="Calibri"/>
              </a:endParaRPr>
            </a:p>
          </p:txBody>
        </p:sp>
        <p:sp>
          <p:nvSpPr>
            <p:cNvPr id="15" name="Rectangle 7">
              <a:extLst>
                <a:ext uri="{C183D7F6-B498-43B3-948B-1728B52AA6E4}">
                  <adec:decorative xmlns:adec="http://schemas.microsoft.com/office/drawing/2017/decorative" val="1"/>
                </a:ext>
              </a:extLst>
            </p:cNvPr>
            <p:cNvSpPr>
              <a:spLocks noChangeArrowheads="1"/>
            </p:cNvSpPr>
            <p:nvPr/>
          </p:nvSpPr>
          <p:spPr bwMode="auto">
            <a:xfrm>
              <a:off x="1147149" y="4926082"/>
              <a:ext cx="533400" cy="228600"/>
            </a:xfrm>
            <a:prstGeom prst="rect">
              <a:avLst/>
            </a:prstGeom>
            <a:solidFill>
              <a:schemeClr val="bg1"/>
            </a:solidFill>
            <a:ln w="28575">
              <a:solidFill>
                <a:schemeClr val="tx1"/>
              </a:solidFill>
              <a:miter lim="800000"/>
              <a:headEnd/>
              <a:tailEnd/>
            </a:ln>
          </p:spPr>
          <p:txBody>
            <a:bodyPr wrap="none" anchor="ctr"/>
            <a:lstStyle/>
            <a:p>
              <a:pPr algn="ctr"/>
              <a:endParaRPr lang="en-US">
                <a:latin typeface="Calibri"/>
                <a:cs typeface="Calibri"/>
              </a:endParaRPr>
            </a:p>
          </p:txBody>
        </p:sp>
        <p:sp>
          <p:nvSpPr>
            <p:cNvPr id="17" name="Freeform 9">
              <a:extLst>
                <a:ext uri="{C183D7F6-B498-43B3-948B-1728B52AA6E4}">
                  <adec:decorative xmlns:adec="http://schemas.microsoft.com/office/drawing/2017/decorative" val="1"/>
                </a:ext>
              </a:extLst>
            </p:cNvPr>
            <p:cNvSpPr>
              <a:spLocks/>
            </p:cNvSpPr>
            <p:nvPr/>
          </p:nvSpPr>
          <p:spPr bwMode="auto">
            <a:xfrm>
              <a:off x="1109049" y="5512090"/>
              <a:ext cx="609600" cy="304800"/>
            </a:xfrm>
            <a:custGeom>
              <a:avLst/>
              <a:gdLst>
                <a:gd name="T0" fmla="*/ 21821033 w 783"/>
                <a:gd name="T1" fmla="*/ 0 h 288"/>
                <a:gd name="T2" fmla="*/ 0 w 783"/>
                <a:gd name="T3" fmla="*/ 407704925 h 288"/>
                <a:gd name="T4" fmla="*/ 21821033 w 783"/>
                <a:gd name="T5" fmla="*/ 813170417 h 288"/>
                <a:gd name="T6" fmla="*/ 44853480 w 783"/>
                <a:gd name="T7" fmla="*/ 398745075 h 288"/>
                <a:gd name="T8" fmla="*/ 21821033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grpSp>
    </p:spTree>
    <p:extLst>
      <p:ext uri="{BB962C8B-B14F-4D97-AF65-F5344CB8AC3E}">
        <p14:creationId xmlns:p14="http://schemas.microsoft.com/office/powerpoint/2010/main" val="369518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828800" y="365125"/>
            <a:ext cx="9525000" cy="1325563"/>
          </a:xfrm>
        </p:spPr>
        <p:txBody>
          <a:bodyPr/>
          <a:lstStyle/>
          <a:p>
            <a:r>
              <a:rPr lang="en-US" dirty="0">
                <a:ea typeface="ＭＳ Ｐゴシック" pitchFamily="34" charset="-128"/>
              </a:rPr>
              <a:t>Example: Decision Networks</a:t>
            </a:r>
          </a:p>
        </p:txBody>
      </p:sp>
      <p:grpSp>
        <p:nvGrpSpPr>
          <p:cNvPr id="7" name="Group 6" descr="A decision network to decide if the agent should bring an umbrella given that the weather is uncertain.">
            <a:extLst>
              <a:ext uri="{FF2B5EF4-FFF2-40B4-BE49-F238E27FC236}">
                <a16:creationId xmlns:a16="http://schemas.microsoft.com/office/drawing/2014/main" id="{BFD9DD9F-EE52-8153-84E0-A5DBEF20CBAD}"/>
              </a:ext>
            </a:extLst>
          </p:cNvPr>
          <p:cNvGrpSpPr/>
          <p:nvPr/>
        </p:nvGrpSpPr>
        <p:grpSpPr>
          <a:xfrm>
            <a:off x="4724400" y="2098675"/>
            <a:ext cx="3124200" cy="3810000"/>
            <a:chOff x="4724400" y="2098675"/>
            <a:chExt cx="3124200" cy="3810000"/>
          </a:xfrm>
        </p:grpSpPr>
        <p:cxnSp>
          <p:nvCxnSpPr>
            <p:cNvPr id="17411" name="AutoShape 4"/>
            <p:cNvCxnSpPr>
              <a:cxnSpLocks noChangeShapeType="1"/>
              <a:stCxn id="17412" idx="4"/>
              <a:endCxn id="17413" idx="0"/>
            </p:cNvCxnSpPr>
            <p:nvPr/>
          </p:nvCxnSpPr>
          <p:spPr bwMode="auto">
            <a:xfrm>
              <a:off x="5335588" y="4170363"/>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4724400" y="3581400"/>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a:t>
              </a:r>
            </a:p>
          </p:txBody>
        </p:sp>
        <p:sp>
          <p:nvSpPr>
            <p:cNvPr id="17413" name="Oval 6"/>
            <p:cNvSpPr>
              <a:spLocks noChangeArrowheads="1"/>
            </p:cNvSpPr>
            <p:nvPr/>
          </p:nvSpPr>
          <p:spPr bwMode="auto">
            <a:xfrm>
              <a:off x="4724400" y="5334000"/>
              <a:ext cx="1222375" cy="574675"/>
            </a:xfrm>
            <a:prstGeom prst="ellipse">
              <a:avLst/>
            </a:prstGeom>
            <a:solidFill>
              <a:schemeClr val="bg1"/>
            </a:solidFill>
            <a:ln w="28575">
              <a:solidFill>
                <a:schemeClr val="tx1"/>
              </a:solidFill>
              <a:round/>
              <a:headEnd/>
              <a:tailEnd/>
            </a:ln>
          </p:spPr>
          <p:txBody>
            <a:bodyPr wrap="none" anchor="ctr"/>
            <a:lstStyle/>
            <a:p>
              <a:pPr algn="ctr" rtl="1"/>
              <a:r>
                <a:rPr lang="en-US">
                  <a:latin typeface="Calibri" pitchFamily="34" charset="0"/>
                  <a:cs typeface="Calibri" pitchFamily="34" charset="0"/>
                </a:rPr>
                <a:t>Forecast</a:t>
              </a:r>
            </a:p>
          </p:txBody>
        </p:sp>
        <p:sp>
          <p:nvSpPr>
            <p:cNvPr id="17414" name="Rectangle 7"/>
            <p:cNvSpPr>
              <a:spLocks noChangeArrowheads="1"/>
            </p:cNvSpPr>
            <p:nvPr/>
          </p:nvSpPr>
          <p:spPr bwMode="auto">
            <a:xfrm>
              <a:off x="4800600" y="2098675"/>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pitchFamily="34" charset="0"/>
                  <a:cs typeface="Calibri" pitchFamily="34" charset="0"/>
                </a:rPr>
                <a:t>Umbrella</a:t>
              </a:r>
            </a:p>
          </p:txBody>
        </p:sp>
        <p:grpSp>
          <p:nvGrpSpPr>
            <p:cNvPr id="17415" name="Group 8"/>
            <p:cNvGrpSpPr>
              <a:grpSpLocks/>
            </p:cNvGrpSpPr>
            <p:nvPr/>
          </p:nvGrpSpPr>
          <p:grpSpPr bwMode="auto">
            <a:xfrm>
              <a:off x="7010400" y="2860675"/>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a:t>
                </a:r>
              </a:p>
            </p:txBody>
          </p:sp>
        </p:grpSp>
        <p:cxnSp>
          <p:nvCxnSpPr>
            <p:cNvPr id="17416" name="AutoShape 11"/>
            <p:cNvCxnSpPr>
              <a:cxnSpLocks noChangeShapeType="1"/>
              <a:stCxn id="17414" idx="3"/>
              <a:endCxn id="17422" idx="1"/>
            </p:cNvCxnSpPr>
            <p:nvPr/>
          </p:nvCxnSpPr>
          <p:spPr bwMode="auto">
            <a:xfrm>
              <a:off x="5957888" y="2365375"/>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5961063" y="3127375"/>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C5186FEF-6EC1-7EFF-B787-E6E92523A30C}"/>
              </a:ext>
              <a:ext uri="{C183D7F6-B498-43B3-948B-1728B52AA6E4}">
                <adec:decorative xmlns:adec="http://schemas.microsoft.com/office/drawing/2017/decorative" val="1"/>
              </a:ext>
            </a:extLst>
          </p:cNvPr>
          <p:cNvGrpSpPr/>
          <p:nvPr/>
        </p:nvGrpSpPr>
        <p:grpSpPr>
          <a:xfrm>
            <a:off x="1981200" y="1415534"/>
            <a:ext cx="2071456" cy="1403865"/>
            <a:chOff x="1981200" y="1415534"/>
            <a:chExt cx="2071456" cy="1403865"/>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1600200"/>
              <a:ext cx="2071456" cy="1219199"/>
            </a:xfrm>
            <a:prstGeom prst="rect">
              <a:avLst/>
            </a:prstGeom>
          </p:spPr>
        </p:pic>
        <p:sp>
          <p:nvSpPr>
            <p:cNvPr id="2" name="TextBox 1">
              <a:extLst>
                <a:ext uri="{FF2B5EF4-FFF2-40B4-BE49-F238E27FC236}">
                  <a16:creationId xmlns:a16="http://schemas.microsoft.com/office/drawing/2014/main" id="{CC45305E-D6B9-404E-A416-435A4F91D777}"/>
                </a:ext>
              </a:extLst>
            </p:cNvPr>
            <p:cNvSpPr txBox="1"/>
            <p:nvPr/>
          </p:nvSpPr>
          <p:spPr>
            <a:xfrm>
              <a:off x="2453267" y="1415534"/>
              <a:ext cx="788999" cy="369332"/>
            </a:xfrm>
            <a:prstGeom prst="rect">
              <a:avLst/>
            </a:prstGeom>
            <a:noFill/>
          </p:spPr>
          <p:txBody>
            <a:bodyPr wrap="none" rtlCol="0">
              <a:spAutoFit/>
            </a:bodyPr>
            <a:lstStyle/>
            <a:p>
              <a:r>
                <a:rPr lang="en-US" dirty="0"/>
                <a:t>Action</a:t>
              </a:r>
            </a:p>
          </p:txBody>
        </p:sp>
      </p:grpSp>
      <p:grpSp>
        <p:nvGrpSpPr>
          <p:cNvPr id="8" name="Group 7">
            <a:extLst>
              <a:ext uri="{FF2B5EF4-FFF2-40B4-BE49-F238E27FC236}">
                <a16:creationId xmlns:a16="http://schemas.microsoft.com/office/drawing/2014/main" id="{3B695D46-4CD3-558E-0834-B95FE0A969F1}"/>
              </a:ext>
              <a:ext uri="{C183D7F6-B498-43B3-948B-1728B52AA6E4}">
                <adec:decorative xmlns:adec="http://schemas.microsoft.com/office/drawing/2017/decorative" val="1"/>
              </a:ext>
            </a:extLst>
          </p:cNvPr>
          <p:cNvGrpSpPr/>
          <p:nvPr/>
        </p:nvGrpSpPr>
        <p:grpSpPr>
          <a:xfrm>
            <a:off x="416703" y="3505200"/>
            <a:ext cx="3469497" cy="2743199"/>
            <a:chOff x="416703" y="3505200"/>
            <a:chExt cx="3469497" cy="2743199"/>
          </a:xfrm>
        </p:grpSpPr>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87" y="3505200"/>
              <a:ext cx="1923112" cy="1083493"/>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8800" y="5098676"/>
              <a:ext cx="2057400" cy="1149723"/>
            </a:xfrm>
            <a:prstGeom prst="rect">
              <a:avLst/>
            </a:prstGeom>
          </p:spPr>
        </p:pic>
        <p:sp>
          <p:nvSpPr>
            <p:cNvPr id="17" name="TextBox 16">
              <a:extLst>
                <a:ext uri="{FF2B5EF4-FFF2-40B4-BE49-F238E27FC236}">
                  <a16:creationId xmlns:a16="http://schemas.microsoft.com/office/drawing/2014/main" id="{BF0D2D35-1FA3-46D3-8DCD-E480736B358B}"/>
                </a:ext>
              </a:extLst>
            </p:cNvPr>
            <p:cNvSpPr txBox="1"/>
            <p:nvPr/>
          </p:nvSpPr>
          <p:spPr>
            <a:xfrm>
              <a:off x="416703" y="4553633"/>
              <a:ext cx="970137" cy="646331"/>
            </a:xfrm>
            <a:prstGeom prst="rect">
              <a:avLst/>
            </a:prstGeom>
            <a:noFill/>
          </p:spPr>
          <p:txBody>
            <a:bodyPr wrap="none" rtlCol="0">
              <a:spAutoFit/>
            </a:bodyPr>
            <a:lstStyle/>
            <a:p>
              <a:r>
                <a:rPr lang="en-US" dirty="0"/>
                <a:t>Random</a:t>
              </a:r>
              <a:br>
                <a:rPr lang="en-US" dirty="0"/>
              </a:br>
              <a:r>
                <a:rPr lang="en-US" dirty="0"/>
                <a:t>Events</a:t>
              </a:r>
            </a:p>
          </p:txBody>
        </p:sp>
        <p:sp>
          <p:nvSpPr>
            <p:cNvPr id="6" name="Left Brace 5">
              <a:extLst>
                <a:ext uri="{FF2B5EF4-FFF2-40B4-BE49-F238E27FC236}">
                  <a16:creationId xmlns:a16="http://schemas.microsoft.com/office/drawing/2014/main" id="{3AE93E58-ADAA-4F7F-B83D-42E63AB2AF4A}"/>
                </a:ext>
              </a:extLst>
            </p:cNvPr>
            <p:cNvSpPr/>
            <p:nvPr/>
          </p:nvSpPr>
          <p:spPr>
            <a:xfrm>
              <a:off x="1357162" y="3505200"/>
              <a:ext cx="52972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9B20FE6A-5C3F-7401-7393-D858DB9C5A61}"/>
              </a:ext>
              <a:ext uri="{C183D7F6-B498-43B3-948B-1728B52AA6E4}">
                <adec:decorative xmlns:adec="http://schemas.microsoft.com/office/drawing/2017/decorative" val="1"/>
              </a:ext>
            </a:extLst>
          </p:cNvPr>
          <p:cNvGrpSpPr/>
          <p:nvPr/>
        </p:nvGrpSpPr>
        <p:grpSpPr>
          <a:xfrm>
            <a:off x="7391400" y="1383268"/>
            <a:ext cx="4717564" cy="3562105"/>
            <a:chOff x="7391400" y="1383268"/>
            <a:chExt cx="4717564" cy="3562105"/>
          </a:xfrm>
        </p:grpSpPr>
        <p:pic>
          <p:nvPicPr>
            <p:cNvPr id="21" name="Picture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91400" y="1752600"/>
              <a:ext cx="4717564" cy="3192773"/>
            </a:xfrm>
            <a:prstGeom prst="rect">
              <a:avLst/>
            </a:prstGeom>
          </p:spPr>
        </p:pic>
        <p:sp>
          <p:nvSpPr>
            <p:cNvPr id="19" name="TextBox 18">
              <a:extLst>
                <a:ext uri="{FF2B5EF4-FFF2-40B4-BE49-F238E27FC236}">
                  <a16:creationId xmlns:a16="http://schemas.microsoft.com/office/drawing/2014/main" id="{49BDB6D0-2FC5-4456-966C-954B23284CD6}"/>
                </a:ext>
              </a:extLst>
            </p:cNvPr>
            <p:cNvSpPr txBox="1"/>
            <p:nvPr/>
          </p:nvSpPr>
          <p:spPr>
            <a:xfrm>
              <a:off x="9194533" y="1383268"/>
              <a:ext cx="748923" cy="369332"/>
            </a:xfrm>
            <a:prstGeom prst="rect">
              <a:avLst/>
            </a:prstGeom>
            <a:noFill/>
          </p:spPr>
          <p:txBody>
            <a:bodyPr wrap="none" rtlCol="0">
              <a:spAutoFit/>
            </a:bodyPr>
            <a:lstStyle/>
            <a:p>
              <a:r>
                <a:rPr lang="en-US" dirty="0"/>
                <a:t>Utility</a:t>
              </a:r>
            </a:p>
          </p:txBody>
        </p:sp>
      </p:grpSp>
      <p:pic>
        <p:nvPicPr>
          <p:cNvPr id="20" name="Picture 19">
            <a:extLst>
              <a:ext uri="{FF2B5EF4-FFF2-40B4-BE49-F238E27FC236}">
                <a16:creationId xmlns:a16="http://schemas.microsoft.com/office/drawing/2014/main" id="{845EF9D8-56AD-4F2D-8FCD-6734045298C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5779" y="542409"/>
            <a:ext cx="1337116" cy="1563452"/>
          </a:xfrm>
          <a:prstGeom prst="rect">
            <a:avLst/>
          </a:prstGeom>
        </p:spPr>
      </p:pic>
    </p:spTree>
    <p:extLst>
      <p:ext uri="{BB962C8B-B14F-4D97-AF65-F5344CB8AC3E}">
        <p14:creationId xmlns:p14="http://schemas.microsoft.com/office/powerpoint/2010/main" val="10631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without Forecast</a:t>
            </a:r>
          </a:p>
        </p:txBody>
      </p:sp>
      <mc:AlternateContent xmlns:mc="http://schemas.openxmlformats.org/markup-compatibility/2006" xmlns:a14="http://schemas.microsoft.com/office/drawing/2010/main">
        <mc:Choice Requires="a14">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3"/>
                          <a:stretch>
                            <a:fillRect l="-806" t="-1818" r="-100000" b="-223636"/>
                          </a:stretch>
                        </a:blipFill>
                      </a:tcPr>
                    </a:tc>
                    <a:tc>
                      <a:txBody>
                        <a:bodyPr/>
                        <a:lstStyle/>
                        <a:p>
                          <a:endParaRPr lang="en-US"/>
                        </a:p>
                      </a:txBody>
                      <a:tcPr marT="45732" marB="45732" horzOverflow="overflow">
                        <a:blipFill>
                          <a:blip r:embed="rId3"/>
                          <a:stretch>
                            <a:fillRect l="-101626" t="-1818" r="-813"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3"/>
                          <a:stretch>
                            <a:fillRect l="-101626" t="-100000" r="-813"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3"/>
                          <a:stretch>
                            <a:fillRect l="-101626" t="-203636" r="-813"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25018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𝐴</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𝑊</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horzOverflow="overflow"/>
                    </a:tc>
                    <a:extLst>
                      <a:ext uri="{0D108BD9-81ED-4DB2-BD59-A6C34878D82A}">
                        <a16:rowId xmlns:a16="http://schemas.microsoft.com/office/drawing/2014/main" val="10000"/>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horzOverflow="overflow"/>
                    </a:tc>
                    <a:extLst>
                      <a:ext uri="{0D108BD9-81ED-4DB2-BD59-A6C34878D82A}">
                        <a16:rowId xmlns:a16="http://schemas.microsoft.com/office/drawing/2014/main" val="10001"/>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horzOverflow="overflow"/>
                    </a:tc>
                    <a:extLst>
                      <a:ext uri="{0D108BD9-81ED-4DB2-BD59-A6C34878D82A}">
                        <a16:rowId xmlns:a16="http://schemas.microsoft.com/office/drawing/2014/main" val="10002"/>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horzOverflow="overflow"/>
                    </a:tc>
                    <a:extLst>
                      <a:ext uri="{0D108BD9-81ED-4DB2-BD59-A6C34878D82A}">
                        <a16:rowId xmlns:a16="http://schemas.microsoft.com/office/drawing/2014/main" val="10003"/>
                      </a:ext>
                    </a:extLst>
                  </a:tr>
                  <a:tr h="24393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horzOverflow="overflow"/>
                    </a:tc>
                    <a:extLst>
                      <a:ext uri="{0D108BD9-81ED-4DB2-BD59-A6C34878D82A}">
                        <a16:rowId xmlns:a16="http://schemas.microsoft.com/office/drawing/2014/main" val="10004"/>
                      </a:ext>
                    </a:extLst>
                  </a:tr>
                </a:tbl>
              </a:graphicData>
            </a:graphic>
          </p:graphicFrame>
        </mc:Choice>
        <mc:Fallback xmlns="">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335280">
                    <a:tc>
                      <a:txBody>
                        <a:bodyPr/>
                        <a:lstStyle/>
                        <a:p>
                          <a:endParaRPr lang="en-US"/>
                        </a:p>
                      </a:txBody>
                      <a:tcPr horzOverflow="overflow">
                        <a:blipFill>
                          <a:blip r:embed="rId4"/>
                          <a:stretch>
                            <a:fillRect l="-714" r="-200714" b="-425455"/>
                          </a:stretch>
                        </a:blipFill>
                      </a:tcPr>
                    </a:tc>
                    <a:tc>
                      <a:txBody>
                        <a:bodyPr/>
                        <a:lstStyle/>
                        <a:p>
                          <a:endParaRPr lang="en-US"/>
                        </a:p>
                      </a:txBody>
                      <a:tcPr horzOverflow="overflow">
                        <a:blipFill>
                          <a:blip r:embed="rId4"/>
                          <a:stretch>
                            <a:fillRect l="-158427" r="-215730" b="-425455"/>
                          </a:stretch>
                        </a:blipFill>
                      </a:tcPr>
                    </a:tc>
                    <a:tc>
                      <a:txBody>
                        <a:bodyPr/>
                        <a:lstStyle/>
                        <a:p>
                          <a:endParaRPr lang="en-US"/>
                        </a:p>
                      </a:txBody>
                      <a:tcPr horzOverflow="overflow">
                        <a:blipFill>
                          <a:blip r:embed="rId4"/>
                          <a:stretch>
                            <a:fillRect l="-121053" r="-1053" b="-425455"/>
                          </a:stretch>
                        </a:blipFill>
                      </a:tcPr>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100000" r="-1053" b="-325455"/>
                          </a:stretch>
                        </a:blip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196429" r="-1053" b="-219643"/>
                          </a:stretch>
                        </a:blip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301818" r="-1053" b="-123636"/>
                          </a:stretch>
                        </a:blip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401818" r="-1053" b="-23636"/>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9" name="Text Box 52"/>
              <p:cNvSpPr txBox="1">
                <a:spLocks noChangeArrowheads="1"/>
              </p:cNvSpPr>
              <p:nvPr/>
            </p:nvSpPr>
            <p:spPr bwMode="auto">
              <a:xfrm>
                <a:off x="7062005" y="1690688"/>
                <a:ext cx="4652525"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100+0.3</m:t>
                    </m:r>
                    <m:r>
                      <a:rPr lang="en-US" sz="2000" b="0" i="1" smtClean="0">
                        <a:latin typeface="Cambria Math" panose="02040503050406030204" pitchFamily="18" charset="0"/>
                        <a:ea typeface="Cambria Math" panose="02040503050406030204" pitchFamily="18" charset="0"/>
                      </a:rPr>
                      <m:t>∙0=70</m:t>
                    </m:r>
                  </m:oMath>
                </a14:m>
                <a:endParaRPr lang="en-US" sz="2000" dirty="0">
                  <a:latin typeface="Calibri" panose="020F0502020204030204" pitchFamily="34" charset="0"/>
                </a:endParaRPr>
              </a:p>
            </p:txBody>
          </p:sp>
        </mc:Choice>
        <mc:Fallback xmlns="">
          <p:sp>
            <p:nvSpPr>
              <p:cNvPr id="19" name="Text Box 52"/>
              <p:cNvSpPr txBox="1">
                <a:spLocks noRot="1" noChangeAspect="1" noMove="1" noResize="1" noEditPoints="1" noAdjustHandles="1" noChangeArrowheads="1" noChangeShapeType="1" noTextEdit="1"/>
              </p:cNvSpPr>
              <p:nvPr/>
            </p:nvSpPr>
            <p:spPr bwMode="auto">
              <a:xfrm>
                <a:off x="7062005" y="1690688"/>
                <a:ext cx="4652525" cy="1423851"/>
              </a:xfrm>
              <a:prstGeom prst="rect">
                <a:avLst/>
              </a:prstGeom>
              <a:blipFill>
                <a:blip r:embed="rId5"/>
                <a:stretch>
                  <a:fillRect l="-1047" t="-21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 Box 53"/>
              <p:cNvSpPr txBox="1">
                <a:spLocks noChangeArrowheads="1"/>
              </p:cNvSpPr>
              <p:nvPr/>
            </p:nvSpPr>
            <p:spPr bwMode="auto">
              <a:xfrm>
                <a:off x="7062005" y="3519488"/>
                <a:ext cx="4570143"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20+0.3</m:t>
                    </m:r>
                    <m:r>
                      <a:rPr lang="en-US" sz="2000" b="0" i="1" smtClean="0">
                        <a:latin typeface="Cambria Math" panose="02040503050406030204" pitchFamily="18" charset="0"/>
                        <a:ea typeface="Cambria Math" panose="02040503050406030204" pitchFamily="18" charset="0"/>
                      </a:rPr>
                      <m:t>∙70=35</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20" name="Text Box 53"/>
              <p:cNvSpPr txBox="1">
                <a:spLocks noRot="1" noChangeAspect="1" noMove="1" noResize="1" noEditPoints="1" noAdjustHandles="1" noChangeArrowheads="1" noChangeShapeType="1" noTextEdit="1"/>
              </p:cNvSpPr>
              <p:nvPr/>
            </p:nvSpPr>
            <p:spPr bwMode="auto">
              <a:xfrm>
                <a:off x="7062005" y="3519488"/>
                <a:ext cx="4570143" cy="1839350"/>
              </a:xfrm>
              <a:prstGeom prst="rect">
                <a:avLst/>
              </a:prstGeom>
              <a:blipFill>
                <a:blip r:embed="rId6"/>
                <a:stretch>
                  <a:fillRect l="-1067" t="-16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62"/>
              <p:cNvSpPr txBox="1">
                <a:spLocks noChangeArrowheads="1"/>
              </p:cNvSpPr>
              <p:nvPr/>
            </p:nvSpPr>
            <p:spPr bwMode="auto">
              <a:xfrm>
                <a:off x="7062005" y="5743576"/>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 leave</a:t>
                </a: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e>
                      </m:d>
                      <m:r>
                        <a:rPr lang="en-US" sz="1800" b="0" i="0" smtClean="0">
                          <a:latin typeface="Cambria Math" panose="02040503050406030204" pitchFamily="18" charset="0"/>
                          <a:ea typeface="Cambria Math" panose="02040503050406030204" pitchFamily="18" charset="0"/>
                          <a:cs typeface="Calibri"/>
                        </a:rPr>
                        <m:t>=70</m:t>
                      </m:r>
                    </m:oMath>
                  </m:oMathPara>
                </a14:m>
                <a:endParaRPr lang="en-US" sz="1800" dirty="0">
                  <a:latin typeface="Calibri"/>
                  <a:cs typeface="Calibri"/>
                </a:endParaRPr>
              </a:p>
            </p:txBody>
          </p:sp>
        </mc:Choice>
        <mc:Fallback xmlns="">
          <p:sp>
            <p:nvSpPr>
              <p:cNvPr id="24" name="Text Box 62"/>
              <p:cNvSpPr txBox="1">
                <a:spLocks noRot="1" noChangeAspect="1" noMove="1" noResize="1" noEditPoints="1" noAdjustHandles="1" noChangeArrowheads="1" noChangeShapeType="1" noTextEdit="1"/>
              </p:cNvSpPr>
              <p:nvPr/>
            </p:nvSpPr>
            <p:spPr bwMode="auto">
              <a:xfrm>
                <a:off x="7062005" y="5743576"/>
                <a:ext cx="4798743" cy="731739"/>
              </a:xfrm>
              <a:prstGeom prst="rect">
                <a:avLst/>
              </a:prstGeom>
              <a:blipFill>
                <a:blip r:embed="rId7"/>
                <a:stretch>
                  <a:fillRect l="-1015"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00B09DE-A3F1-4E7B-8EAF-AE56A69C1EAA}"/>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20676" y="101867"/>
            <a:ext cx="1469257" cy="1717960"/>
          </a:xfrm>
          <a:prstGeom prst="rect">
            <a:avLst/>
          </a:prstGeom>
        </p:spPr>
      </p:pic>
      <p:grpSp>
        <p:nvGrpSpPr>
          <p:cNvPr id="4" name="Group 3">
            <a:extLst>
              <a:ext uri="{FF2B5EF4-FFF2-40B4-BE49-F238E27FC236}">
                <a16:creationId xmlns:a16="http://schemas.microsoft.com/office/drawing/2014/main" id="{C11EEE4C-FA94-D7F7-701B-8D93E32A483E}"/>
              </a:ext>
            </a:extLst>
          </p:cNvPr>
          <p:cNvGrpSpPr/>
          <p:nvPr/>
        </p:nvGrpSpPr>
        <p:grpSpPr>
          <a:xfrm>
            <a:off x="899330" y="1690688"/>
            <a:ext cx="5701953" cy="2057400"/>
            <a:chOff x="5856967" y="2133599"/>
            <a:chExt cx="5701953" cy="2057400"/>
          </a:xfrm>
        </p:grpSpPr>
        <p:pic>
          <p:nvPicPr>
            <p:cNvPr id="2" name="Picture 1">
              <a:extLs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896234" y="2261268"/>
              <a:ext cx="2662686" cy="1802063"/>
            </a:xfrm>
            <a:prstGeom prst="rect">
              <a:avLst/>
            </a:prstGeom>
          </p:spPr>
        </p:pic>
        <p:grpSp>
          <p:nvGrpSpPr>
            <p:cNvPr id="3" name="Group 2">
              <a:extLst>
                <a:ext uri="{FF2B5EF4-FFF2-40B4-BE49-F238E27FC236}">
                  <a16:creationId xmlns:a16="http://schemas.microsoft.com/office/drawing/2014/main" id="{BE3E26EF-135D-7D6C-6B5F-28DC6081BFCF}"/>
                </a:ext>
                <a:ext uri="{C183D7F6-B498-43B3-948B-1728B52AA6E4}">
                  <adec:decorative xmlns:adec="http://schemas.microsoft.com/office/drawing/2017/decorative" val="1"/>
                </a:ext>
              </a:extLst>
            </p:cNvPr>
            <p:cNvGrpSpPr/>
            <p:nvPr/>
          </p:nvGrpSpPr>
          <p:grpSpPr>
            <a:xfrm>
              <a:off x="5856967" y="2133599"/>
              <a:ext cx="3270419" cy="2057400"/>
              <a:chOff x="5611528" y="2133600"/>
              <a:chExt cx="3270419" cy="2057400"/>
            </a:xfrm>
          </p:grpSpPr>
          <p:sp>
            <p:nvSpPr>
              <p:cNvPr id="17412" name="Oval 5"/>
              <p:cNvSpPr>
                <a:spLocks noChangeArrowheads="1"/>
              </p:cNvSpPr>
              <p:nvPr/>
            </p:nvSpPr>
            <p:spPr bwMode="auto">
              <a:xfrm>
                <a:off x="5757747" y="36163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17414" name="Rectangle 7"/>
              <p:cNvSpPr>
                <a:spLocks noChangeArrowheads="1"/>
              </p:cNvSpPr>
              <p:nvPr/>
            </p:nvSpPr>
            <p:spPr bwMode="auto">
              <a:xfrm>
                <a:off x="5611528" y="2133600"/>
                <a:ext cx="136541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17415" name="Group 8"/>
              <p:cNvGrpSpPr>
                <a:grpSpLocks/>
              </p:cNvGrpSpPr>
              <p:nvPr/>
            </p:nvGrpSpPr>
            <p:grpSpPr bwMode="auto">
              <a:xfrm>
                <a:off x="8043747" y="2895600"/>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p:cNvCxnSpPr>
              <p:nvPr/>
            </p:nvCxnSpPr>
            <p:spPr bwMode="auto">
              <a:xfrm>
                <a:off x="6976947" y="2400300"/>
                <a:ext cx="1052513"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6994410" y="31623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7655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ea typeface="ＭＳ Ｐゴシック" pitchFamily="34" charset="-128"/>
              </a:rPr>
              <a:t>Decisions as Outcome Trees</a:t>
            </a:r>
          </a:p>
        </p:txBody>
      </p:sp>
      <p:grpSp>
        <p:nvGrpSpPr>
          <p:cNvPr id="10" name="Group 9" descr="The outcome tree shows the utility after taking an action (take or not to take an umbrella) and then observing the random event rain or no rain.">
            <a:extLst>
              <a:ext uri="{FF2B5EF4-FFF2-40B4-BE49-F238E27FC236}">
                <a16:creationId xmlns:a16="http://schemas.microsoft.com/office/drawing/2014/main" id="{E3D0B91C-0CA2-266E-D9E5-3F414E76EE06}"/>
              </a:ext>
            </a:extLst>
          </p:cNvPr>
          <p:cNvGrpSpPr/>
          <p:nvPr/>
        </p:nvGrpSpPr>
        <p:grpSpPr>
          <a:xfrm>
            <a:off x="3505200" y="1600200"/>
            <a:ext cx="8534400" cy="4114799"/>
            <a:chOff x="3505200" y="1600200"/>
            <a:chExt cx="8534400" cy="4114799"/>
          </a:xfrm>
        </p:grpSpPr>
        <p:grpSp>
          <p:nvGrpSpPr>
            <p:cNvPr id="21508" name="Group 44"/>
            <p:cNvGrpSpPr>
              <a:grpSpLocks/>
            </p:cNvGrpSpPr>
            <p:nvPr/>
          </p:nvGrpSpPr>
          <p:grpSpPr bwMode="auto">
            <a:xfrm>
              <a:off x="3505200" y="1600200"/>
              <a:ext cx="8534400" cy="3124200"/>
              <a:chOff x="228600" y="1676400"/>
              <a:chExt cx="8534400" cy="3124200"/>
            </a:xfrm>
          </p:grpSpPr>
          <p:grpSp>
            <p:nvGrpSpPr>
              <p:cNvPr id="21509" name="Group 5"/>
              <p:cNvGrpSpPr>
                <a:grpSpLocks/>
              </p:cNvGrpSpPr>
              <p:nvPr/>
            </p:nvGrpSpPr>
            <p:grpSpPr bwMode="auto">
              <a:xfrm>
                <a:off x="228600" y="4267200"/>
                <a:ext cx="1828800" cy="533400"/>
                <a:chOff x="4368" y="1728"/>
                <a:chExt cx="528" cy="336"/>
              </a:xfrm>
            </p:grpSpPr>
            <p:sp>
              <p:nvSpPr>
                <p:cNvPr id="21534"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5"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U(t,s)</a:t>
                  </a:r>
                </a:p>
              </p:txBody>
            </p:sp>
          </p:grpSp>
          <p:sp>
            <p:nvSpPr>
              <p:cNvPr id="21510" name="Oval 3"/>
              <p:cNvSpPr>
                <a:spLocks noChangeArrowheads="1"/>
              </p:cNvSpPr>
              <p:nvPr/>
            </p:nvSpPr>
            <p:spPr bwMode="auto">
              <a:xfrm>
                <a:off x="1447800" y="2895600"/>
                <a:ext cx="1371600"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 | {}</a:t>
                </a:r>
              </a:p>
            </p:txBody>
          </p:sp>
          <p:sp>
            <p:nvSpPr>
              <p:cNvPr id="21511" name="Oval 3"/>
              <p:cNvSpPr>
                <a:spLocks noChangeArrowheads="1"/>
              </p:cNvSpPr>
              <p:nvPr/>
            </p:nvSpPr>
            <p:spPr bwMode="auto">
              <a:xfrm>
                <a:off x="6172200" y="2895600"/>
                <a:ext cx="1371599"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pitchFamily="34" charset="0"/>
                    <a:cs typeface="Calibri" pitchFamily="34" charset="0"/>
                  </a:rPr>
                  <a:t>Weather | {}</a:t>
                </a:r>
              </a:p>
            </p:txBody>
          </p:sp>
          <p:cxnSp>
            <p:nvCxnSpPr>
              <p:cNvPr id="12" name="Straight Arrow Connector 11"/>
              <p:cNvCxnSpPr>
                <a:stCxn id="18" idx="3"/>
                <a:endCxn id="21510" idx="0"/>
              </p:cNvCxnSpPr>
              <p:nvPr/>
            </p:nvCxnSpPr>
            <p:spPr>
              <a:xfrm rot="5400000">
                <a:off x="2914650" y="1352550"/>
                <a:ext cx="762000" cy="23241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1511" idx="0"/>
              </p:cNvCxnSpPr>
              <p:nvPr/>
            </p:nvCxnSpPr>
            <p:spPr>
              <a:xfrm rot="16200000" flipH="1">
                <a:off x="5276850" y="1314450"/>
                <a:ext cx="762000" cy="24003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4" name="TextBox 15"/>
              <p:cNvSpPr txBox="1">
                <a:spLocks noChangeArrowheads="1"/>
              </p:cNvSpPr>
              <p:nvPr/>
            </p:nvSpPr>
            <p:spPr bwMode="auto">
              <a:xfrm rot="-1071566">
                <a:off x="2625356" y="221947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take</a:t>
                </a:r>
              </a:p>
            </p:txBody>
          </p:sp>
          <p:sp>
            <p:nvSpPr>
              <p:cNvPr id="21515" name="TextBox 16"/>
              <p:cNvSpPr txBox="1">
                <a:spLocks noChangeArrowheads="1"/>
              </p:cNvSpPr>
              <p:nvPr/>
            </p:nvSpPr>
            <p:spPr bwMode="auto">
              <a:xfrm rot="1093261">
                <a:off x="5444931" y="227892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leave</a:t>
                </a:r>
              </a:p>
            </p:txBody>
          </p:sp>
          <p:sp>
            <p:nvSpPr>
              <p:cNvPr id="18" name="Isosceles Triangle 17"/>
              <p:cNvSpPr/>
              <p:nvPr/>
            </p:nvSpPr>
            <p:spPr>
              <a:xfrm>
                <a:off x="3886200" y="1676400"/>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alibri" pitchFamily="34" charset="0"/>
                    <a:cs typeface="Calibri" pitchFamily="34" charset="0"/>
                  </a:rPr>
                  <a:t>{}</a:t>
                </a:r>
              </a:p>
              <a:p>
                <a:pPr algn="ctr">
                  <a:defRPr/>
                </a:pPr>
                <a:endParaRPr lang="en-US" dirty="0">
                  <a:solidFill>
                    <a:schemeClr val="tx1"/>
                  </a:solidFill>
                  <a:latin typeface="Calibri" pitchFamily="34" charset="0"/>
                  <a:cs typeface="Calibri" pitchFamily="34" charset="0"/>
                </a:endParaRPr>
              </a:p>
            </p:txBody>
          </p:sp>
          <p:cxnSp>
            <p:nvCxnSpPr>
              <p:cNvPr id="19" name="Straight Arrow Connector 18"/>
              <p:cNvCxnSpPr>
                <a:stCxn id="21510" idx="4"/>
              </p:cNvCxnSpPr>
              <p:nvPr/>
            </p:nvCxnSpPr>
            <p:spPr>
              <a:xfrm rot="5400000">
                <a:off x="1201737" y="3335338"/>
                <a:ext cx="796925" cy="10668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8" name="TextBox 19"/>
              <p:cNvSpPr txBox="1">
                <a:spLocks noChangeArrowheads="1"/>
              </p:cNvSpPr>
              <p:nvPr/>
            </p:nvSpPr>
            <p:spPr bwMode="auto">
              <a:xfrm rot="-2151216">
                <a:off x="972872" y="3497698"/>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sun</a:t>
                </a:r>
              </a:p>
            </p:txBody>
          </p:sp>
          <p:grpSp>
            <p:nvGrpSpPr>
              <p:cNvPr id="21519" name="Group 21"/>
              <p:cNvGrpSpPr>
                <a:grpSpLocks/>
              </p:cNvGrpSpPr>
              <p:nvPr/>
            </p:nvGrpSpPr>
            <p:grpSpPr bwMode="auto">
              <a:xfrm>
                <a:off x="2209800" y="4267200"/>
                <a:ext cx="1828800" cy="533400"/>
                <a:chOff x="4368" y="1728"/>
                <a:chExt cx="528" cy="336"/>
              </a:xfrm>
            </p:grpSpPr>
            <p:sp>
              <p:nvSpPr>
                <p:cNvPr id="21532"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U(t,r)</a:t>
                  </a:r>
                </a:p>
              </p:txBody>
            </p:sp>
          </p:grpSp>
          <p:cxnSp>
            <p:nvCxnSpPr>
              <p:cNvPr id="25" name="Straight Arrow Connector 24"/>
              <p:cNvCxnSpPr>
                <a:stCxn id="21510" idx="4"/>
              </p:cNvCxnSpPr>
              <p:nvPr/>
            </p:nvCxnSpPr>
            <p:spPr>
              <a:xfrm rot="16200000" flipH="1">
                <a:off x="2230437" y="3373438"/>
                <a:ext cx="796925" cy="9906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1" name="TextBox 32"/>
              <p:cNvSpPr txBox="1">
                <a:spLocks noChangeArrowheads="1"/>
              </p:cNvSpPr>
              <p:nvPr/>
            </p:nvSpPr>
            <p:spPr bwMode="auto">
              <a:xfrm rot="2243371">
                <a:off x="25768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rain</a:t>
                </a:r>
              </a:p>
            </p:txBody>
          </p:sp>
          <p:grpSp>
            <p:nvGrpSpPr>
              <p:cNvPr id="21522" name="Group 34"/>
              <p:cNvGrpSpPr>
                <a:grpSpLocks/>
              </p:cNvGrpSpPr>
              <p:nvPr/>
            </p:nvGrpSpPr>
            <p:grpSpPr bwMode="auto">
              <a:xfrm>
                <a:off x="4953000" y="4267200"/>
                <a:ext cx="1828800" cy="533400"/>
                <a:chOff x="4368" y="1728"/>
                <a:chExt cx="528" cy="336"/>
              </a:xfrm>
            </p:grpSpPr>
            <p:sp>
              <p:nvSpPr>
                <p:cNvPr id="21530"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U(l,s)</a:t>
                  </a:r>
                </a:p>
              </p:txBody>
            </p:sp>
          </p:grpSp>
          <p:cxnSp>
            <p:nvCxnSpPr>
              <p:cNvPr id="38" name="Straight Arrow Connector 37"/>
              <p:cNvCxnSpPr/>
              <p:nvPr/>
            </p:nvCxnSpPr>
            <p:spPr>
              <a:xfrm rot="5400000">
                <a:off x="5926931" y="3334544"/>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1524" name="Group 38"/>
              <p:cNvGrpSpPr>
                <a:grpSpLocks/>
              </p:cNvGrpSpPr>
              <p:nvPr/>
            </p:nvGrpSpPr>
            <p:grpSpPr bwMode="auto">
              <a:xfrm>
                <a:off x="6934200" y="4267200"/>
                <a:ext cx="1828800" cy="533400"/>
                <a:chOff x="4368" y="1728"/>
                <a:chExt cx="528" cy="336"/>
              </a:xfrm>
            </p:grpSpPr>
            <p:sp>
              <p:nvSpPr>
                <p:cNvPr id="21528"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2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U(l,r)</a:t>
                  </a:r>
                </a:p>
              </p:txBody>
            </p:sp>
          </p:grpSp>
          <p:cxnSp>
            <p:nvCxnSpPr>
              <p:cNvPr id="42" name="Straight Arrow Connector 41"/>
              <p:cNvCxnSpPr/>
              <p:nvPr/>
            </p:nvCxnSpPr>
            <p:spPr>
              <a:xfrm rot="16200000" flipH="1">
                <a:off x="6955631" y="3374232"/>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6" name="TextBox 42"/>
              <p:cNvSpPr txBox="1">
                <a:spLocks noChangeArrowheads="1"/>
              </p:cNvSpPr>
              <p:nvPr/>
            </p:nvSpPr>
            <p:spPr bwMode="auto">
              <a:xfrm rot="2243371">
                <a:off x="73012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rain</a:t>
                </a:r>
              </a:p>
            </p:txBody>
          </p:sp>
          <p:sp>
            <p:nvSpPr>
              <p:cNvPr id="21527" name="TextBox 43"/>
              <p:cNvSpPr txBox="1">
                <a:spLocks noChangeArrowheads="1"/>
              </p:cNvSpPr>
              <p:nvPr/>
            </p:nvSpPr>
            <p:spPr bwMode="auto">
              <a:xfrm rot="-2151216">
                <a:off x="5697272" y="3479791"/>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sun</a:t>
                </a:r>
              </a:p>
            </p:txBody>
          </p:sp>
        </p:gr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8200" y="4800600"/>
              <a:ext cx="1210033" cy="914399"/>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800" y="4800600"/>
              <a:ext cx="1133567" cy="6858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5600" y="4800600"/>
              <a:ext cx="1066800" cy="78245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4800600"/>
              <a:ext cx="1219200" cy="766143"/>
            </a:xfrm>
            <a:prstGeom prst="rect">
              <a:avLst/>
            </a:prstGeom>
          </p:spPr>
        </p:pic>
      </p:grpSp>
      <p:pic>
        <p:nvPicPr>
          <p:cNvPr id="32" name="Picture 31">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637" y="4614752"/>
            <a:ext cx="1656242" cy="1936596"/>
          </a:xfrm>
          <a:prstGeom prst="rect">
            <a:avLst/>
          </a:prstGeom>
        </p:spPr>
      </p:pic>
      <p:grpSp>
        <p:nvGrpSpPr>
          <p:cNvPr id="2" name="Group 1">
            <a:extLst>
              <a:ext uri="{C183D7F6-B498-43B3-948B-1728B52AA6E4}">
                <adec:decorative xmlns:adec="http://schemas.microsoft.com/office/drawing/2017/decorative" val="1"/>
              </a:ext>
            </a:extLst>
          </p:cNvPr>
          <p:cNvGrpSpPr/>
          <p:nvPr/>
        </p:nvGrpSpPr>
        <p:grpSpPr>
          <a:xfrm>
            <a:off x="781384" y="2521526"/>
            <a:ext cx="2073471" cy="1434369"/>
            <a:chOff x="9046973" y="1409700"/>
            <a:chExt cx="3124200" cy="2057400"/>
          </a:xfrm>
        </p:grpSpPr>
        <p:sp>
          <p:nvSpPr>
            <p:cNvPr id="33" name="Oval 5"/>
            <p:cNvSpPr>
              <a:spLocks noChangeArrowheads="1"/>
            </p:cNvSpPr>
            <p:nvPr/>
          </p:nvSpPr>
          <p:spPr bwMode="auto">
            <a:xfrm>
              <a:off x="9046973" y="2892425"/>
              <a:ext cx="1222375" cy="574675"/>
            </a:xfrm>
            <a:prstGeom prst="ellipse">
              <a:avLst/>
            </a:prstGeom>
            <a:solidFill>
              <a:schemeClr val="bg1"/>
            </a:solidFill>
            <a:ln w="28575">
              <a:solidFill>
                <a:schemeClr val="tx1"/>
              </a:solidFill>
              <a:round/>
              <a:headEnd/>
              <a:tailEnd/>
            </a:ln>
          </p:spPr>
          <p:txBody>
            <a:bodyPr wrap="none" anchor="ctr"/>
            <a:lstStyle/>
            <a:p>
              <a:pPr algn="ctr"/>
              <a:r>
                <a:rPr lang="en-US" sz="1400" dirty="0">
                  <a:latin typeface="Calibri" pitchFamily="34" charset="0"/>
                  <a:cs typeface="Calibri" pitchFamily="34" charset="0"/>
                </a:rPr>
                <a:t>Weather</a:t>
              </a:r>
            </a:p>
          </p:txBody>
        </p:sp>
        <p:sp>
          <p:nvSpPr>
            <p:cNvPr id="34" name="Rectangle 7"/>
            <p:cNvSpPr>
              <a:spLocks noChangeArrowheads="1"/>
            </p:cNvSpPr>
            <p:nvPr/>
          </p:nvSpPr>
          <p:spPr bwMode="auto">
            <a:xfrm>
              <a:off x="9123173" y="14097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sz="1400" dirty="0">
                  <a:latin typeface="Calibri" pitchFamily="34" charset="0"/>
                  <a:cs typeface="Calibri" pitchFamily="34" charset="0"/>
                </a:rPr>
                <a:t>Umbrella</a:t>
              </a:r>
            </a:p>
          </p:txBody>
        </p:sp>
        <p:grpSp>
          <p:nvGrpSpPr>
            <p:cNvPr id="35" name="Group 8"/>
            <p:cNvGrpSpPr>
              <a:grpSpLocks/>
            </p:cNvGrpSpPr>
            <p:nvPr/>
          </p:nvGrpSpPr>
          <p:grpSpPr bwMode="auto">
            <a:xfrm>
              <a:off x="11332973" y="2171700"/>
              <a:ext cx="838200" cy="533400"/>
              <a:chOff x="4368" y="1728"/>
              <a:chExt cx="528" cy="336"/>
            </a:xfrm>
          </p:grpSpPr>
          <p:sp>
            <p:nvSpPr>
              <p:cNvPr id="36"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sz="1400">
                  <a:latin typeface="Calibri" pitchFamily="34" charset="0"/>
                  <a:cs typeface="Calibri" pitchFamily="34" charset="0"/>
                </a:endParaRPr>
              </a:p>
            </p:txBody>
          </p:sp>
          <p:sp>
            <p:nvSpPr>
              <p:cNvPr id="37" name="Text Box 10"/>
              <p:cNvSpPr txBox="1">
                <a:spLocks noChangeArrowheads="1"/>
              </p:cNvSpPr>
              <p:nvPr/>
            </p:nvSpPr>
            <p:spPr bwMode="auto">
              <a:xfrm>
                <a:off x="4512" y="1776"/>
                <a:ext cx="24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400">
                    <a:latin typeface="Calibri" pitchFamily="34" charset="0"/>
                    <a:cs typeface="Calibri" pitchFamily="34" charset="0"/>
                  </a:rPr>
                  <a:t>U</a:t>
                </a:r>
              </a:p>
            </p:txBody>
          </p:sp>
        </p:grpSp>
        <p:cxnSp>
          <p:nvCxnSpPr>
            <p:cNvPr id="39" name="AutoShape 11"/>
            <p:cNvCxnSpPr>
              <a:cxnSpLocks noChangeShapeType="1"/>
              <a:stCxn id="34" idx="3"/>
              <a:endCxn id="36" idx="1"/>
            </p:cNvCxnSpPr>
            <p:nvPr/>
          </p:nvCxnSpPr>
          <p:spPr bwMode="auto">
            <a:xfrm>
              <a:off x="10280461" y="1676400"/>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2"/>
            <p:cNvCxnSpPr>
              <a:cxnSpLocks noChangeShapeType="1"/>
              <a:stCxn id="33" idx="6"/>
              <a:endCxn id="36" idx="1"/>
            </p:cNvCxnSpPr>
            <p:nvPr/>
          </p:nvCxnSpPr>
          <p:spPr bwMode="auto">
            <a:xfrm flipV="1">
              <a:off x="10283636" y="24384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76784" y="1690688"/>
            <a:ext cx="1816781" cy="1229568"/>
          </a:xfrm>
          <a:prstGeom prst="rect">
            <a:avLst/>
          </a:prstGeom>
        </p:spPr>
      </p:pic>
      <p:sp>
        <p:nvSpPr>
          <p:cNvPr id="11" name="TextBox 10">
            <a:extLst>
              <a:ext uri="{FF2B5EF4-FFF2-40B4-BE49-F238E27FC236}">
                <a16:creationId xmlns:a16="http://schemas.microsoft.com/office/drawing/2014/main" id="{380320E9-2D46-97C0-E5BD-EF482A578C9D}"/>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14" name="Speech Bubble: Rectangle with Corners Rounded 13">
            <a:extLst>
              <a:ext uri="{FF2B5EF4-FFF2-40B4-BE49-F238E27FC236}">
                <a16:creationId xmlns:a16="http://schemas.microsoft.com/office/drawing/2014/main" id="{47EDAF5F-7B98-7B76-DE0E-CE4A9C6A978E}"/>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15" name="Speech Bubble: Rectangle with Corners Rounded 14">
            <a:extLst>
              <a:ext uri="{FF2B5EF4-FFF2-40B4-BE49-F238E27FC236}">
                <a16:creationId xmlns:a16="http://schemas.microsoft.com/office/drawing/2014/main" id="{80791E34-39C2-BD68-D20A-222CFA91818A}"/>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16" name="Speech Bubble: Rectangle with Corners Rounded 15">
            <a:extLst>
              <a:ext uri="{FF2B5EF4-FFF2-40B4-BE49-F238E27FC236}">
                <a16:creationId xmlns:a16="http://schemas.microsoft.com/office/drawing/2014/main" id="{9A20C223-6BE4-29BD-CDB1-A2469A6C67C9}"/>
              </a:ext>
            </a:extLst>
          </p:cNvPr>
          <p:cNvSpPr/>
          <p:nvPr/>
        </p:nvSpPr>
        <p:spPr>
          <a:xfrm>
            <a:off x="8686799" y="685800"/>
            <a:ext cx="1828801" cy="659639"/>
          </a:xfrm>
          <a:prstGeom prst="wedgeRoundRectCallout">
            <a:avLst>
              <a:gd name="adj1" fmla="val -96018"/>
              <a:gd name="adj2" fmla="val 123083"/>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dirty="0"/>
              <a:t>{} … no evidence available</a:t>
            </a:r>
          </a:p>
        </p:txBody>
      </p:sp>
      <p:sp>
        <p:nvSpPr>
          <p:cNvPr id="17" name="Arrow: Right 16">
            <a:extLst>
              <a:ext uri="{FF2B5EF4-FFF2-40B4-BE49-F238E27FC236}">
                <a16:creationId xmlns:a16="http://schemas.microsoft.com/office/drawing/2014/main" id="{7580DF9B-A259-E35F-29C6-FB65089C1D6E}"/>
              </a:ext>
            </a:extLst>
          </p:cNvPr>
          <p:cNvSpPr/>
          <p:nvPr/>
        </p:nvSpPr>
        <p:spPr>
          <a:xfrm>
            <a:off x="3425872" y="2983966"/>
            <a:ext cx="808129" cy="4439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1633" y="101924"/>
            <a:ext cx="2667000" cy="1838271"/>
          </a:xfrm>
          <a:prstGeom prst="rect">
            <a:avLst/>
          </a:prstGeom>
        </p:spPr>
      </p:pic>
      <p:sp>
        <p:nvSpPr>
          <p:cNvPr id="2252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 Bad Forecast</a:t>
            </a:r>
          </a:p>
        </p:txBody>
      </p:sp>
      <p:grpSp>
        <p:nvGrpSpPr>
          <p:cNvPr id="3" name="Group 2" descr="The umbrella decision network with a node for the weather forcast added. The weather is forcast to be bad.">
            <a:extLst>
              <a:ext uri="{FF2B5EF4-FFF2-40B4-BE49-F238E27FC236}">
                <a16:creationId xmlns:a16="http://schemas.microsoft.com/office/drawing/2014/main" id="{1C91E029-9261-B074-097A-5865C913E323}"/>
              </a:ext>
            </a:extLst>
          </p:cNvPr>
          <p:cNvGrpSpPr/>
          <p:nvPr/>
        </p:nvGrpSpPr>
        <p:grpSpPr>
          <a:xfrm>
            <a:off x="1023826" y="1588833"/>
            <a:ext cx="3124200" cy="4113998"/>
            <a:chOff x="5867400" y="1753402"/>
            <a:chExt cx="3124200" cy="4113998"/>
          </a:xfrm>
        </p:grpSpPr>
        <p:cxnSp>
          <p:nvCxnSpPr>
            <p:cNvPr id="22530" name="AutoShape 3">
              <a:extLst>
                <a:ext uri="{C183D7F6-B498-43B3-948B-1728B52AA6E4}">
                  <adec:decorative xmlns:adec="http://schemas.microsoft.com/office/drawing/2017/decorative" val="1"/>
                </a:ext>
              </a:extLst>
            </p:cNvPr>
            <p:cNvCxnSpPr>
              <a:cxnSpLocks noChangeShapeType="1"/>
              <a:stCxn id="22531" idx="4"/>
              <a:endCxn id="22532" idx="0"/>
            </p:cNvCxnSpPr>
            <p:nvPr/>
          </p:nvCxnSpPr>
          <p:spPr bwMode="auto">
            <a:xfrm>
              <a:off x="6478588" y="4129088"/>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22531" name="Oval 4"/>
            <p:cNvSpPr>
              <a:spLocks noChangeArrowheads="1"/>
            </p:cNvSpPr>
            <p:nvPr/>
          </p:nvSpPr>
          <p:spPr bwMode="auto">
            <a:xfrm>
              <a:off x="5867400" y="35401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22532" name="Oval 5"/>
            <p:cNvSpPr>
              <a:spLocks noChangeArrowheads="1"/>
            </p:cNvSpPr>
            <p:nvPr/>
          </p:nvSpPr>
          <p:spPr bwMode="auto">
            <a:xfrm>
              <a:off x="5867400" y="5292725"/>
              <a:ext cx="1222375" cy="574675"/>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22533" name="Rectangle 6"/>
            <p:cNvSpPr>
              <a:spLocks noChangeArrowheads="1"/>
            </p:cNvSpPr>
            <p:nvPr/>
          </p:nvSpPr>
          <p:spPr bwMode="auto">
            <a:xfrm>
              <a:off x="5867400" y="1753402"/>
              <a:ext cx="134310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22534" name="Group 7"/>
            <p:cNvGrpSpPr>
              <a:grpSpLocks/>
            </p:cNvGrpSpPr>
            <p:nvPr/>
          </p:nvGrpSpPr>
          <p:grpSpPr bwMode="auto">
            <a:xfrm>
              <a:off x="8153400" y="2819400"/>
              <a:ext cx="838200" cy="533400"/>
              <a:chOff x="4368" y="1728"/>
              <a:chExt cx="528" cy="336"/>
            </a:xfrm>
          </p:grpSpPr>
          <p:sp>
            <p:nvSpPr>
              <p:cNvPr id="22588"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2589" name="Text Box 9"/>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22535" name="AutoShape 10"/>
            <p:cNvCxnSpPr>
              <a:cxnSpLocks noChangeShapeType="1"/>
              <a:stCxn id="22533" idx="3"/>
            </p:cNvCxnSpPr>
            <p:nvPr/>
          </p:nvCxnSpPr>
          <p:spPr bwMode="auto">
            <a:xfrm>
              <a:off x="7210509" y="2020102"/>
              <a:ext cx="928604" cy="10659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2536" name="AutoShape 11"/>
            <p:cNvCxnSpPr>
              <a:cxnSpLocks noChangeShapeType="1"/>
              <a:stCxn id="22531" idx="6"/>
              <a:endCxn id="22588" idx="1"/>
            </p:cNvCxnSpPr>
            <p:nvPr/>
          </p:nvCxnSpPr>
          <p:spPr bwMode="auto">
            <a:xfrm flipV="1">
              <a:off x="7104063" y="30861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mc:AlternateContent xmlns:mc="http://schemas.openxmlformats.org/markup-compatibility/2006" xmlns:a14="http://schemas.microsoft.com/office/drawing/2010/main">
        <mc:Choice Requires="a14">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2720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𝐴</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28" marB="45728" horzOverflow="overflow"/>
                    </a:tc>
                    <a:extLst>
                      <a:ext uri="{0D108BD9-81ED-4DB2-BD59-A6C34878D82A}">
                        <a16:rowId xmlns:a16="http://schemas.microsoft.com/office/drawing/2014/main" val="10000"/>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marT="45728" marB="45728" horzOverflow="overflow"/>
                    </a:tc>
                    <a:extLst>
                      <a:ext uri="{0D108BD9-81ED-4DB2-BD59-A6C34878D82A}">
                        <a16:rowId xmlns:a16="http://schemas.microsoft.com/office/drawing/2014/main" val="10001"/>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marT="45728" marB="45728" horzOverflow="overflow"/>
                    </a:tc>
                    <a:extLst>
                      <a:ext uri="{0D108BD9-81ED-4DB2-BD59-A6C34878D82A}">
                        <a16:rowId xmlns:a16="http://schemas.microsoft.com/office/drawing/2014/main" val="10002"/>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marT="45728" marB="45728" horzOverflow="overflow"/>
                    </a:tc>
                    <a:extLst>
                      <a:ext uri="{0D108BD9-81ED-4DB2-BD59-A6C34878D82A}">
                        <a16:rowId xmlns:a16="http://schemas.microsoft.com/office/drawing/2014/main" val="10003"/>
                      </a:ext>
                    </a:extLst>
                  </a:tr>
                  <a:tr h="23935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marT="45728" marB="45728" horzOverflow="overflow"/>
                    </a:tc>
                    <a:extLst>
                      <a:ext uri="{0D108BD9-81ED-4DB2-BD59-A6C34878D82A}">
                        <a16:rowId xmlns:a16="http://schemas.microsoft.com/office/drawing/2014/main" val="10004"/>
                      </a:ext>
                    </a:extLst>
                  </a:tr>
                </a:tbl>
              </a:graphicData>
            </a:graphic>
          </p:graphicFrame>
        </mc:Choice>
        <mc:Fallback xmlns="">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335296">
                    <a:tc>
                      <a:txBody>
                        <a:bodyPr/>
                        <a:lstStyle/>
                        <a:p>
                          <a:endParaRPr lang="en-US"/>
                        </a:p>
                      </a:txBody>
                      <a:tcPr marT="45728" marB="45728" horzOverflow="overflow">
                        <a:blipFill>
                          <a:blip r:embed="rId3"/>
                          <a:stretch>
                            <a:fillRect l="-2857" t="-1818" r="-207619" b="-423636"/>
                          </a:stretch>
                        </a:blipFill>
                      </a:tcPr>
                    </a:tc>
                    <a:tc>
                      <a:txBody>
                        <a:bodyPr/>
                        <a:lstStyle/>
                        <a:p>
                          <a:endParaRPr lang="en-US"/>
                        </a:p>
                      </a:txBody>
                      <a:tcPr marT="45728" marB="45728" horzOverflow="overflow">
                        <a:blipFill>
                          <a:blip r:embed="rId3"/>
                          <a:stretch>
                            <a:fillRect l="-127059" t="-1818" r="-156471" b="-423636"/>
                          </a:stretch>
                        </a:blipFill>
                      </a:tcPr>
                    </a:tc>
                    <a:tc>
                      <a:txBody>
                        <a:bodyPr/>
                        <a:lstStyle/>
                        <a:p>
                          <a:endParaRPr lang="en-US"/>
                        </a:p>
                      </a:txBody>
                      <a:tcPr marT="45728" marB="45728" horzOverflow="overflow">
                        <a:blipFill>
                          <a:blip r:embed="rId3"/>
                          <a:stretch>
                            <a:fillRect l="-153175" t="-1818" r="-5556" b="-423636"/>
                          </a:stretch>
                        </a:blipFill>
                      </a:tcPr>
                    </a:tc>
                    <a:extLst>
                      <a:ext uri="{0D108BD9-81ED-4DB2-BD59-A6C34878D82A}">
                        <a16:rowId xmlns:a16="http://schemas.microsoft.com/office/drawing/2014/main" val="10000"/>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101818" r="-5556" b="-323636"/>
                          </a:stretch>
                        </a:blipFill>
                      </a:tcPr>
                    </a:tc>
                    <a:extLst>
                      <a:ext uri="{0D108BD9-81ED-4DB2-BD59-A6C34878D82A}">
                        <a16:rowId xmlns:a16="http://schemas.microsoft.com/office/drawing/2014/main" val="10001"/>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198214" r="-5556" b="-217857"/>
                          </a:stretch>
                        </a:blipFill>
                      </a:tcPr>
                    </a:tc>
                    <a:extLst>
                      <a:ext uri="{0D108BD9-81ED-4DB2-BD59-A6C34878D82A}">
                        <a16:rowId xmlns:a16="http://schemas.microsoft.com/office/drawing/2014/main" val="10002"/>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303636" r="-5556" b="-121818"/>
                          </a:stretch>
                        </a:blipFill>
                      </a:tcPr>
                    </a:tc>
                    <a:extLst>
                      <a:ext uri="{0D108BD9-81ED-4DB2-BD59-A6C34878D82A}">
                        <a16:rowId xmlns:a16="http://schemas.microsoft.com/office/drawing/2014/main" val="10003"/>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403636" r="-5556" b="-21818"/>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4"/>
                          <a:stretch>
                            <a:fillRect l="-990" t="-1818" r="-100990" b="-223636"/>
                          </a:stretch>
                        </a:blipFill>
                      </a:tcPr>
                    </a:tc>
                    <a:tc>
                      <a:txBody>
                        <a:bodyPr/>
                        <a:lstStyle/>
                        <a:p>
                          <a:endParaRPr lang="en-US"/>
                        </a:p>
                      </a:txBody>
                      <a:tcPr marT="45732" marB="45732" horzOverflow="overflow">
                        <a:blipFill>
                          <a:blip r:embed="rId4"/>
                          <a:stretch>
                            <a:fillRect l="-102000" t="-1818" r="-2000"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4"/>
                          <a:stretch>
                            <a:fillRect l="-102000" t="-100000" r="-2000"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4"/>
                          <a:stretch>
                            <a:fillRect l="-102000" t="-203636" r="-2000"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d>
                                  <m:dPr>
                                    <m:endChr m:val="|"/>
                                    <m:ctrlPr>
                                      <a:rPr lang="en-US" sz="1600" b="0" i="1" dirty="0" smtClean="0">
                                        <a:latin typeface="Cambria Math" panose="02040503050406030204" pitchFamily="18" charset="0"/>
                                      </a:rPr>
                                    </m:ctrlPr>
                                  </m:dPr>
                                  <m:e>
                                    <m:r>
                                      <a:rPr lang="en-US" sz="1600" b="0" dirty="0" smtClean="0">
                                        <a:latin typeface="Cambria Math" panose="02040503050406030204" pitchFamily="18" charset="0"/>
                                      </a:rPr>
                                      <m:t>𝑊</m:t>
                                    </m:r>
                                  </m:e>
                                </m:d>
                                <m:r>
                                  <a:rPr lang="en-US" sz="1600" b="0" dirty="0" smtClean="0">
                                    <a:latin typeface="Cambria Math" panose="02040503050406030204" pitchFamily="18" charset="0"/>
                                  </a:rPr>
                                  <m:t>𝐹</m:t>
                                </m:r>
                                <m:r>
                                  <a:rPr lang="en-US" sz="1600" b="0" dirty="0" smtClean="0">
                                    <a:latin typeface="Cambria Math" panose="02040503050406030204" pitchFamily="18" charset="0"/>
                                  </a:rPr>
                                  <m:t>=</m:t>
                                </m:r>
                                <m:r>
                                  <a:rPr lang="en-US" sz="1600" b="0" dirty="0" smtClean="0">
                                    <a:latin typeface="Cambria Math" panose="02040503050406030204" pitchFamily="18" charset="0"/>
                                  </a:rPr>
                                  <m:t>𝑏𝑎𝑑</m:t>
                                </m:r>
                                <m:r>
                                  <a:rPr lang="en-US" sz="1600" b="0" dirty="0" smtClean="0">
                                    <a:latin typeface="Cambria Math" panose="02040503050406030204" pitchFamily="18" charset="0"/>
                                  </a:rPr>
                                  <m:t>)</m:t>
                                </m:r>
                              </m:oMath>
                            </m:oMathPara>
                          </a14:m>
                          <a:endParaRPr lang="en-US" sz="1600" dirty="0"/>
                        </a:p>
                      </a:txBody>
                      <a:tcPr marT="45749" marB="45749" horzOverflow="overflow"/>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0.34</m:t>
                                </m:r>
                              </m:oMath>
                            </m:oMathPara>
                          </a14:m>
                          <a:endParaRPr lang="en-US" sz="1600" dirty="0"/>
                        </a:p>
                      </a:txBody>
                      <a:tcPr marT="45749" marB="45749" horzOverflow="overflow"/>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0.66</m:t>
                                </m:r>
                              </m:oMath>
                            </m:oMathPara>
                          </a14:m>
                          <a:endParaRPr lang="en-US" sz="1600" dirty="0"/>
                        </a:p>
                      </a:txBody>
                      <a:tcPr marT="45749" marB="45749" horzOverflow="overflow"/>
                    </a:tc>
                    <a:extLst>
                      <a:ext uri="{0D108BD9-81ED-4DB2-BD59-A6C34878D82A}">
                        <a16:rowId xmlns:a16="http://schemas.microsoft.com/office/drawing/2014/main" val="10002"/>
                      </a:ext>
                    </a:extLst>
                  </a:tr>
                </a:tbl>
              </a:graphicData>
            </a:graphic>
          </p:graphicFrame>
        </mc:Choice>
        <mc:Fallback xmlns="">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endParaRPr lang="en-US"/>
                        </a:p>
                      </a:txBody>
                      <a:tcPr marT="45749" marB="45749" horzOverflow="overflow">
                        <a:blipFill>
                          <a:blip r:embed="rId5"/>
                          <a:stretch>
                            <a:fillRect l="-1031" t="-1818" r="-258763" b="-223636"/>
                          </a:stretch>
                        </a:blipFill>
                      </a:tcPr>
                    </a:tc>
                    <a:tc>
                      <a:txBody>
                        <a:bodyPr/>
                        <a:lstStyle/>
                        <a:p>
                          <a:endParaRPr lang="en-US"/>
                        </a:p>
                      </a:txBody>
                      <a:tcPr marT="45749" marB="45749" horzOverflow="overflow">
                        <a:blipFill>
                          <a:blip r:embed="rId5"/>
                          <a:stretch>
                            <a:fillRect l="-39200" t="-1818" r="-400" b="-223636"/>
                          </a:stretch>
                        </a:blipFill>
                      </a:tcPr>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endParaRPr lang="en-US"/>
                        </a:p>
                      </a:txBody>
                      <a:tcPr marT="45749" marB="45749" horzOverflow="overflow">
                        <a:blipFill>
                          <a:blip r:embed="rId5"/>
                          <a:stretch>
                            <a:fillRect l="-39200" t="-100000" r="-400" b="-119643"/>
                          </a:stretch>
                        </a:blipFill>
                      </a:tcPr>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endParaRPr lang="en-US"/>
                        </a:p>
                      </a:txBody>
                      <a:tcPr marT="45749" marB="45749" horzOverflow="overflow">
                        <a:blipFill>
                          <a:blip r:embed="rId5"/>
                          <a:stretch>
                            <a:fillRect l="-39200" t="-203636" r="-400" b="-21818"/>
                          </a:stretch>
                        </a:blipFill>
                      </a:tcPr>
                    </a:tc>
                    <a:extLst>
                      <a:ext uri="{0D108BD9-81ED-4DB2-BD59-A6C34878D82A}">
                        <a16:rowId xmlns:a16="http://schemas.microsoft.com/office/drawing/2014/main" val="10002"/>
                      </a:ext>
                    </a:extLst>
                  </a:tr>
                </a:tbl>
              </a:graphicData>
            </a:graphic>
          </p:graphicFrame>
        </mc:Fallback>
      </mc:AlternateContent>
      <p:sp>
        <p:nvSpPr>
          <p:cNvPr id="8" name="Arrow: Right 7">
            <a:extLst>
              <a:ext uri="{FF2B5EF4-FFF2-40B4-BE49-F238E27FC236}">
                <a16:creationId xmlns:a16="http://schemas.microsoft.com/office/drawing/2014/main" id="{5395BE24-6A17-779A-DE39-F41E0767CF7E}"/>
              </a:ext>
              <a:ext uri="{C183D7F6-B498-43B3-948B-1728B52AA6E4}">
                <adec:decorative xmlns:adec="http://schemas.microsoft.com/office/drawing/2017/decorative" val="1"/>
              </a:ext>
            </a:extLst>
          </p:cNvPr>
          <p:cNvSpPr/>
          <p:nvPr/>
        </p:nvSpPr>
        <p:spPr>
          <a:xfrm>
            <a:off x="3854612" y="4194714"/>
            <a:ext cx="382692" cy="3480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 Box 52">
                <a:extLst>
                  <a:ext uri="{FF2B5EF4-FFF2-40B4-BE49-F238E27FC236}">
                    <a16:creationId xmlns:a16="http://schemas.microsoft.com/office/drawing/2014/main" id="{6D6514DD-3E3E-935A-A7E7-9EC592BD917C}"/>
                  </a:ext>
                </a:extLst>
              </p:cNvPr>
              <p:cNvSpPr txBox="1">
                <a:spLocks noChangeArrowheads="1"/>
              </p:cNvSpPr>
              <p:nvPr/>
            </p:nvSpPr>
            <p:spPr bwMode="auto">
              <a:xfrm>
                <a:off x="6843797" y="2058664"/>
                <a:ext cx="4990360"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100+0.</m:t>
                    </m:r>
                    <m:r>
                      <a:rPr lang="en-US" sz="2000" b="0" i="1" smtClean="0">
                        <a:latin typeface="Cambria Math" panose="02040503050406030204" pitchFamily="18" charset="0"/>
                        <a:ea typeface="Cambria Math" panose="02040503050406030204" pitchFamily="18" charset="0"/>
                      </a:rPr>
                      <m:t>66∙0=34</m:t>
                    </m:r>
                  </m:oMath>
                </a14:m>
                <a:endParaRPr lang="en-US" sz="2000" dirty="0">
                  <a:latin typeface="Calibri" panose="020F0502020204030204" pitchFamily="34" charset="0"/>
                </a:endParaRPr>
              </a:p>
            </p:txBody>
          </p:sp>
        </mc:Choice>
        <mc:Fallback xmlns="">
          <p:sp>
            <p:nvSpPr>
              <p:cNvPr id="5" name="Text Box 52">
                <a:extLst>
                  <a:ext uri="{FF2B5EF4-FFF2-40B4-BE49-F238E27FC236}">
                    <a16:creationId xmlns:a16="http://schemas.microsoft.com/office/drawing/2014/main" id="{6D6514DD-3E3E-935A-A7E7-9EC592BD917C}"/>
                  </a:ext>
                </a:extLst>
              </p:cNvPr>
              <p:cNvSpPr txBox="1">
                <a:spLocks noRot="1" noChangeAspect="1" noMove="1" noResize="1" noEditPoints="1" noAdjustHandles="1" noChangeArrowheads="1" noChangeShapeType="1" noTextEdit="1"/>
              </p:cNvSpPr>
              <p:nvPr/>
            </p:nvSpPr>
            <p:spPr bwMode="auto">
              <a:xfrm>
                <a:off x="6843797" y="2058664"/>
                <a:ext cx="4990360" cy="1423851"/>
              </a:xfrm>
              <a:prstGeom prst="rect">
                <a:avLst/>
              </a:prstGeom>
              <a:blipFill>
                <a:blip r:embed="rId6"/>
                <a:stretch>
                  <a:fillRect l="-1100" t="-25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3">
                <a:extLst>
                  <a:ext uri="{FF2B5EF4-FFF2-40B4-BE49-F238E27FC236}">
                    <a16:creationId xmlns:a16="http://schemas.microsoft.com/office/drawing/2014/main" id="{E9305198-00FF-3685-9341-89B3119DAFF6}"/>
                  </a:ext>
                </a:extLst>
              </p:cNvPr>
              <p:cNvSpPr txBox="1">
                <a:spLocks noChangeArrowheads="1"/>
              </p:cNvSpPr>
              <p:nvPr/>
            </p:nvSpPr>
            <p:spPr bwMode="auto">
              <a:xfrm>
                <a:off x="6818562" y="3772993"/>
                <a:ext cx="5072840"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20+0.</m:t>
                    </m:r>
                    <m:r>
                      <a:rPr lang="en-US" sz="2000" b="0" i="1" smtClean="0">
                        <a:latin typeface="Cambria Math" panose="02040503050406030204" pitchFamily="18" charset="0"/>
                        <a:ea typeface="Cambria Math" panose="02040503050406030204" pitchFamily="18" charset="0"/>
                      </a:rPr>
                      <m:t>66∙70=53</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6" name="Text Box 53">
                <a:extLst>
                  <a:ext uri="{FF2B5EF4-FFF2-40B4-BE49-F238E27FC236}">
                    <a16:creationId xmlns:a16="http://schemas.microsoft.com/office/drawing/2014/main" id="{E9305198-00FF-3685-9341-89B3119DAFF6}"/>
                  </a:ext>
                </a:extLst>
              </p:cNvPr>
              <p:cNvSpPr txBox="1">
                <a:spLocks noRot="1" noChangeAspect="1" noMove="1" noResize="1" noEditPoints="1" noAdjustHandles="1" noChangeArrowheads="1" noChangeShapeType="1" noTextEdit="1"/>
              </p:cNvSpPr>
              <p:nvPr/>
            </p:nvSpPr>
            <p:spPr bwMode="auto">
              <a:xfrm>
                <a:off x="6818562" y="3772993"/>
                <a:ext cx="5072840" cy="1839350"/>
              </a:xfrm>
              <a:prstGeom prst="rect">
                <a:avLst/>
              </a:prstGeom>
              <a:blipFill>
                <a:blip r:embed="rId7"/>
                <a:stretch>
                  <a:fillRect l="-1082" t="-19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62">
                <a:extLst>
                  <a:ext uri="{FF2B5EF4-FFF2-40B4-BE49-F238E27FC236}">
                    <a16:creationId xmlns:a16="http://schemas.microsoft.com/office/drawing/2014/main" id="{35E3E17C-C9F9-E37A-D007-90AE49C223DB}"/>
                  </a:ext>
                </a:extLst>
              </p:cNvPr>
              <p:cNvSpPr txBox="1">
                <a:spLocks noChangeArrowheads="1"/>
              </p:cNvSpPr>
              <p:nvPr/>
            </p:nvSpPr>
            <p:spPr bwMode="auto">
              <a:xfrm>
                <a:off x="6832101" y="5481690"/>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 leave</a:t>
                </a: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cs typeface="Calibri"/>
                            </a:rPr>
                            <m:t>𝐹</m:t>
                          </m:r>
                          <m:r>
                            <a:rPr lang="en-US" sz="1800" b="0" i="1" smtClean="0">
                              <a:latin typeface="Cambria Math" panose="02040503050406030204" pitchFamily="18" charset="0"/>
                              <a:cs typeface="Calibri"/>
                            </a:rPr>
                            <m:t>=</m:t>
                          </m:r>
                          <m:r>
                            <m:rPr>
                              <m:sty m:val="p"/>
                            </m:rPr>
                            <a:rPr lang="en-US" sz="1800" b="0" i="0" smtClean="0">
                              <a:latin typeface="Cambria Math" panose="02040503050406030204" pitchFamily="18" charset="0"/>
                              <a:cs typeface="Calibri"/>
                            </a:rPr>
                            <m:t>bad</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r>
                            <a:rPr lang="en-US" sz="1800" b="0" i="1" smtClean="0">
                              <a:latin typeface="Cambria Math" panose="02040503050406030204" pitchFamily="18" charset="0"/>
                              <a:ea typeface="Cambria Math" panose="02040503050406030204" pitchFamily="18" charset="0"/>
                              <a:cs typeface="Calibri"/>
                            </a:rPr>
                            <m:t>|</m:t>
                          </m:r>
                          <m:r>
                            <m:rPr>
                              <m:sty m:val="p"/>
                            </m:rPr>
                            <a:rPr lang="en-US" sz="1800" b="0" i="0" smtClean="0">
                              <a:latin typeface="Cambria Math" panose="02040503050406030204" pitchFamily="18" charset="0"/>
                              <a:ea typeface="Cambria Math" panose="02040503050406030204" pitchFamily="18" charset="0"/>
                              <a:cs typeface="Calibri"/>
                            </a:rPr>
                            <m:t>bad</m:t>
                          </m:r>
                        </m:e>
                      </m:d>
                      <m:r>
                        <a:rPr lang="en-US" sz="1800" b="0" i="0" smtClean="0">
                          <a:latin typeface="Cambria Math" panose="02040503050406030204" pitchFamily="18" charset="0"/>
                          <a:ea typeface="Cambria Math" panose="02040503050406030204" pitchFamily="18" charset="0"/>
                          <a:cs typeface="Calibri"/>
                        </a:rPr>
                        <m:t>=53</m:t>
                      </m:r>
                    </m:oMath>
                  </m:oMathPara>
                </a14:m>
                <a:endParaRPr lang="en-US" sz="1800" dirty="0">
                  <a:latin typeface="Calibri"/>
                  <a:cs typeface="Calibri"/>
                </a:endParaRPr>
              </a:p>
            </p:txBody>
          </p:sp>
        </mc:Choice>
        <mc:Fallback xmlns="">
          <p:sp>
            <p:nvSpPr>
              <p:cNvPr id="9" name="Text Box 62">
                <a:extLst>
                  <a:ext uri="{FF2B5EF4-FFF2-40B4-BE49-F238E27FC236}">
                    <a16:creationId xmlns:a16="http://schemas.microsoft.com/office/drawing/2014/main" id="{35E3E17C-C9F9-E37A-D007-90AE49C223DB}"/>
                  </a:ext>
                </a:extLst>
              </p:cNvPr>
              <p:cNvSpPr txBox="1">
                <a:spLocks noRot="1" noChangeAspect="1" noMove="1" noResize="1" noEditPoints="1" noAdjustHandles="1" noChangeArrowheads="1" noChangeShapeType="1" noTextEdit="1"/>
              </p:cNvSpPr>
              <p:nvPr/>
            </p:nvSpPr>
            <p:spPr bwMode="auto">
              <a:xfrm>
                <a:off x="6832101" y="5481690"/>
                <a:ext cx="4798743" cy="731739"/>
              </a:xfrm>
              <a:prstGeom prst="rect">
                <a:avLst/>
              </a:prstGeom>
              <a:blipFill>
                <a:blip r:embed="rId8"/>
                <a:stretch>
                  <a:fillRect l="-1144"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AD88F725-1B06-6C13-E6ED-DC3B1F527754}"/>
              </a:ext>
            </a:extLst>
          </p:cNvPr>
          <p:cNvSpPr txBox="1"/>
          <p:nvPr/>
        </p:nvSpPr>
        <p:spPr>
          <a:xfrm rot="2849537">
            <a:off x="1319696" y="5179979"/>
            <a:ext cx="679673" cy="461665"/>
          </a:xfrm>
          <a:prstGeom prst="rect">
            <a:avLst/>
          </a:prstGeom>
          <a:noFill/>
        </p:spPr>
        <p:txBody>
          <a:bodyPr wrap="none" rtlCol="0">
            <a:spAutoFit/>
          </a:bodyPr>
          <a:lstStyle/>
          <a:p>
            <a:r>
              <a:rPr lang="en-US" sz="2400" b="1" dirty="0">
                <a:solidFill>
                  <a:schemeClr val="accent2"/>
                </a:solidFill>
              </a:rPr>
              <a:t>rain</a:t>
            </a:r>
          </a:p>
        </p:txBody>
      </p:sp>
      <p:grpSp>
        <p:nvGrpSpPr>
          <p:cNvPr id="33" name="Group 32">
            <a:extLst>
              <a:ext uri="{FF2B5EF4-FFF2-40B4-BE49-F238E27FC236}">
                <a16:creationId xmlns:a16="http://schemas.microsoft.com/office/drawing/2014/main" id="{7DB7E1B8-052A-7D31-B317-BFFE419350D0}"/>
              </a:ext>
            </a:extLst>
          </p:cNvPr>
          <p:cNvGrpSpPr/>
          <p:nvPr/>
        </p:nvGrpSpPr>
        <p:grpSpPr>
          <a:xfrm>
            <a:off x="1546600" y="3973774"/>
            <a:ext cx="3894396" cy="2401580"/>
            <a:chOff x="1546600" y="3973774"/>
            <a:chExt cx="3894396" cy="2401580"/>
          </a:xfrm>
        </p:grpSpPr>
        <p:grpSp>
          <p:nvGrpSpPr>
            <p:cNvPr id="23" name="Group 22">
              <a:extLst>
                <a:ext uri="{FF2B5EF4-FFF2-40B4-BE49-F238E27FC236}">
                  <a16:creationId xmlns:a16="http://schemas.microsoft.com/office/drawing/2014/main" id="{EAFA50D8-A74B-9CC6-D913-E86413E9EEF3}"/>
                </a:ext>
              </a:extLst>
            </p:cNvPr>
            <p:cNvGrpSpPr/>
            <p:nvPr/>
          </p:nvGrpSpPr>
          <p:grpSpPr>
            <a:xfrm>
              <a:off x="1546600" y="3973774"/>
              <a:ext cx="3894396" cy="2401580"/>
              <a:chOff x="1546600" y="3973774"/>
              <a:chExt cx="3894396" cy="2401580"/>
            </a:xfrm>
          </p:grpSpPr>
          <p:sp>
            <p:nvSpPr>
              <p:cNvPr id="2" name="Speech Bubble: Rectangle with Corners Rounded 1">
                <a:extLst>
                  <a:ext uri="{FF2B5EF4-FFF2-40B4-BE49-F238E27FC236}">
                    <a16:creationId xmlns:a16="http://schemas.microsoft.com/office/drawing/2014/main" id="{53984A83-7B10-45EA-65D5-44C9528C84C5}"/>
                  </a:ext>
                  <a:ext uri="{C183D7F6-B498-43B3-948B-1728B52AA6E4}">
                    <adec:decorative xmlns:adec="http://schemas.microsoft.com/office/drawing/2017/decorative" val="0"/>
                  </a:ext>
                </a:extLst>
              </p:cNvPr>
              <p:cNvSpPr/>
              <p:nvPr/>
            </p:nvSpPr>
            <p:spPr>
              <a:xfrm>
                <a:off x="2715413" y="5457572"/>
                <a:ext cx="2725583" cy="917782"/>
              </a:xfrm>
              <a:prstGeom prst="wedgeRoundRectCallout">
                <a:avLst>
                  <a:gd name="adj1" fmla="val -80135"/>
                  <a:gd name="adj2" fmla="val -12938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The evidence fixes forecast.  This  increases our belief of the probability of rain!</a:t>
                </a:r>
              </a:p>
            </p:txBody>
          </p:sp>
          <p:cxnSp>
            <p:nvCxnSpPr>
              <p:cNvPr id="10" name="Straight Arrow Connector 9">
                <a:extLst>
                  <a:ext uri="{FF2B5EF4-FFF2-40B4-BE49-F238E27FC236}">
                    <a16:creationId xmlns:a16="http://schemas.microsoft.com/office/drawing/2014/main" id="{AB6B6967-700E-E260-7C00-3281ECE1D610}"/>
                  </a:ext>
                </a:extLst>
              </p:cNvPr>
              <p:cNvCxnSpPr/>
              <p:nvPr/>
            </p:nvCxnSpPr>
            <p:spPr>
              <a:xfrm flipV="1">
                <a:off x="1874303" y="3973774"/>
                <a:ext cx="0" cy="1066059"/>
              </a:xfrm>
              <a:prstGeom prst="straightConnector1">
                <a:avLst/>
              </a:prstGeom>
              <a:ln w="5715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grpSp>
            <p:nvGrpSpPr>
              <p:cNvPr id="22" name="Group 21">
                <a:extLst>
                  <a:ext uri="{FF2B5EF4-FFF2-40B4-BE49-F238E27FC236}">
                    <a16:creationId xmlns:a16="http://schemas.microsoft.com/office/drawing/2014/main" id="{1444096A-429E-D40B-AC89-860BF8ECB3F2}"/>
                  </a:ext>
                </a:extLst>
              </p:cNvPr>
              <p:cNvGrpSpPr/>
              <p:nvPr/>
            </p:nvGrpSpPr>
            <p:grpSpPr>
              <a:xfrm>
                <a:off x="1546600" y="4368746"/>
                <a:ext cx="194580" cy="183884"/>
                <a:chOff x="1095375" y="4286250"/>
                <a:chExt cx="194580" cy="183884"/>
              </a:xfrm>
            </p:grpSpPr>
            <p:cxnSp>
              <p:nvCxnSpPr>
                <p:cNvPr id="14" name="Straight Connector 13">
                  <a:extLst>
                    <a:ext uri="{FF2B5EF4-FFF2-40B4-BE49-F238E27FC236}">
                      <a16:creationId xmlns:a16="http://schemas.microsoft.com/office/drawing/2014/main" id="{A8055F46-15AF-3320-3C9A-56AC12FF026C}"/>
                    </a:ext>
                  </a:extLst>
                </p:cNvPr>
                <p:cNvCxnSpPr>
                  <a:cxnSpLocks/>
                </p:cNvCxnSpPr>
                <p:nvPr/>
              </p:nvCxnSpPr>
              <p:spPr>
                <a:xfrm>
                  <a:off x="1095375" y="4286250"/>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C55FEC-4C27-1B39-572E-F4C235A213CA}"/>
                    </a:ext>
                  </a:extLst>
                </p:cNvPr>
                <p:cNvCxnSpPr>
                  <a:cxnSpLocks/>
                </p:cNvCxnSpPr>
                <p:nvPr/>
              </p:nvCxnSpPr>
              <p:spPr>
                <a:xfrm flipV="1">
                  <a:off x="1095375" y="4309626"/>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cxnSp>
          <p:nvCxnSpPr>
            <p:cNvPr id="25" name="Straight Connector 24">
              <a:extLst>
                <a:ext uri="{FF2B5EF4-FFF2-40B4-BE49-F238E27FC236}">
                  <a16:creationId xmlns:a16="http://schemas.microsoft.com/office/drawing/2014/main" id="{6B9E8D4C-C227-1F82-812D-349842ED67F2}"/>
                </a:ext>
              </a:extLst>
            </p:cNvPr>
            <p:cNvCxnSpPr>
              <a:cxnSpLocks/>
            </p:cNvCxnSpPr>
            <p:nvPr/>
          </p:nvCxnSpPr>
          <p:spPr>
            <a:xfrm>
              <a:off x="2663502" y="3989161"/>
              <a:ext cx="1004654" cy="81137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6EB46F-7D01-B76F-BA63-71626F7C2342}"/>
                </a:ext>
              </a:extLst>
            </p:cNvPr>
            <p:cNvCxnSpPr>
              <a:cxnSpLocks/>
            </p:cNvCxnSpPr>
            <p:nvPr/>
          </p:nvCxnSpPr>
          <p:spPr>
            <a:xfrm flipV="1">
              <a:off x="2636522" y="4073819"/>
              <a:ext cx="954805" cy="7483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8F75CD-1481-A122-D634-561633EC4704}"/>
                  </a:ext>
                </a:extLst>
              </p:cNvPr>
              <p:cNvSpPr txBox="1"/>
              <p:nvPr/>
            </p:nvSpPr>
            <p:spPr>
              <a:xfrm>
                <a:off x="1142427" y="5798623"/>
                <a:ext cx="1010980"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14:m>
                  <m:oMath xmlns:m="http://schemas.openxmlformats.org/officeDocument/2006/math">
                    <m:r>
                      <a:rPr lang="en-US" sz="1600" b="1" i="1" smtClean="0">
                        <a:latin typeface="Cambria Math" panose="02040503050406030204" pitchFamily="18" charset="0"/>
                      </a:rPr>
                      <m:t>𝑷</m:t>
                    </m:r>
                    <m:r>
                      <a:rPr lang="en-US" sz="1600" b="0" i="1" smtClean="0">
                        <a:latin typeface="Cambria Math" panose="02040503050406030204" pitchFamily="18" charset="0"/>
                      </a:rPr>
                      <m:t>(</m:t>
                    </m:r>
                    <m:r>
                      <a:rPr lang="en-US" sz="1600" b="0" i="1" smtClean="0">
                        <a:latin typeface="Cambria Math" panose="02040503050406030204" pitchFamily="18" charset="0"/>
                      </a:rPr>
                      <m:t>𝐹</m:t>
                    </m:r>
                    <m:r>
                      <a:rPr lang="en-US" sz="1600" b="0" i="1" smtClean="0">
                        <a:latin typeface="Cambria Math" panose="02040503050406030204" pitchFamily="18" charset="0"/>
                      </a:rPr>
                      <m:t>|</m:t>
                    </m:r>
                    <m:r>
                      <a:rPr lang="en-US" sz="1600" b="0" i="1" smtClean="0">
                        <a:latin typeface="Cambria Math" panose="02040503050406030204" pitchFamily="18" charset="0"/>
                      </a:rPr>
                      <m:t>𝑊</m:t>
                    </m:r>
                  </m:oMath>
                </a14:m>
                <a:r>
                  <a:rPr lang="en-US" dirty="0"/>
                  <a:t>)</a:t>
                </a:r>
              </a:p>
            </p:txBody>
          </p:sp>
        </mc:Choice>
        <mc:Fallback xmlns="">
          <p:sp>
            <p:nvSpPr>
              <p:cNvPr id="34" name="TextBox 33">
                <a:extLst>
                  <a:ext uri="{FF2B5EF4-FFF2-40B4-BE49-F238E27FC236}">
                    <a16:creationId xmlns:a16="http://schemas.microsoft.com/office/drawing/2014/main" id="{408F75CD-1481-A122-D634-561633EC4704}"/>
                  </a:ext>
                </a:extLst>
              </p:cNvPr>
              <p:cNvSpPr txBox="1">
                <a:spLocks noRot="1" noChangeAspect="1" noMove="1" noResize="1" noEditPoints="1" noAdjustHandles="1" noChangeArrowheads="1" noChangeShapeType="1" noTextEdit="1"/>
              </p:cNvSpPr>
              <p:nvPr/>
            </p:nvSpPr>
            <p:spPr>
              <a:xfrm>
                <a:off x="1142427" y="5798623"/>
                <a:ext cx="1010980" cy="369332"/>
              </a:xfrm>
              <a:prstGeom prst="rect">
                <a:avLst/>
              </a:prstGeom>
              <a:blipFill>
                <a:blip r:embed="rId9"/>
                <a:stretch>
                  <a:fillRect t="-6349" b="-22222"/>
                </a:stretch>
              </a:blipFill>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48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6"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838200" y="365125"/>
            <a:ext cx="7502790" cy="1325563"/>
          </a:xfrm>
        </p:spPr>
        <p:txBody>
          <a:bodyPr/>
          <a:lstStyle/>
          <a:p>
            <a:r>
              <a:rPr lang="en-US" dirty="0">
                <a:latin typeface="Calibri"/>
                <a:ea typeface="ＭＳ Ｐゴシック" pitchFamily="34" charset="-128"/>
                <a:cs typeface="Calibri"/>
              </a:rPr>
              <a:t>Decisions as Outcome Trees with Evidence</a:t>
            </a:r>
          </a:p>
        </p:txBody>
      </p:sp>
      <p:grpSp>
        <p:nvGrpSpPr>
          <p:cNvPr id="2" name="Group 1">
            <a:extLst>
              <a:ext uri="{C183D7F6-B498-43B3-948B-1728B52AA6E4}">
                <adec:decorative xmlns:adec="http://schemas.microsoft.com/office/drawing/2017/decorative" val="1"/>
              </a:ext>
            </a:extLst>
          </p:cNvPr>
          <p:cNvGrpSpPr/>
          <p:nvPr/>
        </p:nvGrpSpPr>
        <p:grpSpPr>
          <a:xfrm>
            <a:off x="648900" y="1629939"/>
            <a:ext cx="2660686" cy="3704060"/>
            <a:chOff x="8817143" y="1257300"/>
            <a:chExt cx="3433594" cy="4210931"/>
          </a:xfrm>
        </p:grpSpPr>
        <p:cxnSp>
          <p:nvCxnSpPr>
            <p:cNvPr id="31" name="AutoShape 3"/>
            <p:cNvCxnSpPr>
              <a:cxnSpLocks noChangeShapeType="1"/>
              <a:stCxn id="32" idx="4"/>
              <a:endCxn id="33" idx="0"/>
            </p:cNvCxnSpPr>
            <p:nvPr/>
          </p:nvCxnSpPr>
          <p:spPr bwMode="auto">
            <a:xfrm flipH="1">
              <a:off x="9721882" y="3619500"/>
              <a:ext cx="15842" cy="110736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32" name="Oval 4"/>
            <p:cNvSpPr>
              <a:spLocks noChangeArrowheads="1"/>
            </p:cNvSpPr>
            <p:nvPr/>
          </p:nvSpPr>
          <p:spPr bwMode="auto">
            <a:xfrm>
              <a:off x="9126537" y="30448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33" name="Oval 5"/>
            <p:cNvSpPr>
              <a:spLocks noChangeArrowheads="1"/>
            </p:cNvSpPr>
            <p:nvPr/>
          </p:nvSpPr>
          <p:spPr bwMode="auto">
            <a:xfrm>
              <a:off x="8817143" y="4726868"/>
              <a:ext cx="1809477" cy="741363"/>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34" name="Rectangle 6"/>
            <p:cNvSpPr>
              <a:spLocks noChangeArrowheads="1"/>
            </p:cNvSpPr>
            <p:nvPr/>
          </p:nvSpPr>
          <p:spPr bwMode="auto">
            <a:xfrm>
              <a:off x="9202737" y="12573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35" name="Group 7"/>
            <p:cNvGrpSpPr>
              <a:grpSpLocks/>
            </p:cNvGrpSpPr>
            <p:nvPr/>
          </p:nvGrpSpPr>
          <p:grpSpPr bwMode="auto">
            <a:xfrm>
              <a:off x="11412537" y="2324100"/>
              <a:ext cx="838200" cy="533400"/>
              <a:chOff x="4368" y="1728"/>
              <a:chExt cx="528" cy="336"/>
            </a:xfrm>
          </p:grpSpPr>
          <p:sp>
            <p:nvSpPr>
              <p:cNvPr id="36"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37" name="Text Box 9"/>
              <p:cNvSpPr txBox="1">
                <a:spLocks noChangeArrowheads="1"/>
              </p:cNvSpPr>
              <p:nvPr/>
            </p:nvSpPr>
            <p:spPr bwMode="auto">
              <a:xfrm>
                <a:off x="4512" y="1776"/>
                <a:ext cx="24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39" name="AutoShape 10"/>
            <p:cNvCxnSpPr>
              <a:cxnSpLocks noChangeShapeType="1"/>
              <a:stCxn id="34" idx="3"/>
              <a:endCxn id="36" idx="1"/>
            </p:cNvCxnSpPr>
            <p:nvPr/>
          </p:nvCxnSpPr>
          <p:spPr bwMode="auto">
            <a:xfrm>
              <a:off x="10345737" y="1524000"/>
              <a:ext cx="1066800" cy="11112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1"/>
            <p:cNvCxnSpPr>
              <a:cxnSpLocks noChangeShapeType="1"/>
              <a:stCxn id="32" idx="6"/>
              <a:endCxn id="36" idx="1"/>
            </p:cNvCxnSpPr>
            <p:nvPr/>
          </p:nvCxnSpPr>
          <p:spPr bwMode="auto">
            <a:xfrm flipV="1">
              <a:off x="10363200" y="25908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1" name="Picture 40">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817" y="5408237"/>
            <a:ext cx="1828800" cy="1260528"/>
          </a:xfrm>
          <a:prstGeom prst="rect">
            <a:avLst/>
          </a:prstGeom>
        </p:spPr>
      </p:pic>
      <p:grpSp>
        <p:nvGrpSpPr>
          <p:cNvPr id="9" name="Group 8" descr="The outcome tree shows the utility after taking an action (take or not to take an umbrella) and then observing the random event rain or no rain. However, since the forecast is bad weather all probabilities are conditioned this forecast increasing the probability of rain.">
            <a:extLst>
              <a:ext uri="{FF2B5EF4-FFF2-40B4-BE49-F238E27FC236}">
                <a16:creationId xmlns:a16="http://schemas.microsoft.com/office/drawing/2014/main" id="{DB3D81DE-9575-35ED-B5B8-91AEE79481FB}"/>
              </a:ext>
            </a:extLst>
          </p:cNvPr>
          <p:cNvGrpSpPr/>
          <p:nvPr/>
        </p:nvGrpSpPr>
        <p:grpSpPr>
          <a:xfrm>
            <a:off x="3540390" y="1727209"/>
            <a:ext cx="8534400" cy="4063990"/>
            <a:chOff x="3540390" y="1727209"/>
            <a:chExt cx="8534400" cy="4063990"/>
          </a:xfrm>
        </p:grpSpPr>
        <p:grpSp>
          <p:nvGrpSpPr>
            <p:cNvPr id="23556" name="Group 5"/>
            <p:cNvGrpSpPr>
              <a:grpSpLocks/>
            </p:cNvGrpSpPr>
            <p:nvPr/>
          </p:nvGrpSpPr>
          <p:grpSpPr bwMode="auto">
            <a:xfrm>
              <a:off x="3540390" y="4318009"/>
              <a:ext cx="1828800" cy="533400"/>
              <a:chOff x="4368" y="1728"/>
              <a:chExt cx="528" cy="336"/>
            </a:xfrm>
          </p:grpSpPr>
          <p:sp>
            <p:nvSpPr>
              <p:cNvPr id="23582"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U(t,s)</a:t>
                </a:r>
              </a:p>
            </p:txBody>
          </p:sp>
        </p:grpSp>
        <p:sp>
          <p:nvSpPr>
            <p:cNvPr id="23557" name="Oval 3"/>
            <p:cNvSpPr>
              <a:spLocks noChangeArrowheads="1"/>
            </p:cNvSpPr>
            <p:nvPr/>
          </p:nvSpPr>
          <p:spPr bwMode="auto">
            <a:xfrm>
              <a:off x="4835790"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 | {b}</a:t>
              </a:r>
            </a:p>
          </p:txBody>
        </p:sp>
        <p:sp>
          <p:nvSpPr>
            <p:cNvPr id="23558" name="Oval 3"/>
            <p:cNvSpPr>
              <a:spLocks noChangeArrowheads="1"/>
            </p:cNvSpPr>
            <p:nvPr/>
          </p:nvSpPr>
          <p:spPr bwMode="auto">
            <a:xfrm>
              <a:off x="9557015"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 | {b}</a:t>
              </a:r>
            </a:p>
          </p:txBody>
        </p:sp>
        <p:cxnSp>
          <p:nvCxnSpPr>
            <p:cNvPr id="12" name="Straight Arrow Connector 11"/>
            <p:cNvCxnSpPr>
              <a:stCxn id="18" idx="3"/>
              <a:endCxn id="23557" idx="0"/>
            </p:cNvCxnSpPr>
            <p:nvPr/>
          </p:nvCxnSpPr>
          <p:spPr>
            <a:xfrm rot="5400000">
              <a:off x="6227234" y="1404153"/>
              <a:ext cx="762000" cy="23225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3558" idx="0"/>
            </p:cNvCxnSpPr>
            <p:nvPr/>
          </p:nvCxnSpPr>
          <p:spPr>
            <a:xfrm rot="16200000" flipH="1">
              <a:off x="8587847" y="1366052"/>
              <a:ext cx="762000" cy="2398713"/>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1" name="TextBox 15"/>
            <p:cNvSpPr txBox="1">
              <a:spLocks noChangeArrowheads="1"/>
            </p:cNvSpPr>
            <p:nvPr/>
          </p:nvSpPr>
          <p:spPr bwMode="auto">
            <a:xfrm rot="-1071566">
              <a:off x="5937515" y="2270134"/>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take</a:t>
              </a:r>
            </a:p>
          </p:txBody>
        </p:sp>
        <p:sp>
          <p:nvSpPr>
            <p:cNvPr id="23562" name="TextBox 16"/>
            <p:cNvSpPr txBox="1">
              <a:spLocks noChangeArrowheads="1"/>
            </p:cNvSpPr>
            <p:nvPr/>
          </p:nvSpPr>
          <p:spPr bwMode="auto">
            <a:xfrm rot="1093261">
              <a:off x="8756915" y="233045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leave</a:t>
              </a:r>
            </a:p>
          </p:txBody>
        </p:sp>
        <p:sp>
          <p:nvSpPr>
            <p:cNvPr id="18" name="Isosceles Triangle 17"/>
            <p:cNvSpPr/>
            <p:nvPr/>
          </p:nvSpPr>
          <p:spPr>
            <a:xfrm>
              <a:off x="7197990" y="1727209"/>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latin typeface="Calibri"/>
                <a:cs typeface="Calibri"/>
              </a:endParaRPr>
            </a:p>
          </p:txBody>
        </p:sp>
        <p:cxnSp>
          <p:nvCxnSpPr>
            <p:cNvPr id="19" name="Straight Arrow Connector 18"/>
            <p:cNvCxnSpPr>
              <a:stCxn id="23557" idx="4"/>
            </p:cNvCxnSpPr>
            <p:nvPr/>
          </p:nvCxnSpPr>
          <p:spPr>
            <a:xfrm rot="5400000">
              <a:off x="45143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5" name="TextBox 19"/>
            <p:cNvSpPr txBox="1">
              <a:spLocks noChangeArrowheads="1"/>
            </p:cNvSpPr>
            <p:nvPr/>
          </p:nvSpPr>
          <p:spPr bwMode="auto">
            <a:xfrm rot="-2151216">
              <a:off x="4284928" y="3548072"/>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a:cs typeface="Calibri"/>
                </a:rPr>
                <a:t>sun</a:t>
              </a:r>
            </a:p>
          </p:txBody>
        </p:sp>
        <p:grpSp>
          <p:nvGrpSpPr>
            <p:cNvPr id="23566" name="Group 21"/>
            <p:cNvGrpSpPr>
              <a:grpSpLocks/>
            </p:cNvGrpSpPr>
            <p:nvPr/>
          </p:nvGrpSpPr>
          <p:grpSpPr bwMode="auto">
            <a:xfrm>
              <a:off x="5521590" y="4318009"/>
              <a:ext cx="1828800" cy="533400"/>
              <a:chOff x="4368" y="1728"/>
              <a:chExt cx="528" cy="336"/>
            </a:xfrm>
          </p:grpSpPr>
          <p:sp>
            <p:nvSpPr>
              <p:cNvPr id="23580"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U(t,r)</a:t>
                </a:r>
              </a:p>
            </p:txBody>
          </p:sp>
        </p:grpSp>
        <p:cxnSp>
          <p:nvCxnSpPr>
            <p:cNvPr id="25" name="Straight Arrow Connector 24"/>
            <p:cNvCxnSpPr>
              <a:stCxn id="23557" idx="4"/>
            </p:cNvCxnSpPr>
            <p:nvPr/>
          </p:nvCxnSpPr>
          <p:spPr>
            <a:xfrm rot="16200000" flipH="1">
              <a:off x="55430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8" name="TextBox 32"/>
            <p:cNvSpPr txBox="1">
              <a:spLocks noChangeArrowheads="1"/>
            </p:cNvSpPr>
            <p:nvPr/>
          </p:nvSpPr>
          <p:spPr bwMode="auto">
            <a:xfrm rot="2243371">
              <a:off x="58883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grpSp>
          <p:nvGrpSpPr>
            <p:cNvPr id="23569" name="Group 34"/>
            <p:cNvGrpSpPr>
              <a:grpSpLocks/>
            </p:cNvGrpSpPr>
            <p:nvPr/>
          </p:nvGrpSpPr>
          <p:grpSpPr bwMode="auto">
            <a:xfrm>
              <a:off x="8264790" y="4318009"/>
              <a:ext cx="1828800" cy="533400"/>
              <a:chOff x="4368" y="1728"/>
              <a:chExt cx="528" cy="336"/>
            </a:xfrm>
          </p:grpSpPr>
          <p:sp>
            <p:nvSpPr>
              <p:cNvPr id="23578"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U(l,s)</a:t>
                </a:r>
              </a:p>
            </p:txBody>
          </p:sp>
        </p:grpSp>
        <p:cxnSp>
          <p:nvCxnSpPr>
            <p:cNvPr id="38" name="Straight Arrow Connector 37"/>
            <p:cNvCxnSpPr/>
            <p:nvPr/>
          </p:nvCxnSpPr>
          <p:spPr>
            <a:xfrm rot="5400000">
              <a:off x="92387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3571" name="Group 38"/>
            <p:cNvGrpSpPr>
              <a:grpSpLocks/>
            </p:cNvGrpSpPr>
            <p:nvPr/>
          </p:nvGrpSpPr>
          <p:grpSpPr bwMode="auto">
            <a:xfrm>
              <a:off x="10245990" y="4318009"/>
              <a:ext cx="1828800" cy="533400"/>
              <a:chOff x="4368" y="1728"/>
              <a:chExt cx="528" cy="336"/>
            </a:xfrm>
          </p:grpSpPr>
          <p:sp>
            <p:nvSpPr>
              <p:cNvPr id="23576"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7"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U(l,r)</a:t>
                </a:r>
              </a:p>
            </p:txBody>
          </p:sp>
        </p:grpSp>
        <p:cxnSp>
          <p:nvCxnSpPr>
            <p:cNvPr id="42" name="Straight Arrow Connector 41"/>
            <p:cNvCxnSpPr/>
            <p:nvPr/>
          </p:nvCxnSpPr>
          <p:spPr>
            <a:xfrm rot="16200000" flipH="1">
              <a:off x="102674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73" name="TextBox 42"/>
            <p:cNvSpPr txBox="1">
              <a:spLocks noChangeArrowheads="1"/>
            </p:cNvSpPr>
            <p:nvPr/>
          </p:nvSpPr>
          <p:spPr bwMode="auto">
            <a:xfrm rot="2243371">
              <a:off x="106127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sp>
          <p:nvSpPr>
            <p:cNvPr id="23574" name="TextBox 43"/>
            <p:cNvSpPr txBox="1">
              <a:spLocks noChangeArrowheads="1"/>
            </p:cNvSpPr>
            <p:nvPr/>
          </p:nvSpPr>
          <p:spPr bwMode="auto">
            <a:xfrm rot="-2151216">
              <a:off x="9009328" y="353060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sun</a:t>
              </a:r>
            </a:p>
          </p:txBody>
        </p:sp>
        <p:sp>
          <p:nvSpPr>
            <p:cNvPr id="23575" name="TextBox 31"/>
            <p:cNvSpPr txBox="1">
              <a:spLocks noChangeArrowheads="1"/>
            </p:cNvSpPr>
            <p:nvPr/>
          </p:nvSpPr>
          <p:spPr bwMode="auto">
            <a:xfrm>
              <a:off x="7426590" y="1814522"/>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dirty="0">
                  <a:latin typeface="Calibri"/>
                  <a:cs typeface="Calibri"/>
                </a:rPr>
                <a:t>{b}</a:t>
              </a:r>
            </a:p>
          </p:txBody>
        </p:sp>
        <p:pic>
          <p:nvPicPr>
            <p:cNvPr id="43" name="Picture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4400" y="4876800"/>
              <a:ext cx="1210033" cy="914399"/>
            </a:xfrm>
            <a:prstGeom prst="rect">
              <a:avLst/>
            </a:prstGeom>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000" y="4876800"/>
              <a:ext cx="1133567" cy="685800"/>
            </a:xfrm>
            <a:prstGeom prst="rect">
              <a:avLst/>
            </a:prstGeom>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91800" y="4876800"/>
              <a:ext cx="1066800" cy="782450"/>
            </a:xfrm>
            <a:prstGeom prst="rect">
              <a:avLst/>
            </a:prstGeom>
          </p:spPr>
        </p:pic>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1200" y="4876800"/>
              <a:ext cx="1219200" cy="766143"/>
            </a:xfrm>
            <a:prstGeom prst="rect">
              <a:avLst/>
            </a:prstGeom>
          </p:spPr>
        </p:pic>
      </p:grpSp>
      <p:grpSp>
        <p:nvGrpSpPr>
          <p:cNvPr id="22" name="Group 21">
            <a:extLst>
              <a:ext uri="{FF2B5EF4-FFF2-40B4-BE49-F238E27FC236}">
                <a16:creationId xmlns:a16="http://schemas.microsoft.com/office/drawing/2014/main" id="{5874DF5A-A7AC-8DF8-E840-8A335B327469}"/>
              </a:ext>
            </a:extLst>
          </p:cNvPr>
          <p:cNvGrpSpPr/>
          <p:nvPr/>
        </p:nvGrpSpPr>
        <p:grpSpPr>
          <a:xfrm>
            <a:off x="1157295" y="3760154"/>
            <a:ext cx="461665" cy="1570885"/>
            <a:chOff x="1157295" y="3760154"/>
            <a:chExt cx="461665" cy="1570885"/>
          </a:xfrm>
        </p:grpSpPr>
        <p:cxnSp>
          <p:nvCxnSpPr>
            <p:cNvPr id="8" name="Straight Arrow Connector 7">
              <a:extLst>
                <a:ext uri="{FF2B5EF4-FFF2-40B4-BE49-F238E27FC236}">
                  <a16:creationId xmlns:a16="http://schemas.microsoft.com/office/drawing/2014/main" id="{765C1296-EFCC-0C56-E17B-4B1335771B5C}"/>
                </a:ext>
                <a:ext uri="{C183D7F6-B498-43B3-948B-1728B52AA6E4}">
                  <adec:decorative xmlns:adec="http://schemas.microsoft.com/office/drawing/2017/decorative" val="1"/>
                </a:ext>
              </a:extLst>
            </p:cNvPr>
            <p:cNvCxnSpPr>
              <a:cxnSpLocks/>
            </p:cNvCxnSpPr>
            <p:nvPr/>
          </p:nvCxnSpPr>
          <p:spPr>
            <a:xfrm flipV="1">
              <a:off x="1517227" y="3760154"/>
              <a:ext cx="0" cy="864766"/>
            </a:xfrm>
            <a:prstGeom prst="straightConnector1">
              <a:avLst/>
            </a:prstGeom>
            <a:ln w="3810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sp>
          <p:nvSpPr>
            <p:cNvPr id="10" name="TextBox 9">
              <a:extLst>
                <a:ext uri="{FF2B5EF4-FFF2-40B4-BE49-F238E27FC236}">
                  <a16:creationId xmlns:a16="http://schemas.microsoft.com/office/drawing/2014/main" id="{D46F3360-BD38-D57B-6EFB-36DA894FE264}"/>
                </a:ext>
              </a:extLst>
            </p:cNvPr>
            <p:cNvSpPr txBox="1"/>
            <p:nvPr/>
          </p:nvSpPr>
          <p:spPr>
            <a:xfrm rot="2849537">
              <a:off x="1048291" y="4760370"/>
              <a:ext cx="679673" cy="461665"/>
            </a:xfrm>
            <a:prstGeom prst="rect">
              <a:avLst/>
            </a:prstGeom>
            <a:noFill/>
          </p:spPr>
          <p:txBody>
            <a:bodyPr wrap="none" rtlCol="0">
              <a:spAutoFit/>
            </a:bodyPr>
            <a:lstStyle/>
            <a:p>
              <a:r>
                <a:rPr lang="en-US" sz="2400" b="1" dirty="0">
                  <a:solidFill>
                    <a:schemeClr val="accent2"/>
                  </a:solidFill>
                </a:rPr>
                <a:t>rain</a:t>
              </a:r>
            </a:p>
          </p:txBody>
        </p:sp>
        <p:cxnSp>
          <p:nvCxnSpPr>
            <p:cNvPr id="11" name="Straight Connector 10">
              <a:extLst>
                <a:ext uri="{FF2B5EF4-FFF2-40B4-BE49-F238E27FC236}">
                  <a16:creationId xmlns:a16="http://schemas.microsoft.com/office/drawing/2014/main" id="{0778CD2D-5058-DBDE-2607-D529F3DD399E}"/>
                </a:ext>
              </a:extLst>
            </p:cNvPr>
            <p:cNvCxnSpPr>
              <a:cxnSpLocks/>
            </p:cNvCxnSpPr>
            <p:nvPr/>
          </p:nvCxnSpPr>
          <p:spPr>
            <a:xfrm>
              <a:off x="1260269" y="4055563"/>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D6D531B-6301-E98D-6BBF-23CA730125DF}"/>
                </a:ext>
              </a:extLst>
            </p:cNvPr>
            <p:cNvCxnSpPr>
              <a:cxnSpLocks/>
            </p:cNvCxnSpPr>
            <p:nvPr/>
          </p:nvCxnSpPr>
          <p:spPr>
            <a:xfrm flipV="1">
              <a:off x="1260269" y="4078939"/>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2CA506B0-F125-141A-2D60-DFA3D63C11E5}"/>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20" name="Speech Bubble: Rectangle with Corners Rounded 19">
            <a:extLst>
              <a:ext uri="{FF2B5EF4-FFF2-40B4-BE49-F238E27FC236}">
                <a16:creationId xmlns:a16="http://schemas.microsoft.com/office/drawing/2014/main" id="{475383FE-27B0-4C59-7D79-A9E0792A4B3F}"/>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21" name="Speech Bubble: Rectangle with Corners Rounded 20">
            <a:extLst>
              <a:ext uri="{FF2B5EF4-FFF2-40B4-BE49-F238E27FC236}">
                <a16:creationId xmlns:a16="http://schemas.microsoft.com/office/drawing/2014/main" id="{8902661F-9587-E9F5-785C-5F1570CF8231}"/>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23" name="Arrow: Down 22">
            <a:extLst>
              <a:ext uri="{FF2B5EF4-FFF2-40B4-BE49-F238E27FC236}">
                <a16:creationId xmlns:a16="http://schemas.microsoft.com/office/drawing/2014/main" id="{8E182F34-F943-2C0A-B221-39895151AF6B}"/>
              </a:ext>
            </a:extLst>
          </p:cNvPr>
          <p:cNvSpPr/>
          <p:nvPr/>
        </p:nvSpPr>
        <p:spPr>
          <a:xfrm>
            <a:off x="4192588" y="3760154"/>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F4BFBC23-83C0-8E84-5152-230E95B3F8F5}"/>
              </a:ext>
            </a:extLst>
          </p:cNvPr>
          <p:cNvSpPr/>
          <p:nvPr/>
        </p:nvSpPr>
        <p:spPr>
          <a:xfrm flipV="1">
            <a:off x="6350212" y="3669467"/>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53B01B5F-A1CB-83A2-E7AA-B7ADAFB9D85E}"/>
              </a:ext>
            </a:extLst>
          </p:cNvPr>
          <p:cNvSpPr/>
          <p:nvPr/>
        </p:nvSpPr>
        <p:spPr>
          <a:xfrm>
            <a:off x="8889999" y="3669466"/>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9" name="Arrow: Down 28">
            <a:extLst>
              <a:ext uri="{FF2B5EF4-FFF2-40B4-BE49-F238E27FC236}">
                <a16:creationId xmlns:a16="http://schemas.microsoft.com/office/drawing/2014/main" id="{0D7C9D96-98F3-FA69-6A07-8D632B20386E}"/>
              </a:ext>
            </a:extLst>
          </p:cNvPr>
          <p:cNvSpPr/>
          <p:nvPr/>
        </p:nvSpPr>
        <p:spPr>
          <a:xfrm flipV="1">
            <a:off x="11084000" y="3698868"/>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30" name="Speech Bubble: Rectangle with Corners Rounded 29">
            <a:extLst>
              <a:ext uri="{FF2B5EF4-FFF2-40B4-BE49-F238E27FC236}">
                <a16:creationId xmlns:a16="http://schemas.microsoft.com/office/drawing/2014/main" id="{BFEFC01B-F1ED-1310-DD62-1E1319A5B925}"/>
              </a:ext>
            </a:extLst>
          </p:cNvPr>
          <p:cNvSpPr/>
          <p:nvPr/>
        </p:nvSpPr>
        <p:spPr>
          <a:xfrm>
            <a:off x="8686799" y="685800"/>
            <a:ext cx="2667002" cy="904238"/>
          </a:xfrm>
          <a:prstGeom prst="wedgeRoundRectCallout">
            <a:avLst>
              <a:gd name="adj1" fmla="val -78902"/>
              <a:gd name="adj2" fmla="val 8082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 … evidence of bad weather increased the probability of rain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9"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FC51C3-927B-448A-B60E-57A525459F9B}"/>
              </a:ext>
            </a:extLst>
          </p:cNvPr>
          <p:cNvSpPr>
            <a:spLocks noGrp="1"/>
          </p:cNvSpPr>
          <p:nvPr>
            <p:ph type="title"/>
          </p:nvPr>
        </p:nvSpPr>
        <p:spPr>
          <a:xfrm>
            <a:off x="643467" y="321734"/>
            <a:ext cx="10905066" cy="1135737"/>
          </a:xfrm>
        </p:spPr>
        <p:txBody>
          <a:bodyPr>
            <a:normAutofit/>
          </a:bodyPr>
          <a:lstStyle/>
          <a:p>
            <a:r>
              <a:rPr lang="en-US" sz="3600"/>
              <a:t>Conclusion</a:t>
            </a:r>
          </a:p>
        </p:txBody>
      </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49C8675-F1A4-21D1-13DD-56BBB9435985}"/>
              </a:ext>
            </a:extLst>
          </p:cNvPr>
          <p:cNvGrpSpPr/>
          <p:nvPr/>
        </p:nvGrpSpPr>
        <p:grpSpPr>
          <a:xfrm>
            <a:off x="1778063" y="1939188"/>
            <a:ext cx="897246" cy="897246"/>
            <a:chOff x="920813" y="3552671"/>
            <a:chExt cx="897246" cy="897246"/>
          </a:xfrm>
        </p:grpSpPr>
        <p:sp>
          <p:nvSpPr>
            <p:cNvPr id="4" name="Oval 3">
              <a:extLst>
                <a:ext uri="{FF2B5EF4-FFF2-40B4-BE49-F238E27FC236}">
                  <a16:creationId xmlns:a16="http://schemas.microsoft.com/office/drawing/2014/main" id="{6D440CAD-5A2E-1C79-6CE2-A2EDFE9C7710}"/>
                </a:ext>
              </a:extLst>
            </p:cNvPr>
            <p:cNvSpPr/>
            <p:nvPr/>
          </p:nvSpPr>
          <p:spPr>
            <a:xfrm>
              <a:off x="920813" y="3552671"/>
              <a:ext cx="897246" cy="897246"/>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dirty="0"/>
            </a:p>
          </p:txBody>
        </p:sp>
        <p:sp>
          <p:nvSpPr>
            <p:cNvPr id="5" name="Rectangle 4" descr="Flowchart with solid fill">
              <a:extLst>
                <a:ext uri="{FF2B5EF4-FFF2-40B4-BE49-F238E27FC236}">
                  <a16:creationId xmlns:a16="http://schemas.microsoft.com/office/drawing/2014/main" id="{B697151B-8CB1-91BD-AE49-368FC712685C}"/>
                </a:ext>
              </a:extLst>
            </p:cNvPr>
            <p:cNvSpPr/>
            <p:nvPr/>
          </p:nvSpPr>
          <p:spPr>
            <a:xfrm>
              <a:off x="1109234" y="3741092"/>
              <a:ext cx="520402" cy="520402"/>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6" name="Freeform: Shape 5">
            <a:extLst>
              <a:ext uri="{FF2B5EF4-FFF2-40B4-BE49-F238E27FC236}">
                <a16:creationId xmlns:a16="http://schemas.microsoft.com/office/drawing/2014/main" id="{B1978FAB-61A4-38DB-6051-1A8087544943}"/>
              </a:ext>
            </a:extLst>
          </p:cNvPr>
          <p:cNvSpPr/>
          <p:nvPr/>
        </p:nvSpPr>
        <p:spPr>
          <a:xfrm>
            <a:off x="1267376" y="3000375"/>
            <a:ext cx="2114937" cy="25328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2">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Decision networks are an extension of Bayesian networks that </a:t>
            </a:r>
            <a:r>
              <a:rPr lang="en-US" sz="1600" b="1" kern="1200" dirty="0"/>
              <a:t>add actions and utility </a:t>
            </a:r>
            <a:r>
              <a:rPr lang="en-US" sz="1600" kern="1200" dirty="0"/>
              <a:t>to compactly specify the joint probability.</a:t>
            </a:r>
            <a:br>
              <a:rPr lang="en-US" sz="1600" kern="1200" dirty="0"/>
            </a:br>
            <a:br>
              <a:rPr lang="en-US" sz="1600" kern="1200" dirty="0"/>
            </a:br>
            <a:r>
              <a:rPr lang="en-US" sz="1600" kern="1200" dirty="0"/>
              <a:t>The network is used to </a:t>
            </a:r>
            <a:r>
              <a:rPr lang="en-US" sz="1600" b="1" kern="1200" dirty="0"/>
              <a:t>calculate the expected utility of actions</a:t>
            </a:r>
            <a:r>
              <a:rPr lang="en-US" sz="1600" kern="1200" dirty="0"/>
              <a:t>.</a:t>
            </a:r>
          </a:p>
        </p:txBody>
      </p:sp>
      <p:grpSp>
        <p:nvGrpSpPr>
          <p:cNvPr id="17" name="Group 16">
            <a:extLst>
              <a:ext uri="{FF2B5EF4-FFF2-40B4-BE49-F238E27FC236}">
                <a16:creationId xmlns:a16="http://schemas.microsoft.com/office/drawing/2014/main" id="{675D2A5E-75BC-1669-CA45-4A321DFBBC1A}"/>
              </a:ext>
            </a:extLst>
          </p:cNvPr>
          <p:cNvGrpSpPr/>
          <p:nvPr/>
        </p:nvGrpSpPr>
        <p:grpSpPr>
          <a:xfrm>
            <a:off x="5353050" y="1910613"/>
            <a:ext cx="897246" cy="897246"/>
            <a:chOff x="4493775" y="3552671"/>
            <a:chExt cx="897246" cy="897246"/>
          </a:xfrm>
        </p:grpSpPr>
        <p:sp>
          <p:nvSpPr>
            <p:cNvPr id="7" name="Oval 6">
              <a:extLst>
                <a:ext uri="{FF2B5EF4-FFF2-40B4-BE49-F238E27FC236}">
                  <a16:creationId xmlns:a16="http://schemas.microsoft.com/office/drawing/2014/main" id="{A3C61CEE-DEDB-6EE2-D715-6F6B374EC29E}"/>
                </a:ext>
              </a:extLst>
            </p:cNvPr>
            <p:cNvSpPr/>
            <p:nvPr/>
          </p:nvSpPr>
          <p:spPr>
            <a:xfrm>
              <a:off x="4493775" y="3552671"/>
              <a:ext cx="897246" cy="897246"/>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8" name="Rectangle 7" descr="Fork In Road with solid fill">
              <a:extLst>
                <a:ext uri="{FF2B5EF4-FFF2-40B4-BE49-F238E27FC236}">
                  <a16:creationId xmlns:a16="http://schemas.microsoft.com/office/drawing/2014/main" id="{D58F7773-CB44-1E04-C9A9-677A3EE395C7}"/>
                </a:ext>
              </a:extLst>
            </p:cNvPr>
            <p:cNvSpPr/>
            <p:nvPr/>
          </p:nvSpPr>
          <p:spPr>
            <a:xfrm>
              <a:off x="4682196" y="3741092"/>
              <a:ext cx="520402" cy="520402"/>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9" name="Freeform: Shape 8" descr="Decision networks are an extension of Bayes nets that add actions and utility to compactly specify the joint probability. Decision networks can be used to make simple repeated  decisions in a stochastic, partially observable, and episodic environment.">
            <a:extLst>
              <a:ext uri="{FF2B5EF4-FFF2-40B4-BE49-F238E27FC236}">
                <a16:creationId xmlns:a16="http://schemas.microsoft.com/office/drawing/2014/main" id="{22A43B6D-4227-A4FA-9111-173E29462A8F}"/>
              </a:ext>
            </a:extLst>
          </p:cNvPr>
          <p:cNvSpPr/>
          <p:nvPr/>
        </p:nvSpPr>
        <p:spPr>
          <a:xfrm>
            <a:off x="4840338" y="3108602"/>
            <a:ext cx="2114937" cy="2130147"/>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3">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Decision networks can be used to make simple repeated  decisions in a </a:t>
            </a:r>
            <a:r>
              <a:rPr lang="en-US" sz="1600" b="1" kern="1200" dirty="0"/>
              <a:t>stochastic, partially observable, and episodic environment</a:t>
            </a:r>
            <a:r>
              <a:rPr lang="en-US" sz="1600" kern="1200" dirty="0"/>
              <a:t>.</a:t>
            </a:r>
          </a:p>
        </p:txBody>
      </p:sp>
      <p:grpSp>
        <p:nvGrpSpPr>
          <p:cNvPr id="19" name="Group 18">
            <a:extLst>
              <a:ext uri="{FF2B5EF4-FFF2-40B4-BE49-F238E27FC236}">
                <a16:creationId xmlns:a16="http://schemas.microsoft.com/office/drawing/2014/main" id="{26242A2E-5F18-40ED-9B44-DD78C5ECB324}"/>
              </a:ext>
            </a:extLst>
          </p:cNvPr>
          <p:cNvGrpSpPr/>
          <p:nvPr/>
        </p:nvGrpSpPr>
        <p:grpSpPr>
          <a:xfrm>
            <a:off x="8846036" y="1855016"/>
            <a:ext cx="897246" cy="897246"/>
            <a:chOff x="8066736" y="3552671"/>
            <a:chExt cx="897246" cy="897246"/>
          </a:xfrm>
        </p:grpSpPr>
        <p:sp>
          <p:nvSpPr>
            <p:cNvPr id="10" name="Oval 9">
              <a:extLst>
                <a:ext uri="{FF2B5EF4-FFF2-40B4-BE49-F238E27FC236}">
                  <a16:creationId xmlns:a16="http://schemas.microsoft.com/office/drawing/2014/main" id="{FADE3022-6F84-6464-B4F7-C0DF0E3864D5}"/>
                </a:ext>
              </a:extLst>
            </p:cNvPr>
            <p:cNvSpPr/>
            <p:nvPr/>
          </p:nvSpPr>
          <p:spPr>
            <a:xfrm>
              <a:off x="8066736" y="3552671"/>
              <a:ext cx="897246" cy="897246"/>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2" name="Rectangle 11" descr="Workflow">
              <a:extLst>
                <a:ext uri="{FF2B5EF4-FFF2-40B4-BE49-F238E27FC236}">
                  <a16:creationId xmlns:a16="http://schemas.microsoft.com/office/drawing/2014/main" id="{1F081BE7-4878-F70F-2B99-C2E694E4F357}"/>
                </a:ext>
              </a:extLst>
            </p:cNvPr>
            <p:cNvSpPr/>
            <p:nvPr/>
          </p:nvSpPr>
          <p:spPr>
            <a:xfrm>
              <a:off x="8255158" y="3741092"/>
              <a:ext cx="520402" cy="520402"/>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13" name="Freeform: Shape 12">
            <a:extLst>
              <a:ext uri="{FF2B5EF4-FFF2-40B4-BE49-F238E27FC236}">
                <a16:creationId xmlns:a16="http://schemas.microsoft.com/office/drawing/2014/main" id="{9C93EEFD-DFA2-C3F9-7C20-FFB665C7679C}"/>
              </a:ext>
            </a:extLst>
          </p:cNvPr>
          <p:cNvSpPr/>
          <p:nvPr/>
        </p:nvSpPr>
        <p:spPr>
          <a:xfrm>
            <a:off x="8413299" y="2940257"/>
            <a:ext cx="2114937" cy="2592950"/>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4">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1" kern="1200" dirty="0"/>
              <a:t>Sequential decision-making </a:t>
            </a:r>
            <a:r>
              <a:rPr lang="en-US" sz="1600" kern="1200" dirty="0"/>
              <a:t>deals with decisions that influence each other and are made over time. This is a more complex decision problem and needs different methods like</a:t>
            </a:r>
            <a:br>
              <a:rPr lang="en-US" sz="1600" kern="1200" dirty="0"/>
            </a:br>
            <a:r>
              <a:rPr lang="en-US" sz="1600" b="1" kern="1200" dirty="0"/>
              <a:t>Markov Decision Processes.</a:t>
            </a:r>
          </a:p>
        </p:txBody>
      </p:sp>
    </p:spTree>
    <p:extLst>
      <p:ext uri="{BB962C8B-B14F-4D97-AF65-F5344CB8AC3E}">
        <p14:creationId xmlns:p14="http://schemas.microsoft.com/office/powerpoint/2010/main" val="303206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Lst>
  </p:timing>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6286</TotalTime>
  <Words>1278</Words>
  <Application>Microsoft Office PowerPoint</Application>
  <PresentationFormat>Widescreen</PresentationFormat>
  <Paragraphs>248</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ＭＳ Ｐゴシック</vt:lpstr>
      <vt:lpstr>Arial</vt:lpstr>
      <vt:lpstr>Calibri</vt:lpstr>
      <vt:lpstr>Calibri Light</vt:lpstr>
      <vt:lpstr>Cambria Math</vt:lpstr>
      <vt:lpstr>Wingdings</vt:lpstr>
      <vt:lpstr>Office Theme</vt:lpstr>
      <vt:lpstr>CS 5/7320  Artificial Intelligence   Making Simple Decisions: Decision Networks  AIMA Chapter 16</vt:lpstr>
      <vt:lpstr>Decision-theoretic Agents</vt:lpstr>
      <vt:lpstr>Simple     vs.   Complex Decisions </vt:lpstr>
      <vt:lpstr>Utility</vt:lpstr>
      <vt:lpstr>Expected Utility of an Action Under Uncertainty</vt:lpstr>
      <vt:lpstr>Principle of Maximum  Expected Utility (MEU)</vt:lpstr>
      <vt:lpstr>Decision Networks Using Bayesian Networks to calculate the Expected Utility of Actions</vt:lpstr>
      <vt:lpstr>Definition: Decision Networks</vt:lpstr>
      <vt:lpstr>Example: Decision Networks</vt:lpstr>
      <vt:lpstr>Decision Network without Forecast</vt:lpstr>
      <vt:lpstr>Decisions as Outcome Trees</vt:lpstr>
      <vt:lpstr>Decision Network with Bad Forecast</vt:lpstr>
      <vt:lpstr>Decisions as Outcome Trees with Evidence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Decision Making</dc:title>
  <dc:creator>michael</dc:creator>
  <cp:lastModifiedBy>Hahsler, Michael</cp:lastModifiedBy>
  <cp:revision>56</cp:revision>
  <dcterms:created xsi:type="dcterms:W3CDTF">2020-08-21T14:39:44Z</dcterms:created>
  <dcterms:modified xsi:type="dcterms:W3CDTF">2025-11-20T17:55:01Z</dcterms:modified>
</cp:coreProperties>
</file>